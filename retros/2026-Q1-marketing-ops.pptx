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C5CFF"/>
                </a:solidFill>
                <a:latin typeface="Inter"/>
              </a:rPr>
              <a:t>RIVERSIDE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291840"/>
            <a:ext cx="1280160" cy="3657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Inter"/>
              </a:rPr>
              <a:t>Q1 FY26 Retro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E6E6EB"/>
                </a:solidFill>
                <a:latin typeface="Inter"/>
              </a:rPr>
              <a:t>Marketing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6EB"/>
                </a:solidFill>
                <a:latin typeface="Inter"/>
              </a:rPr>
              <a:t>Feb 1, 2026  to  Apr 30,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Hanan Amos · Head of Marketing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6EB"/>
                </a:solidFill>
                <a:latin typeface="Inter"/>
              </a:rPr>
              <a:t>Three direct reports, plus four contracted contributors who delivered alongside us in Q1.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3657600" cy="23774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3657600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Hanan Amos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C5CFF"/>
                </a:solidFill>
                <a:latin typeface="Inter"/>
              </a:rPr>
              <a:t>Head of Marketing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MOps lead, attribution strategy, AI tooling rollout, HubSpot architecture.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3657600" cy="23774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365760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Jonathan Galili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Inter"/>
              </a:rPr>
              <a:t>Marketing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0040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Engineering side of MOps. Data integrations, HubSpot infrastructure, attribution pipelines, reporting.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2011680"/>
            <a:ext cx="3657600" cy="23774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2011680"/>
            <a:ext cx="365760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2860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Yuval Tsabar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Inter"/>
              </a:rPr>
              <a:t>Marketing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0040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riverside.com pages, A/B tests, accessibility, localization. Owns the Website Development board and #website-dev.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5CFF"/>
                </a:solidFill>
                <a:latin typeface="Inter"/>
              </a:rPr>
              <a:t>Contributing contractors: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Davor (39 shipped) · Milutin (20) · Raphael Landau (13) · Igor Suprun (5)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Marketing Ops shipped 245 of 339 planned items in Q1, a 72% completion rate across two monday boards.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Output was led by Yuval (98 shipped), Hanan (68), Jonathan (57), with significant volume from contracted contributors.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The headline insight: 85% of all Q1 items were unplanned. The team is operating in heavily reactive mode.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Closing the gap between 43 planned and 339 actual is the single most important Q2 question.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94 items carry over into Q2, including 7 P0 / Urgent items.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3566160" cy="201168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E6E6EB"/>
                </a:solidFill>
                <a:latin typeface="Inter"/>
              </a:rPr>
              <a:t>339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6E6EB"/>
                </a:solidFill>
                <a:latin typeface="Inter"/>
              </a:rPr>
              <a:t>items planned in Q1
(across both boards)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91640"/>
            <a:ext cx="3566160" cy="201168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7C5CFF"/>
                </a:solidFill>
                <a:latin typeface="Inter"/>
              </a:rPr>
              <a:t>245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10896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6E6EB"/>
                </a:solidFill>
                <a:latin typeface="Inter"/>
              </a:rPr>
              <a:t>shipped (72%)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691640"/>
            <a:ext cx="3566160" cy="201168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0116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BBF24"/>
                </a:solidFill>
                <a:latin typeface="Inter"/>
              </a:rPr>
              <a:t>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10896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6E6EB"/>
                </a:solidFill>
                <a:latin typeface="Inter"/>
              </a:rPr>
              <a:t>carrying into Q2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023360"/>
            <a:ext cx="3566160" cy="118872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MOps Tasks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6EB"/>
                </a:solidFill>
                <a:latin typeface="Inter"/>
              </a:rPr>
              <a:t>193 items · 128 shipped (66%)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023360"/>
            <a:ext cx="3566160" cy="118872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Website Dev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6EB"/>
                </a:solidFill>
                <a:latin typeface="Inter"/>
              </a:rPr>
              <a:t>146 items · 117 shipped (80%)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4023360"/>
            <a:ext cx="3566160" cy="118872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Volume peak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6EB"/>
                </a:solidFill>
                <a:latin typeface="Inter"/>
              </a:rPr>
              <a:t>Feb 130 · Mar 121 · Apr 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Sources: monday.com Marketing Operations Tasks board (6257866754) and Website Development board (18397093471), items with Q1 due dates.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Output by Team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Yuval Tsabar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627632"/>
            <a:ext cx="7132320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63240" y="1627632"/>
            <a:ext cx="7132320" cy="20116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0" y="15544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Hanan Amos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2130552"/>
            <a:ext cx="7132320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40" y="2130552"/>
            <a:ext cx="4948956" cy="20116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0" y="20574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603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Jonathan Galili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633472"/>
            <a:ext cx="7132320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63240" y="2633472"/>
            <a:ext cx="4148390" cy="20116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0" y="25603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063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nter"/>
              </a:rPr>
              <a:t>Davor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3136392"/>
            <a:ext cx="7132320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3136392"/>
            <a:ext cx="2838372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0" y="30632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661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nter"/>
              </a:rPr>
              <a:t>Milutin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3639312"/>
            <a:ext cx="7132320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63240" y="3639312"/>
            <a:ext cx="1455575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35661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690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nter"/>
              </a:rPr>
              <a:t>Raphael Landau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4142232"/>
            <a:ext cx="7132320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63240" y="4142232"/>
            <a:ext cx="946124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40690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5720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nter"/>
              </a:rPr>
              <a:t>Igor Suprun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4645152"/>
            <a:ext cx="7132320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63240" y="4645152"/>
            <a:ext cx="363893" cy="201168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45720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349240"/>
            <a:ext cx="164592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32180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Direct reports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5349240"/>
            <a:ext cx="164592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53218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Contracted contributors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760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6EB"/>
                </a:solidFill>
                <a:latin typeface="Inter"/>
              </a:rPr>
              <a:t>Yuval led individual output. The function delivered through a 3-person core plus 4 contracted contributors.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Planned vs Unplanned (Headline Insight)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6E6EB"/>
                </a:solidFill>
                <a:latin typeface="Inter"/>
              </a:rPr>
              <a:t>85% of all Q1 work was unplanned. The team is operating in a heavily reactive mode.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48840"/>
            <a:ext cx="5440680" cy="228600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544068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5440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0" b="1">
                <a:solidFill>
                  <a:srgbClr val="2DD4BF"/>
                </a:solidFill>
                <a:latin typeface="Inter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Inter"/>
              </a:rPr>
              <a:t>PLANNED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3192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E6E6EB"/>
                </a:solidFill>
                <a:latin typeface="Inter"/>
              </a:rPr>
              <a:t>13% · on the books before Q1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E6E6EB"/>
                </a:solidFill>
                <a:latin typeface="Inter"/>
              </a:rPr>
              <a:t>or tagged Planned on Web Dev 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48840"/>
            <a:ext cx="5440680" cy="228600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48840"/>
            <a:ext cx="544068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423160"/>
            <a:ext cx="5440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0" b="1">
                <a:solidFill>
                  <a:srgbClr val="FBBF24"/>
                </a:solidFill>
                <a:latin typeface="Inter"/>
              </a:rPr>
              <a:t>287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2044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Inter"/>
              </a:rPr>
              <a:t>UNPLANNED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93192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E6E6EB"/>
                </a:solidFill>
                <a:latin typeface="Inter"/>
              </a:rPr>
              <a:t>85% · added in-flight during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63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5CFF"/>
                </a:solidFill>
                <a:latin typeface="Inter"/>
              </a:rPr>
              <a:t>Per board: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29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MOps Tasks 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029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Proxy: created before Feb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Inter"/>
              </a:rPr>
              <a:t>24 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029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Inter"/>
              </a:rPr>
              <a:t>169 unplanned (88%)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Website Dev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440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Native field: Planned?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440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Inter"/>
              </a:rPr>
              <a:t>19 planned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440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Inter"/>
              </a:rPr>
              <a:t>118 unplanned (81%)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C5CFF"/>
                </a:solidFill>
                <a:latin typeface="Inter"/>
              </a:rPr>
              <a:t>Closing this gap is the single most important Q2 question. Aim to shift toward 30/70 by end of Q2.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MOps Output by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Marketing Operations Tasks board only. Website Dev board does not categorize by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1109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Reporting /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965959"/>
            <a:ext cx="7132320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63240" y="1965959"/>
            <a:ext cx="7132320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7000" y="191109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7685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Biz 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331719"/>
            <a:ext cx="7132320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2331719"/>
            <a:ext cx="6822219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0" y="227685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4261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HubSpot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697479"/>
            <a:ext cx="7132320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3240" y="2697479"/>
            <a:ext cx="5891916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264261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00837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Data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3063239"/>
            <a:ext cx="7132320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63240" y="3063239"/>
            <a:ext cx="5581815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300837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37413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Website Related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3428999"/>
            <a:ext cx="7132320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63240" y="3428999"/>
            <a:ext cx="4961613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337413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3989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Issue / Bugs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3794759"/>
            <a:ext cx="7132320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63240" y="3794759"/>
            <a:ext cx="3411109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373989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10565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Messaging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4160519"/>
            <a:ext cx="7132320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63240" y="4160519"/>
            <a:ext cx="2790907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0" y="410565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47141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Website A/B Test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3240" y="4526279"/>
            <a:ext cx="7132320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63240" y="4526279"/>
            <a:ext cx="1240403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7000" y="447141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83717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Email Blast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4892039"/>
            <a:ext cx="7132320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63240" y="4892039"/>
            <a:ext cx="620201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87000" y="483717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20293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Attribution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5257799"/>
            <a:ext cx="7132320" cy="164592"/>
          </a:xfrm>
          <a:prstGeom prst="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63240" y="5257799"/>
            <a:ext cx="310100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87000" y="520293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852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B"/>
                </a:solidFill>
                <a:latin typeface="Inter"/>
              </a:rPr>
              <a:t>Reporting and HubSpot together accounted for a third of MOps Tasks output. Web Dev added 117 more shipped items on top: page launches, A/B tests, localization, accessibility, security fixes.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13248" y="2743200"/>
            <a:ext cx="1371600" cy="3657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nter"/>
              </a:rPr>
              <a:t>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7 Wins Worth Celebrating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1C1C24"/>
          </a:solidFill>
          <a:ln w="1587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7C5CF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9903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Self-Attribution Channel infra + weekly Slack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099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6EB"/>
                </a:solidFill>
                <a:latin typeface="Inter"/>
              </a:rPr>
              <a:t>New HubSpot property auto-tags every Enterprise form fill. Weekly digest in #growth-marketing-leaders. (Hanan)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130552"/>
            <a:ext cx="457200" cy="457200"/>
          </a:xfrm>
          <a:prstGeom prst="ellipse">
            <a:avLst/>
          </a:prstGeom>
          <a:solidFill>
            <a:srgbClr val="1C1C24"/>
          </a:solidFill>
          <a:ln w="1587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7C5CFF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12264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AI tooling rollout for the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23160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6EB"/>
                </a:solidFill>
                <a:latin typeface="Inter"/>
              </a:rPr>
              <a:t>Mixpanel and Omni added to Claude as MCP connectors. Brand skill, deck-builder skill. (Hanan)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43784"/>
            <a:ext cx="457200" cy="457200"/>
          </a:xfrm>
          <a:prstGeom prst="ellipse">
            <a:avLst/>
          </a:prstGeom>
          <a:solidFill>
            <a:srgbClr val="1C1C24"/>
          </a:solidFill>
          <a:ln w="1587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43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7C5CFF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25496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HubSpot lifecycle and PLG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3639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6EB"/>
                </a:solidFill>
                <a:latin typeface="Inter"/>
              </a:rPr>
              <a:t>PLG Lifecycle, framework rebuild, French welcome drip, ChiliPiper fix, Win-back segmentation. (Hanan, Jonathan)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557016"/>
            <a:ext cx="457200" cy="457200"/>
          </a:xfrm>
          <a:prstGeom prst="ellipse">
            <a:avLst/>
          </a:prstGeom>
          <a:solidFill>
            <a:srgbClr val="1C1C24"/>
          </a:solidFill>
          <a:ln w="1587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570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7C5CFF"/>
                </a:solidFill>
                <a:latin typeface="Inte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53872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Reporting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4962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6EB"/>
                </a:solidFill>
                <a:latin typeface="Inter"/>
              </a:rPr>
              <a:t>Mixpanel A/B revamp, PPC dashboard template, Subscription cancellations, Newsletter, Organic traffic. (Jonathan, Hanan)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4270248"/>
            <a:ext cx="457200" cy="457200"/>
          </a:xfrm>
          <a:prstGeom prst="ellipse">
            <a:avLst/>
          </a:prstGeom>
          <a:solidFill>
            <a:srgbClr val="1C1C24"/>
          </a:solidFill>
          <a:ln w="1587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70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7C5CFF"/>
                </a:solidFill>
                <a:latin typeface="Inter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519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Localization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62856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6EB"/>
                </a:solidFill>
                <a:latin typeface="Inter"/>
              </a:rPr>
              <a:t>French marketing pages launched, DE locale fixed, German pricing page recovered, Israel pages added. (Yuval, Raphael)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" y="4983480"/>
            <a:ext cx="457200" cy="457200"/>
          </a:xfrm>
          <a:prstGeom prst="ellipse">
            <a:avLst/>
          </a:prstGeom>
          <a:solidFill>
            <a:srgbClr val="1C1C24"/>
          </a:solidFill>
          <a:ln w="1587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7C5CFF"/>
                </a:solidFill>
                <a:latin typeface="Inter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96519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Accessibility audit 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27608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6EB"/>
                </a:solidFill>
                <a:latin typeface="Inter"/>
              </a:rPr>
              <a:t>Header, footer, product pages remediated for AA. Dedicated #website-accessibility channel. (Yuval, Raphael)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" y="5696712"/>
            <a:ext cx="457200" cy="457200"/>
          </a:xfrm>
          <a:prstGeom prst="ellipse">
            <a:avLst/>
          </a:prstGeom>
          <a:solidFill>
            <a:srgbClr val="1C1C24"/>
          </a:solidFill>
          <a:ln w="1587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6967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7C5CFF"/>
                </a:solidFill>
                <a:latin typeface="Inter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678424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Operational reliability across the website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989320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6EB"/>
                </a:solidFill>
                <a:latin typeface="Inter"/>
              </a:rPr>
              <a:t>PPC 404 alerts, Cloudfront triage, /plans-/pricing redirect, /de cleanups, security fix, navbar bug crush. (Yuval, Jonathan)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13248" y="2743200"/>
            <a:ext cx="1371600" cy="3657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nter"/>
              </a:rPr>
              <a:t>Misses and Stuck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P0 / Urgent Carryovers into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B"/>
                </a:solidFill>
                <a:latin typeface="Inter"/>
              </a:rPr>
              <a:t>Seven items entering Q2 with top-priority. Five are infrastructure or data-flow, two are urgent website assets.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11018520" cy="36576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842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5CFF"/>
                </a:solidFill>
                <a:latin typeface="Inter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842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5CFF"/>
                </a:solidFill>
                <a:latin typeface="Inter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9842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5CFF"/>
                </a:solidFill>
                <a:latin typeface="Inter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9842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5CFF"/>
                </a:solidFill>
                <a:latin typeface="Inter"/>
              </a:rPr>
              <a:t>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9842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5CFF"/>
                </a:solidFill>
                <a:latin typeface="Inter"/>
              </a:rPr>
              <a:t>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86000"/>
            <a:ext cx="11018520" cy="4572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3774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BBF24"/>
                </a:solidFill>
                <a:latin typeface="Inter"/>
              </a:rPr>
              <a:t>Working on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4048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4048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Jonathan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40487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Cloudfront caching causing intermittent 404s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40487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MOps · P0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8346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34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BBF24"/>
                </a:solidFill>
                <a:latin typeface="Inter"/>
              </a:rPr>
              <a:t>Working on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8620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Data 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8620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Jonathan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86207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iOS revenue data not displaying in AppsFlyer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86207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MOps · P0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200400"/>
            <a:ext cx="11018520" cy="4572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32918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2918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BBF24"/>
                </a:solidFill>
                <a:latin typeface="Inter"/>
              </a:rPr>
              <a:t>Working on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3192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Data Int.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33192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Jonathan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31927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Multi-account feature and HubSpot data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31927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MOps · P0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749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7490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472B6"/>
                </a:solidFill>
                <a:latin typeface="Inter"/>
              </a:rPr>
              <a:t>Test is Open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37764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A/B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37764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Jonathan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77647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Home LP A/B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77647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MOps · P0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114800"/>
            <a:ext cx="11018520" cy="4572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94360" y="42062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206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5CFF"/>
                </a:solidFill>
                <a:latin typeface="Inter"/>
              </a:rPr>
              <a:t>New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2336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Biz Process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42336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Hanan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423367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Budget report process with Erika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423367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MOps · P0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46634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6634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5CFF"/>
                </a:solidFill>
                <a:latin typeface="Inter"/>
              </a:rPr>
              <a:t>New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46908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Web Asset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46908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Yuval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469087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Static Assets - Love &amp; Labor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469087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Web · Urgent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5029200"/>
            <a:ext cx="11018520" cy="4572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94360" y="51206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120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5CFF"/>
                </a:solidFill>
                <a:latin typeface="Inter"/>
              </a:rPr>
              <a:t>New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31720" y="51480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Web Asset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03320" y="51480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Yuval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514807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Love and Labor: Birth certificate 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514807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Web · Urgent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P1 Carryovers Worth Flagging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5440680" cy="21488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544068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Attribution debt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892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B"/>
                </a:solidFill>
                <a:latin typeface="Inter"/>
              </a:rPr>
              <a:t>Fix UTM attribution (past UTMs always showing). Mobile app events for FB apps and separate funnel events. Daily event log to correlate activity with metric drops/increases.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40680" cy="21488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4406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HubSpot investigation pileup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892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B"/>
                </a:solidFill>
                <a:latin typeface="Inter"/>
              </a:rPr>
              <a:t>Multiple 'Investigate HubSpot contact...' tickets opened in April never moved past New. Pattern: investigation work gets logged but not scheduled.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886200"/>
            <a:ext cx="5440680" cy="21488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886200"/>
            <a:ext cx="5440680" cy="5486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SEO debt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4892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B"/>
                </a:solidFill>
                <a:latin typeface="Inter"/>
              </a:rPr>
              <a:t>'SEO debts: provide plan and ETA for no-index and robots.txt fixes' and 'Find independent solution for robo.txt management, remove dev dependency'. Both still New.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86200"/>
            <a:ext cx="5440680" cy="21488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86200"/>
            <a:ext cx="544068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1148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Website backlog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4892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B"/>
                </a:solidFill>
                <a:latin typeface="Inter"/>
              </a:rPr>
              <a:t>Page URL cache (P1, no movement). Anomaly detection and on-call protocol for Website (P1, dropped). Replace internal links to parametrized URLs (Working on it).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Themes That Drove the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7C5CF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Performance pressure was the dominant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Feb closed at 78% of target. Signups down 14%, trials down 8%. Nir publicly called for new sources and CVR experiments. This shaped priority more than any planning doc.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7C5CFF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AI adoption became a strategic Hanan-led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The team explicitly debated Claude vs GPT in early March. Hanan led the answer. Claude MCP rollouts for Mixpanel and Omni were felt across the team.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86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7C5CFF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External event in early March slowed everyone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0624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March 9 to 10 messages line up with the March creation peak (121) and explain April's drop to 54. Q1 was not a smooth quarter.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749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7C5CFF"/>
                </a:solidFill>
                <a:latin typeface="Inte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029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Website ops is its own throughput, not overflow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3949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Yuval's 98 shipped items and the Web Dev board's 117 closes prove this. Should be planned for explicitly, not treated as background noise.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Process Patterns to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5440680" cy="21488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54864" cy="21488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85% reactive, 15% planned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892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B"/>
                </a:solidFill>
                <a:latin typeface="Inter"/>
              </a:rPr>
              <a:t>Of 339 Q1 items, only 43 were planned. This is a structural feature of the function. Q2 planning will not bend the curve unless intake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40680" cy="21488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4864" cy="21488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MOps board fields are decorative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892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B"/>
                </a:solidFill>
                <a:latin typeface="Inter"/>
              </a:rPr>
              <a:t>173 of 193 items stuck in Stage = Requirements. 189 of 193 tagged 'Increase Engagement' as Primary Goal. Both fields add zero signal.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886200"/>
            <a:ext cx="5440680" cy="21488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886200"/>
            <a:ext cx="54864" cy="21488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Priority inflation on MOps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4892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B"/>
                </a:solidFill>
                <a:latin typeface="Inter"/>
              </a:rPr>
              <a:t>72 P1s plus 17 P0s out of 193: ~46% of work is P1-or-higher. Nir flagged this in March. The label has lost its tradeoff power.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86200"/>
            <a:ext cx="5440680" cy="214884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86200"/>
            <a:ext cx="54864" cy="21488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Web Dev does Planned? right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4892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B"/>
                </a:solidFill>
                <a:latin typeface="Inter"/>
              </a:rPr>
              <a:t>Yuval is correctly tagging Planned vs Unplanned items. The data is reliable. Bring this practice to the MOps Tasks board.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Lessons for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C5CFF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Treat planned/unplanned as a real metric.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4650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Track it weekly. Aim to shift from 13/87 toward 30/70 by end of Q2. Either more planned work entering, or fewer unplanned accepted.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C5CF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945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Adopt Web Dev's Planned? field on MOps Tasks.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Yuval already does this correctly. Bring the practice to the MOps board so future retros can use real data, not a created-date proxy.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C5CFF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718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Re-baseline priority on MOps 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0098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No more than 5 active P0s at once. No more than 25% of open work tagged P1. Forces real tradeoffs.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947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C5CFF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49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Triage New items weekly.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7822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30 minutes Mondays for #mops-priority-room and the Tasks board. Catches the April investigation pileup pattern.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720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C5CFF"/>
                </a:solidFill>
                <a:latin typeface="Inter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262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Budget for website ops explicitly.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5546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98 items shipped by Yuval is not overflow. Plan capacity for it the way we plan for HubSpot or attribution.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924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C5CFF"/>
                </a:solidFill>
                <a:latin typeface="Inter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3035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Capture the AI tooling work in this repo.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63270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B"/>
                </a:solidFill>
                <a:latin typeface="Inter"/>
              </a:rPr>
              <a:t>Brand skill, MCP rollouts, deck-builder skill are load-bearing and live mostly in Hanan's head.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Q2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3657600" cy="457200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365760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Inter"/>
              </a:rPr>
              <a:t>CARRY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Must finish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31089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Inter"/>
              </a:rPr>
              <a:t>•  5 MOps P0s (Cloudfront, iOS AppsFlyer, Multi-account HubSpot, Home LP test, Budget report)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Inter"/>
              </a:rPr>
              <a:t>•  2 Web Dev Urgents (Love &amp; Labor static assets, birth certificate LP)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Inter"/>
              </a:rPr>
              <a:t>•  Open A/B tests (Descript vs CoCo, Home LP). Decide ship or kill in Week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3657600" cy="457200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3657600" cy="64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472B6"/>
                </a:solidFill>
                <a:latin typeface="Inter"/>
              </a:rPr>
              <a:t>KILL or DEFER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57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Suggested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68880"/>
            <a:ext cx="31089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Inter"/>
              </a:rPr>
              <a:t>•  'Clarify Teamblind LP in Claude' (P1, March 17, no movement). Not a P1.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Inter"/>
              </a:rPr>
              <a:t>•  April HubSpot investigation pileup. Triage Week 1: commit or close.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Inter"/>
              </a:rPr>
              <a:t>•  Old Web Dev Stuck items from Feb (webinar image, /community code cleanup).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08760"/>
            <a:ext cx="3657600" cy="4572000"/>
          </a:xfrm>
          <a:prstGeom prst="rect">
            <a:avLst/>
          </a:prstGeom>
          <a:solidFill>
            <a:srgbClr val="1C1C24"/>
          </a:solidFill>
          <a:ln w="9525">
            <a:solidFill>
              <a:srgbClr val="2A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08760"/>
            <a:ext cx="3657600" cy="6400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Inter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057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B"/>
                </a:solidFill>
                <a:latin typeface="Inter"/>
              </a:rPr>
              <a:t>Worked, do more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468880"/>
            <a:ext cx="31089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Inter"/>
              </a:rPr>
              <a:t>•  Self-Attribution weekly report. Add SLG funnel UTM and paid attribution.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Inter"/>
              </a:rPr>
              <a:t>•  AI tooling. HubSpot MCP playbook, 'campaign report in 60s', brand-asset workflows.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Inter"/>
              </a:rPr>
              <a:t>•  Yuval's planning discipline. Bring Planned? field to MOps Tasks board.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Inter"/>
              </a:rPr>
              <a:t>•  Localization. FR live, DE recovered. More locales likely in Q2.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41148" cy="5029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Open Questions for the Q2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5CFF"/>
                </a:solidFill>
                <a:latin typeface="Inter"/>
              </a:rPr>
              <a:t>Marketing Ops · Q1 FY26 Retro</a:t>
            </a:r>
          </a:p>
        </p:txBody>
      </p:sp>
      <p:sp>
        <p:nvSpPr>
          <p:cNvPr id="5" name="Oval 4"/>
          <p:cNvSpPr/>
          <p:nvPr/>
        </p:nvSpPr>
        <p:spPr>
          <a:xfrm>
            <a:off x="11750040" y="365760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7C5CFF"/>
                </a:solidFill>
                <a:latin typeface="Inter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73352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Inter"/>
              </a:rPr>
              <a:t>Are we accepting the 85% reactive rate, or actively trying to bend it? With what mechanism?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7C5CFF"/>
                </a:solidFill>
                <a:latin typeface="Inter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24912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Inter"/>
              </a:rPr>
              <a:t>Who triages new requests entering both boards? Hanan as filter, or each owner filters their own?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7C5CFF"/>
                </a:solidFill>
                <a:latin typeface="Inter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776472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Inter"/>
              </a:rPr>
              <a:t>What capacity reservation for unplanned in Q2 (e.g. 50% of bandwidth) vs planned initiatives?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7C5CFF"/>
                </a:solidFill>
                <a:latin typeface="Inter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828032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Inter"/>
              </a:rPr>
              <a:t>Should we add a Type / Area-of-impact column on the Web Dev board so future retros can categorize its output?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6E6EB"/>
                </a:solidFill>
                <a:latin typeface="Inter"/>
              </a:rPr>
              <a:t>Riverside Growth · Marketing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6E6EB"/>
                </a:solidFill>
                <a:latin typeface="Inter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13248" y="2377440"/>
            <a:ext cx="1371600" cy="3657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060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Inter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E6E6EB"/>
                </a:solidFill>
                <a:latin typeface="Inter"/>
              </a:rPr>
              <a:t>Onwards to Q2.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Hanan · Jonathan · Yuval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7C5CFF"/>
                </a:solidFill>
                <a:latin typeface="Inter"/>
              </a:rPr>
              <a:t>Marketing Operations · Riverside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