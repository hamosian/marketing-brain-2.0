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versid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286000" cy="5431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127248"/>
            <a:ext cx="1554480" cy="4572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" name="Shape 1"/>
          <p:cNvSpPr/>
          <p:nvPr/>
        </p:nvSpPr>
        <p:spPr>
          <a:xfrm>
            <a:off x="640080" y="246888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RIVERSIDE GROWTH  ·  INTERNAL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Marketing OS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team context brain: turning Claude from an isolated tool into an operating partner that understands our systems, our work, and our priorities.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and capability roadmap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BUILT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knowledge was trapped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3392424" cy="3200400"/>
          </a:xfrm>
          <a:prstGeom prst="roundRect">
            <a:avLst>
              <a:gd name="adj" fmla="val 2857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Tribal knowledge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2752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run paid, how our pipeline really works, what breaks and why. It lived in people's heads, not anywhere the team could reuse.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1600200"/>
            <a:ext cx="3392424" cy="3200400"/>
          </a:xfrm>
          <a:prstGeom prst="roundRect">
            <a:avLst>
              <a:gd name="adj" fmla="val 2857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8304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Siloed tools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18304" y="3200400"/>
            <a:ext cx="2752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HubSpot, Omni, monday, Slack, Windsor, the ad platforms. Context never crossed from one system to the next.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392424" cy="3200400"/>
          </a:xfrm>
          <a:prstGeom prst="roundRect">
            <a:avLst>
              <a:gd name="adj" fmla="val 2857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7648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76488" y="265176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started cold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76488" y="3200400"/>
            <a:ext cx="2752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chat began from zero. We re-explained our systems, boards, and conventions, every single time.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A2A35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12064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cost: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context, inconsistent answers, and slow onboarding. Every gain was reset the moment a person or a chat moved 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as an operating partner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Claude from an isolated tool into an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partner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understands our systems, workflows, conventions, tribal knowledge, priorities, and how we route work.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5001768"/>
            <a:ext cx="54864" cy="101498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0292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Version-controlled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Lives in git. Every change is reviewed and shipped as a PR.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98264" y="480060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98264" y="5001768"/>
            <a:ext cx="54864" cy="101498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50292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AI-first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544068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for Claude to consume, not for humans to skim.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6448" y="4800600"/>
            <a:ext cx="3392424" cy="1417320"/>
          </a:xfrm>
          <a:prstGeom prst="roundRect">
            <a:avLst>
              <a:gd name="adj" fmla="val 6452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6448" y="5001768"/>
            <a:ext cx="54864" cy="101498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30768" y="50292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by the team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544068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brain the whole department reads from and writes to.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context brain, built as a repo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a single, version-controlled knowledge base, structured for AI and maintained by the team.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always-loaded map. Everything else loads only when the task needs it.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Pointers, not copies.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link to the live source, never duplicate it, so the brain never goes stale when a platform changes.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2A2A35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645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</a:t>
            </a:r>
            <a:pPr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always loaded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2423160"/>
            <a:ext cx="0" cy="640080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3063240"/>
            <a:ext cx="320040" cy="0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2743200"/>
            <a:ext cx="4434840" cy="676656"/>
          </a:xfrm>
          <a:prstGeom prst="roundRect">
            <a:avLst>
              <a:gd name="adj" fmla="val 13514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74320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references/   </a:t>
            </a:r>
            <a:pPr indent="0" marL="0"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IDs, contacts, boards, channels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2423160"/>
            <a:ext cx="0" cy="1481328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3904488"/>
            <a:ext cx="320040" cy="0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3584448"/>
            <a:ext cx="4434840" cy="676656"/>
          </a:xfrm>
          <a:prstGeom prst="roundRect">
            <a:avLst>
              <a:gd name="adj" fmla="val 13514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3584448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systems/   </a:t>
            </a:r>
            <a:pPr indent="0" marL="0"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each system we own works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423160"/>
            <a:ext cx="0" cy="2322576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4745736"/>
            <a:ext cx="320040" cy="0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4425696"/>
            <a:ext cx="4434840" cy="676656"/>
          </a:xfrm>
          <a:prstGeom prst="roundRect">
            <a:avLst>
              <a:gd name="adj" fmla="val 13514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4425696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.claude/skills/   </a:t>
            </a:r>
            <a:pPr indent="0" marL="0"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and specialist sub-agents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2423160"/>
            <a:ext cx="0" cy="3163824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5586984"/>
            <a:ext cx="320040" cy="0"/>
          </a:xfrm>
          <a:prstGeom prst="line">
            <a:avLst/>
          </a:prstGeom>
          <a:noFill/>
          <a:ln w="19050">
            <a:solidFill>
              <a:srgbClr val="2A2A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5266944"/>
            <a:ext cx="4434840" cy="676656"/>
          </a:xfrm>
          <a:prstGeom prst="roundRect">
            <a:avLst>
              <a:gd name="adj" fmla="val 13514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5266944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systems/reference/   </a:t>
            </a:r>
            <a:pPr indent="0" marL="0"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we depend 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6172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on demand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already in the brain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2452878" cy="283464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231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1500759" y="3703320"/>
            <a:ext cx="731520" cy="3200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862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and workflows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trigger by name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58718" y="2011680"/>
            <a:ext cx="2452878" cy="283464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58718" y="24231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6400" dirty="0"/>
          </a:p>
        </p:txBody>
      </p:sp>
      <p:sp>
        <p:nvSpPr>
          <p:cNvPr id="13" name="Shape 11"/>
          <p:cNvSpPr/>
          <p:nvPr/>
        </p:nvSpPr>
        <p:spPr>
          <a:xfrm>
            <a:off x="4319397" y="3703320"/>
            <a:ext cx="731520" cy="3200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4" name="Text 12"/>
          <p:cNvSpPr/>
          <p:nvPr/>
        </p:nvSpPr>
        <p:spPr>
          <a:xfrm>
            <a:off x="3641598" y="38862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sub-agents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41598" y="4343400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paid, web, lifecycle, more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2011680"/>
            <a:ext cx="2452878" cy="283464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77356" y="24231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7138035" y="3703320"/>
            <a:ext cx="731520" cy="3200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9" name="Text 17"/>
          <p:cNvSpPr/>
          <p:nvPr/>
        </p:nvSpPr>
        <p:spPr>
          <a:xfrm>
            <a:off x="6460236" y="38862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systems documented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60236" y="4343400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 growing reference layer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95994" y="2011680"/>
            <a:ext cx="2452878" cy="283464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95994" y="24231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15+</a:t>
            </a:r>
            <a:endParaRPr lang="en-US" sz="6400" dirty="0"/>
          </a:p>
        </p:txBody>
      </p:sp>
      <p:sp>
        <p:nvSpPr>
          <p:cNvPr id="23" name="Shape 21"/>
          <p:cNvSpPr/>
          <p:nvPr/>
        </p:nvSpPr>
        <p:spPr>
          <a:xfrm>
            <a:off x="9956673" y="3703320"/>
            <a:ext cx="731520" cy="3200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4" name="Text 22"/>
          <p:cNvSpPr/>
          <p:nvPr/>
        </p:nvSpPr>
        <p:spPr>
          <a:xfrm>
            <a:off x="9278874" y="38862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systems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278874" y="4343400"/>
            <a:ext cx="20871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HubSpot to the ad platforms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 grow every week the team uses it. That is the point.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map, not a library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never loads the whole knowledge base. It gets exactly the context the task needs, nothing more, so the context window stays sharp and answers stay accurate.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74620"/>
            <a:ext cx="548640" cy="548640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746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60604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loaded    </a:t>
            </a:r>
            <a:pPr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990088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map. What this repo is, where knowledge lives, team conventions.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927348"/>
            <a:ext cx="548640" cy="548640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273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858768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on demand    </a:t>
            </a:r>
            <a:pPr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systems/ · references/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242816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“Check the paid account” pulls in just the paid acquisition doc.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28616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5180076"/>
            <a:ext cx="548640" cy="548640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800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5111496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Deep, inside skills    </a:t>
            </a:r>
            <a:pPr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knowledge/ files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5495544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skill opens heavy reference only at the exact step it is needed.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FRONT DOOR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agent for the whole department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/marketing-os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takes any broad or cross-system request and runs the operating loop, then delegates to the right specialist.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925726" cy="1005840"/>
          </a:xfrm>
          <a:prstGeom prst="roundRect">
            <a:avLst>
              <a:gd name="adj" fmla="val 9091"/>
            </a:avLst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17428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84094" y="22402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85846" y="2240280"/>
            <a:ext cx="1925726" cy="1005840"/>
          </a:xfrm>
          <a:prstGeom prst="roundRect">
            <a:avLst>
              <a:gd name="adj" fmla="val 9091"/>
            </a:avLst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7286" y="2240280"/>
            <a:ext cx="17428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9861" y="22402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31613" y="2240280"/>
            <a:ext cx="1925726" cy="1005840"/>
          </a:xfrm>
          <a:prstGeom prst="roundRect">
            <a:avLst>
              <a:gd name="adj" fmla="val 9091"/>
            </a:avLst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3053" y="2240280"/>
            <a:ext cx="17428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 to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sub-agents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75627" y="22402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77379" y="2240280"/>
            <a:ext cx="1925726" cy="1005840"/>
          </a:xfrm>
          <a:prstGeom prst="roundRect">
            <a:avLst>
              <a:gd name="adj" fmla="val 9091"/>
            </a:avLst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8819" y="2240280"/>
            <a:ext cx="17428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 a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1394" y="22402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623146" y="2240280"/>
            <a:ext cx="1925726" cy="1005840"/>
          </a:xfrm>
          <a:prstGeom prst="roundRect">
            <a:avLst>
              <a:gd name="adj" fmla="val 9091"/>
            </a:avLst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4586" y="2240280"/>
            <a:ext cx="17428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specialist sub-agents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261104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40233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96312" y="402336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4261104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40233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52544" y="402336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261104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40233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08776" y="402336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9944" y="4261104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92824" y="40233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65008" y="402336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6176" y="4261104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6" name="Text 34"/>
          <p:cNvSpPr/>
          <p:nvPr/>
        </p:nvSpPr>
        <p:spPr>
          <a:xfrm>
            <a:off x="8449056" y="40233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21240" y="402336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22408" y="4261104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9" name="Text 37"/>
          <p:cNvSpPr/>
          <p:nvPr/>
        </p:nvSpPr>
        <p:spPr>
          <a:xfrm>
            <a:off x="10305288" y="40233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791456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" y="5029200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24128" y="479145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96312" y="4791456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97480" y="5029200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5" name="Text 43"/>
          <p:cNvSpPr/>
          <p:nvPr/>
        </p:nvSpPr>
        <p:spPr>
          <a:xfrm>
            <a:off x="2880360" y="479145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acquisition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52544" y="4791456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53712" y="5029200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8" name="Text 46"/>
          <p:cNvSpPr/>
          <p:nvPr/>
        </p:nvSpPr>
        <p:spPr>
          <a:xfrm>
            <a:off x="4736592" y="479145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08776" y="4791456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9944" y="5029200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1" name="Text 49"/>
          <p:cNvSpPr/>
          <p:nvPr/>
        </p:nvSpPr>
        <p:spPr>
          <a:xfrm>
            <a:off x="6592824" y="479145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and AI search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065008" y="4791456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6176" y="5029200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4" name="Text 52"/>
          <p:cNvSpPr/>
          <p:nvPr/>
        </p:nvSpPr>
        <p:spPr>
          <a:xfrm>
            <a:off x="8449056" y="479145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automation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921240" y="4791456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22408" y="5029200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7" name="Text 55"/>
          <p:cNvSpPr/>
          <p:nvPr/>
        </p:nvSpPr>
        <p:spPr>
          <a:xfrm>
            <a:off x="10305288" y="479145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loop: tracks operating state, asks before any mutating action, updates monday and Slack, captures the learning.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works where we already work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93392"/>
            <a:ext cx="54864" cy="36576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96596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BI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2688" y="2514600"/>
            <a:ext cx="745236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5146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 BI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42516" y="2514600"/>
            <a:ext cx="900684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12" name="Text 10"/>
          <p:cNvSpPr/>
          <p:nvPr/>
        </p:nvSpPr>
        <p:spPr>
          <a:xfrm>
            <a:off x="1842516" y="2514600"/>
            <a:ext cx="9006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07792" y="251460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14" name="Text 12"/>
          <p:cNvSpPr/>
          <p:nvPr/>
        </p:nvSpPr>
        <p:spPr>
          <a:xfrm>
            <a:off x="2907792" y="2514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2688" y="2971800"/>
            <a:ext cx="978408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29718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Windsor.ai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8264" y="17373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98264" y="1993392"/>
            <a:ext cx="54864" cy="36576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196596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and lifecycle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90872" y="2514600"/>
            <a:ext cx="745236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21" name="Text 19"/>
          <p:cNvSpPr/>
          <p:nvPr/>
        </p:nvSpPr>
        <p:spPr>
          <a:xfrm>
            <a:off x="4690872" y="2514600"/>
            <a:ext cx="745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00700" y="2514600"/>
            <a:ext cx="1056132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23" name="Text 21"/>
          <p:cNvSpPr/>
          <p:nvPr/>
        </p:nvSpPr>
        <p:spPr>
          <a:xfrm>
            <a:off x="5600700" y="2514600"/>
            <a:ext cx="1056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Pre-Op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2971800"/>
            <a:ext cx="978408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29718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Gong calls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56448" y="17373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56448" y="1993392"/>
            <a:ext cx="54864" cy="36576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8449056" y="196596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and comms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49056" y="2514600"/>
            <a:ext cx="978408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30" name="Text 28"/>
          <p:cNvSpPr/>
          <p:nvPr/>
        </p:nvSpPr>
        <p:spPr>
          <a:xfrm>
            <a:off x="8449056" y="25146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monday.com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92056" y="2514600"/>
            <a:ext cx="589788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32" name="Text 30"/>
          <p:cNvSpPr/>
          <p:nvPr/>
        </p:nvSpPr>
        <p:spPr>
          <a:xfrm>
            <a:off x="9592056" y="251460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38404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096512"/>
            <a:ext cx="54864" cy="36576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5" name="Text 33"/>
          <p:cNvSpPr/>
          <p:nvPr/>
        </p:nvSpPr>
        <p:spPr>
          <a:xfrm>
            <a:off x="932688" y="406908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acquisition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617720"/>
            <a:ext cx="978408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37" name="Text 35"/>
          <p:cNvSpPr/>
          <p:nvPr/>
        </p:nvSpPr>
        <p:spPr>
          <a:xfrm>
            <a:off x="932688" y="461772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75688" y="4617720"/>
            <a:ext cx="512064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39" name="Text 37"/>
          <p:cNvSpPr/>
          <p:nvPr/>
        </p:nvSpPr>
        <p:spPr>
          <a:xfrm>
            <a:off x="2075688" y="46177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52344" y="46177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41" name="Text 39"/>
          <p:cNvSpPr/>
          <p:nvPr/>
        </p:nvSpPr>
        <p:spPr>
          <a:xfrm>
            <a:off x="2752344" y="4617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32688" y="5074920"/>
            <a:ext cx="900684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43" name="Text 41"/>
          <p:cNvSpPr/>
          <p:nvPr/>
        </p:nvSpPr>
        <p:spPr>
          <a:xfrm>
            <a:off x="932688" y="5074920"/>
            <a:ext cx="9006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98264" y="38404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398264" y="4096512"/>
            <a:ext cx="54864" cy="36576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6" name="Text 44"/>
          <p:cNvSpPr/>
          <p:nvPr/>
        </p:nvSpPr>
        <p:spPr>
          <a:xfrm>
            <a:off x="4690872" y="406908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and SEO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690872" y="4617720"/>
            <a:ext cx="1211580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48" name="Text 46"/>
          <p:cNvSpPr/>
          <p:nvPr/>
        </p:nvSpPr>
        <p:spPr>
          <a:xfrm>
            <a:off x="4690872" y="4617720"/>
            <a:ext cx="1211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riverside.com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67044" y="4617720"/>
            <a:ext cx="1289304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50" name="Text 48"/>
          <p:cNvSpPr/>
          <p:nvPr/>
        </p:nvSpPr>
        <p:spPr>
          <a:xfrm>
            <a:off x="6067044" y="461772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Console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90872" y="5074920"/>
            <a:ext cx="667512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52" name="Text 50"/>
          <p:cNvSpPr/>
          <p:nvPr/>
        </p:nvSpPr>
        <p:spPr>
          <a:xfrm>
            <a:off x="4690872" y="507492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Ahrefs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156448" y="38404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156448" y="4096512"/>
            <a:ext cx="54864" cy="36576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5" name="Text 53"/>
          <p:cNvSpPr/>
          <p:nvPr/>
        </p:nvSpPr>
        <p:spPr>
          <a:xfrm>
            <a:off x="8449056" y="406908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and brand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449056" y="4617720"/>
            <a:ext cx="589788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57" name="Text 55"/>
          <p:cNvSpPr/>
          <p:nvPr/>
        </p:nvSpPr>
        <p:spPr>
          <a:xfrm>
            <a:off x="8449056" y="46177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203436" y="4617720"/>
            <a:ext cx="512064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59" name="Text 57"/>
          <p:cNvSpPr/>
          <p:nvPr/>
        </p:nvSpPr>
        <p:spPr>
          <a:xfrm>
            <a:off x="9203436" y="46177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449056" y="5074920"/>
            <a:ext cx="1444752" cy="347472"/>
          </a:xfrm>
          <a:prstGeom prst="roundRect">
            <a:avLst>
              <a:gd name="adj" fmla="val 50000"/>
            </a:avLst>
          </a:prstGeom>
          <a:solidFill>
            <a:srgbClr val="2A2A35"/>
          </a:solidFill>
          <a:ln/>
        </p:spPr>
      </p:sp>
      <p:sp>
        <p:nvSpPr>
          <p:cNvPr id="61" name="Text 59"/>
          <p:cNvSpPr/>
          <p:nvPr/>
        </p:nvSpPr>
        <p:spPr>
          <a:xfrm>
            <a:off x="8449056" y="507492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COMPOUNDS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gets smarter every time we use 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1962302" cy="2468880"/>
          </a:xfrm>
          <a:prstGeom prst="roundRect">
            <a:avLst>
              <a:gd name="adj" fmla="val 466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8623" y="2148840"/>
            <a:ext cx="585216" cy="585216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8623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880360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383280"/>
            <a:ext cx="1633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real workflow with Claude: a campaign, an audit, an investigation.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11526" y="1828800"/>
            <a:ext cx="274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76702" y="1828800"/>
            <a:ext cx="1962302" cy="2468880"/>
          </a:xfrm>
          <a:prstGeom prst="roundRect">
            <a:avLst>
              <a:gd name="adj" fmla="val 466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5246" y="2148840"/>
            <a:ext cx="585216" cy="585216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5246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41294" y="2880360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41294" y="3383280"/>
            <a:ext cx="1633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/retro. Claude writes up the non-obvious learning.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8149" y="1828800"/>
            <a:ext cx="274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113325" y="1828800"/>
            <a:ext cx="1962302" cy="2468880"/>
          </a:xfrm>
          <a:prstGeom prst="roundRect">
            <a:avLst>
              <a:gd name="adj" fmla="val 466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1868" y="2148840"/>
            <a:ext cx="585216" cy="585216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1868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77917" y="2880360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PR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77917" y="3383280"/>
            <a:ext cx="1633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learning is reviewed and merged into the repo, not lost in a chat.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84771" y="1828800"/>
            <a:ext cx="274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49947" y="1828800"/>
            <a:ext cx="1962302" cy="2468880"/>
          </a:xfrm>
          <a:prstGeom prst="roundRect">
            <a:avLst>
              <a:gd name="adj" fmla="val 466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38490" y="2148840"/>
            <a:ext cx="585216" cy="585216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8490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14539" y="2880360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 improves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14539" y="3383280"/>
            <a:ext cx="1633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doc or skill is now sharper for everyone.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21394" y="1828800"/>
            <a:ext cx="274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586570" y="1828800"/>
            <a:ext cx="1962302" cy="2468880"/>
          </a:xfrm>
          <a:prstGeom prst="roundRect">
            <a:avLst>
              <a:gd name="adj" fmla="val 466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275113" y="2148840"/>
            <a:ext cx="585216" cy="585216"/>
          </a:xfrm>
          <a:prstGeom prst="ellipse">
            <a:avLst/>
          </a:prstGeom>
          <a:solidFill>
            <a:srgbClr val="0F0F14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75113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751162" y="2880360"/>
            <a:ext cx="1633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run is better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51162" y="3383280"/>
            <a:ext cx="1633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team starts the next task further ahead.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6177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A2A35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61772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stops being tribal. What one person learns once, the whole team reuses forever, and the advantage compounds week over week.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versid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645920" cy="391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80076" y="2697480"/>
            <a:ext cx="1828800" cy="4572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8803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capability roadmap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marketing department unlocks as the brain grows.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TRAJECTORY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horizons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1866519" y="2148840"/>
            <a:ext cx="845591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7647" y="2029968"/>
            <a:ext cx="237744" cy="237744"/>
          </a:xfrm>
          <a:prstGeom prst="ellipse">
            <a:avLst/>
          </a:prstGeom>
          <a:solidFill>
            <a:srgbClr val="7C5CFF"/>
          </a:solidFill>
          <a:ln w="254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452878" cy="310896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971800"/>
            <a:ext cx="1904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live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640080" cy="3657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brief, structured tasks, ad audits, self-serve data, sub-agent routing.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66285" y="2029968"/>
            <a:ext cx="237744" cy="237744"/>
          </a:xfrm>
          <a:prstGeom prst="ellipse">
            <a:avLst/>
          </a:prstGeom>
          <a:solidFill>
            <a:srgbClr val="0F0F14"/>
          </a:solidFill>
          <a:ln w="2540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8718" y="14630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QUARTER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8718" y="2651760"/>
            <a:ext cx="2452878" cy="310896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33038" y="2971800"/>
            <a:ext cx="1904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operating loop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33038" y="3977640"/>
            <a:ext cx="640080" cy="3657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3733038" y="420624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orchestration, automated readouts, lifecycle flows, spend pacing.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84923" y="2029968"/>
            <a:ext cx="237744" cy="237744"/>
          </a:xfrm>
          <a:prstGeom prst="ellipse">
            <a:avLst/>
          </a:prstGeom>
          <a:solidFill>
            <a:srgbClr val="0F0F14"/>
          </a:solidFill>
          <a:ln w="254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7356" y="14630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MONTHS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7356" y="2651760"/>
            <a:ext cx="2452878" cy="310896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51676" y="2971800"/>
            <a:ext cx="1904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the rhythm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51676" y="3977640"/>
            <a:ext cx="640080" cy="3657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51676" y="420624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Cross-system investigations, proactive anomaly flags, self-serve data for all.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203561" y="2029968"/>
            <a:ext cx="237744" cy="237744"/>
          </a:xfrm>
          <a:prstGeom prst="ellipse">
            <a:avLst/>
          </a:prstGeom>
          <a:solidFill>
            <a:srgbClr val="0F0F14"/>
          </a:solidFill>
          <a:ln w="25400">
            <a:solidFill>
              <a:srgbClr val="7C5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5994" y="1463040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5994" y="2651760"/>
            <a:ext cx="2452878" cy="3108960"/>
          </a:xfrm>
          <a:prstGeom prst="roundRect">
            <a:avLst>
              <a:gd name="adj" fmla="val 3728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70314" y="2971800"/>
            <a:ext cx="1904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compounding moat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370314" y="3977640"/>
            <a:ext cx="640080" cy="3657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0" name="Text 28"/>
          <p:cNvSpPr/>
          <p:nvPr/>
        </p:nvSpPr>
        <p:spPr>
          <a:xfrm>
            <a:off x="9370314" y="4206240"/>
            <a:ext cx="19042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memory, day-one onboarding, the model replicated across teams.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989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here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HORIZONS 1 AND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Now, and next quarter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5225796" cy="4526280"/>
          </a:xfrm>
          <a:prstGeom prst="roundRect">
            <a:avLst>
              <a:gd name="adj" fmla="val 202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116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NOW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44485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operating brief: tasks, Slack, risks, and actions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front door for any marketing request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tasks with Why, What, and Done When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Multi-platform paid ad audits, 250+ checks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data Q&amp;A across Omni and Snowflake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Living system docs: paid, HubSpot, Omni, website, ops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Funnel and Pre-Op intelligence, Gong call exploration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3076" y="1691640"/>
            <a:ext cx="5225796" cy="4526280"/>
          </a:xfrm>
          <a:prstGeom prst="roundRect">
            <a:avLst>
              <a:gd name="adj" fmla="val 202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3116" y="20116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/>
        </p:spPr>
      </p:sp>
      <p:sp>
        <p:nvSpPr>
          <p:cNvPr id="13" name="Text 11"/>
          <p:cNvSpPr/>
          <p:nvPr/>
        </p:nvSpPr>
        <p:spPr>
          <a:xfrm>
            <a:off x="6643116" y="2011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QUARTER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43116" y="24688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operating loop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34556" y="3063240"/>
            <a:ext cx="44485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orchestration: brief, launch, tracking, readout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weekly measurement and performance readouts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journeys: MQL to SQL, nurture, win-back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spend pacing and wasted-spend alerts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flywheel running: every retro adds to the brain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sub-agents wired to more of our real workflows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HORIZONS 3 AND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Scaling, and a compounding moat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5225796" cy="4526280"/>
          </a:xfrm>
          <a:prstGeom prst="roundRect">
            <a:avLst>
              <a:gd name="adj" fmla="val 202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116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MONTHS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the rhythm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44485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Cross-system investigations without hand-holding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anomaly detection in the morning brief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data for every marketer, not just analysts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Brand-consistent content and decks on demand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OS drives our weekly operating cadence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3076" y="1691640"/>
            <a:ext cx="5225796" cy="4526280"/>
          </a:xfrm>
          <a:prstGeom prst="roundRect">
            <a:avLst>
              <a:gd name="adj" fmla="val 2020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3116" y="20116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/>
        </p:spPr>
      </p:sp>
      <p:sp>
        <p:nvSpPr>
          <p:cNvPr id="13" name="Text 11"/>
          <p:cNvSpPr/>
          <p:nvPr/>
        </p:nvSpPr>
        <p:spPr>
          <a:xfrm>
            <a:off x="6643116" y="2011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43116" y="24688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compounding moat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34556" y="3063240"/>
            <a:ext cx="44485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memory that survives turnover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hires productive on day one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grounded in one consistent source of truth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replicated across other teams at Riverside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measurable speed advantage that keeps widening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 for you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5225796" cy="1965960"/>
          </a:xfrm>
          <a:prstGeom prst="roundRect">
            <a:avLst>
              <a:gd name="adj" fmla="val 4651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574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re-explaining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already knows our systems, boards, and conventions. No more setting the scene every time.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3076" y="1737360"/>
            <a:ext cx="5225796" cy="1965960"/>
          </a:xfrm>
          <a:prstGeom prst="roundRect">
            <a:avLst>
              <a:gd name="adj" fmla="val 4651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3116" y="20574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4311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83196" y="2103120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answers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43116" y="269748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logic every run, grounded in our real, live sources. Less second-guessing.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225796" cy="1965960"/>
          </a:xfrm>
          <a:prstGeom prst="roundRect">
            <a:avLst>
              <a:gd name="adj" fmla="val 4651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3434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389120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clicking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98348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replace manual trips through dashboards, boards, and admin panels.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23076" y="4023360"/>
            <a:ext cx="5225796" cy="1965960"/>
          </a:xfrm>
          <a:prstGeom prst="roundRect">
            <a:avLst>
              <a:gd name="adj" fmla="val 4651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43116" y="43434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43116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83196" y="4389120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knowledge compounds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43116" y="4983480"/>
            <a:ext cx="4585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teach it once, the whole team reuses forever. Your best thinking outlives any single project.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 brain, or none at all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2A2A35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messy brain is worse than no brain: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produces wrong answers with high confidence. Four habits keep it trustworthy.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225796" cy="1371600"/>
          </a:xfrm>
          <a:prstGeom prst="roundRect">
            <a:avLst>
              <a:gd name="adj" fmla="val 6667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54864" cy="9144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953512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Pointers, not copies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3383280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duplicate live data. Link to the source so nothing drifts.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3076" y="2697480"/>
            <a:ext cx="5225796" cy="1371600"/>
          </a:xfrm>
          <a:prstGeom prst="roundRect">
            <a:avLst>
              <a:gd name="adj" fmla="val 6667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3076" y="2926080"/>
            <a:ext cx="54864" cy="9144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15684" y="2953512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RALPH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5684" y="3383280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Review, audit, learn, prune, handoff. A quarterly cleanup.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225796" cy="1371600"/>
          </a:xfrm>
          <a:prstGeom prst="roundRect">
            <a:avLst>
              <a:gd name="adj" fmla="val 6667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72000"/>
            <a:ext cx="54864" cy="9144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599432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/health-check monthly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5029200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stale docs, empty stubs, and template drift.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3076" y="4343400"/>
            <a:ext cx="5225796" cy="1371600"/>
          </a:xfrm>
          <a:prstGeom prst="roundRect">
            <a:avLst>
              <a:gd name="adj" fmla="val 6667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3076" y="4572000"/>
            <a:ext cx="54864" cy="9144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2" name="Text 20"/>
          <p:cNvSpPr/>
          <p:nvPr/>
        </p:nvSpPr>
        <p:spPr>
          <a:xfrm>
            <a:off x="6615684" y="4599432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/retro after novel 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5684" y="5029200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Non-negotiable. Capture the learning before it evaporates.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64008" cy="67665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today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“good morning”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49040" y="169164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daily brief: active work, Slack, risks, next 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4144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“run the marketing OS”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44144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operating brief with priorities, owners, and 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9125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“create a task”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19125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monday story, written for you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4106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“interview me”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394106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extracts your knowledge straight into the repo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90872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1C1C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908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“let's retro”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49040" y="469087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what we learned so the next run is better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1691640"/>
            <a:ext cx="3593592" cy="3657600"/>
          </a:xfrm>
          <a:prstGeom prst="roundRect">
            <a:avLst>
              <a:gd name="adj" fmla="val 2545"/>
            </a:avLst>
          </a:prstGeom>
          <a:solidFill>
            <a:srgbClr val="2A2A35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19659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965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ASK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of us writes or improves one system doc this month.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229600" y="3749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6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is the whole flywheel. Use it for real work, then teach it what you learned. The brain grows from there.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371600" cy="4114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team. One brain. Compounding every week.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Marketing OS</dc:title>
  <dc:subject>PptxGenJS Presentation</dc:subject>
  <dc:creator>Riverside Growth</dc:creator>
  <cp:lastModifiedBy>Riverside Growth</cp:lastModifiedBy>
  <cp:revision>1</cp:revision>
  <dcterms:created xsi:type="dcterms:W3CDTF">2026-06-15T18:12:30Z</dcterms:created>
  <dcterms:modified xsi:type="dcterms:W3CDTF">2026-06-15T18:12:30Z</dcterms:modified>
</cp:coreProperties>
</file>