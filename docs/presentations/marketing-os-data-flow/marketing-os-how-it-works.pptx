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4"/>
        </a:solidFill>
      </p:bgPr>
    </p:bg>
    <p:spTree>
      <p:nvGrpSpPr>
        <p:cNvPr id="1" name=""/>
        <p:cNvGrpSpPr/>
        <p:nvPr/>
      </p:nvGrpSpPr>
      <p:grpSpPr>
        <a:xfrm>
          <a:off x="0" y="0"/>
          <a:ext cx="0" cy="0"/>
          <a:chOff x="0" y="0"/>
          <a:chExt cx="0" cy="0"/>
        </a:xfrm>
      </p:grpSpPr>
      <p:pic>
        <p:nvPicPr>
          <p:cNvPr id="2" name="Image 0" descr="riverside-logo-white.png">    </p:cNvPr>
          <p:cNvPicPr>
            <a:picLocks noChangeAspect="1"/>
          </p:cNvPicPr>
          <p:nvPr/>
        </p:nvPicPr>
        <p:blipFill>
          <a:blip r:embed="rId1"/>
          <a:stretch>
            <a:fillRect/>
          </a:stretch>
        </p:blipFill>
        <p:spPr>
          <a:xfrm>
            <a:off x="457200" y="411480"/>
            <a:ext cx="1920240" cy="457200"/>
          </a:xfrm>
          <a:prstGeom prst="rect">
            <a:avLst/>
          </a:prstGeom>
        </p:spPr>
      </p:pic>
      <p:sp>
        <p:nvSpPr>
          <p:cNvPr id="3" name="Text 0"/>
          <p:cNvSpPr/>
          <p:nvPr/>
        </p:nvSpPr>
        <p:spPr>
          <a:xfrm>
            <a:off x="457200" y="2514600"/>
            <a:ext cx="10515600" cy="868680"/>
          </a:xfrm>
          <a:prstGeom prst="rect">
            <a:avLst/>
          </a:prstGeom>
          <a:noFill/>
          <a:ln/>
        </p:spPr>
        <p:txBody>
          <a:bodyPr wrap="square" lIns="0" tIns="0" rIns="0" bIns="0" rtlCol="0" anchor="ctr"/>
          <a:lstStyle/>
          <a:p>
            <a:pPr indent="0" marL="0">
              <a:buNone/>
            </a:pPr>
            <a:r>
              <a:rPr lang="en-US" sz="4600" b="1" spc="-50" kern="0" dirty="0">
                <a:solidFill>
                  <a:srgbClr val="FFFFFF"/>
                </a:solidFill>
                <a:latin typeface="Instrument Sans" pitchFamily="34" charset="0"/>
                <a:ea typeface="Instrument Sans" pitchFamily="34" charset="-122"/>
                <a:cs typeface="Instrument Sans" pitchFamily="34" charset="-120"/>
              </a:rPr>
              <a:t>The Marketing OS</a:t>
            </a:r>
            <a:endParaRPr lang="en-US" sz="4600" dirty="0"/>
          </a:p>
        </p:txBody>
      </p:sp>
      <p:sp>
        <p:nvSpPr>
          <p:cNvPr id="4" name="Text 1"/>
          <p:cNvSpPr/>
          <p:nvPr/>
        </p:nvSpPr>
        <p:spPr>
          <a:xfrm>
            <a:off x="457200" y="3456432"/>
            <a:ext cx="9601200" cy="411480"/>
          </a:xfrm>
          <a:prstGeom prst="rect">
            <a:avLst/>
          </a:prstGeom>
          <a:noFill/>
          <a:ln/>
        </p:spPr>
        <p:txBody>
          <a:bodyPr wrap="square" lIns="0" tIns="0" rIns="0" bIns="0" rtlCol="0" anchor="ctr"/>
          <a:lstStyle/>
          <a:p>
            <a:pPr indent="0" marL="0">
              <a:buNone/>
            </a:pPr>
            <a:r>
              <a:rPr lang="en-US" sz="1900" dirty="0">
                <a:solidFill>
                  <a:srgbClr val="E6E6EB"/>
                </a:solidFill>
                <a:latin typeface="Instrument Sans" pitchFamily="34" charset="0"/>
                <a:ea typeface="Instrument Sans" pitchFamily="34" charset="-122"/>
                <a:cs typeface="Instrument Sans" pitchFamily="34" charset="-120"/>
              </a:rPr>
              <a:t>How the marketing brain works: architecture, data flow, and the learning loop</a:t>
            </a:r>
            <a:endParaRPr lang="en-US" sz="1900" dirty="0"/>
          </a:p>
        </p:txBody>
      </p:sp>
      <p:sp>
        <p:nvSpPr>
          <p:cNvPr id="5" name="Text 2"/>
          <p:cNvSpPr/>
          <p:nvPr/>
        </p:nvSpPr>
        <p:spPr>
          <a:xfrm>
            <a:off x="457200" y="6080760"/>
            <a:ext cx="10058400" cy="320040"/>
          </a:xfrm>
          <a:prstGeom prst="rect">
            <a:avLst/>
          </a:prstGeom>
          <a:noFill/>
          <a:ln/>
        </p:spPr>
        <p:txBody>
          <a:bodyPr wrap="square" lIns="0" tIns="0" rIns="0" bIns="0" rtlCol="0" anchor="ctr"/>
          <a:lstStyle/>
          <a:p>
            <a:pPr indent="0" marL="0">
              <a:buNone/>
            </a:pPr>
            <a:r>
              <a:rPr lang="en-US" sz="1200" b="1" dirty="0">
                <a:solidFill>
                  <a:srgbClr val="7C5CFF"/>
                </a:solidFill>
                <a:latin typeface="Instrument Sans" pitchFamily="34" charset="0"/>
                <a:ea typeface="Instrument Sans" pitchFamily="34" charset="-122"/>
                <a:cs typeface="Instrument Sans" pitchFamily="34" charset="-120"/>
              </a:rPr>
              <a:t>Riverside Marketing</a:t>
            </a:r>
            <a:pPr indent="0" marL="0">
              <a:buNone/>
            </a:pPr>
            <a:r>
              <a:rPr lang="en-US" sz="1200" dirty="0">
                <a:solidFill>
                  <a:srgbClr val="9B9BA8"/>
                </a:solidFill>
                <a:latin typeface="Instrument Sans" pitchFamily="34" charset="0"/>
                <a:ea typeface="Instrument Sans" pitchFamily="34" charset="-122"/>
                <a:cs typeface="Instrument Sans" pitchFamily="34" charset="-120"/>
              </a:rPr>
              <a:t>   Jul 2026   Source of truth: the marketing-brain repo</a:t>
            </a:r>
            <a:endParaRPr lang="en-US" sz="1200" dirty="0"/>
          </a:p>
        </p:txBody>
      </p:sp>
      <p:sp>
        <p:nvSpPr>
          <p:cNvPr id="6" name="Shape 3"/>
          <p:cNvSpPr/>
          <p:nvPr/>
        </p:nvSpPr>
        <p:spPr>
          <a:xfrm>
            <a:off x="11759184" y="384048"/>
            <a:ext cx="118872" cy="118872"/>
          </a:xfrm>
          <a:prstGeom prst="ellipse">
            <a:avLst/>
          </a:prstGeom>
          <a:solidFill>
            <a:srgbClr val="7C5C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F14"/>
        </a:solidFill>
      </p:bgPr>
    </p:bg>
    <p:spTree>
      <p:nvGrpSpPr>
        <p:cNvPr id="1" name=""/>
        <p:cNvGrpSpPr/>
        <p:nvPr/>
      </p:nvGrpSpPr>
      <p:grpSpPr>
        <a:xfrm>
          <a:off x="0" y="0"/>
          <a:ext cx="0" cy="0"/>
          <a:chOff x="0" y="0"/>
          <a:chExt cx="0" cy="0"/>
        </a:xfrm>
      </p:grpSpPr>
      <p:sp>
        <p:nvSpPr>
          <p:cNvPr id="2" name="Shape 0"/>
          <p:cNvSpPr/>
          <p:nvPr/>
        </p:nvSpPr>
        <p:spPr>
          <a:xfrm>
            <a:off x="11759184" y="384048"/>
            <a:ext cx="118872" cy="118872"/>
          </a:xfrm>
          <a:prstGeom prst="ellipse">
            <a:avLst/>
          </a:prstGeom>
          <a:solidFill>
            <a:srgbClr val="7C5CFF"/>
          </a:solidFill>
          <a:ln/>
        </p:spPr>
      </p:sp>
      <p:sp>
        <p:nvSpPr>
          <p:cNvPr id="3" name="Text 1"/>
          <p:cNvSpPr/>
          <p:nvPr/>
        </p:nvSpPr>
        <p:spPr>
          <a:xfrm>
            <a:off x="457200" y="274320"/>
            <a:ext cx="10789920" cy="502920"/>
          </a:xfrm>
          <a:prstGeom prst="rect">
            <a:avLst/>
          </a:prstGeom>
          <a:noFill/>
          <a:ln/>
        </p:spPr>
        <p:txBody>
          <a:bodyPr wrap="square" lIns="0" tIns="0" rIns="0" bIns="0" rtlCol="0" anchor="ctr"/>
          <a:lstStyle/>
          <a:p>
            <a:pPr indent="0" marL="0">
              <a:buNone/>
            </a:pPr>
            <a:r>
              <a:rPr lang="en-US" sz="2600" b="1" dirty="0">
                <a:solidFill>
                  <a:srgbClr val="FFFFFF"/>
                </a:solidFill>
                <a:latin typeface="Instrument Sans" pitchFamily="34" charset="0"/>
                <a:ea typeface="Instrument Sans" pitchFamily="34" charset="-122"/>
                <a:cs typeface="Instrument Sans" pitchFamily="34" charset="-120"/>
              </a:rPr>
              <a:t>The platform at a glance</a:t>
            </a:r>
            <a:endParaRPr lang="en-US" sz="2600" dirty="0"/>
          </a:p>
        </p:txBody>
      </p:sp>
      <p:sp>
        <p:nvSpPr>
          <p:cNvPr id="4" name="Text 2"/>
          <p:cNvSpPr/>
          <p:nvPr/>
        </p:nvSpPr>
        <p:spPr>
          <a:xfrm>
            <a:off x="457200" y="804672"/>
            <a:ext cx="11247120" cy="347472"/>
          </a:xfrm>
          <a:prstGeom prst="rect">
            <a:avLst/>
          </a:prstGeom>
          <a:noFill/>
          <a:ln/>
        </p:spPr>
        <p:txBody>
          <a:bodyPr wrap="square" lIns="0" tIns="0" rIns="0" bIns="0" rtlCol="0" anchor="ct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Four stages, one direction of flow, one loop back: the team talks to Claude, Claude loads the brain, the agents act on live systems</a:t>
            </a:r>
            <a:endParaRPr lang="en-US" sz="1250" dirty="0"/>
          </a:p>
        </p:txBody>
      </p:sp>
      <p:sp>
        <p:nvSpPr>
          <p:cNvPr id="5" name="Shape 3"/>
          <p:cNvSpPr/>
          <p:nvPr/>
        </p:nvSpPr>
        <p:spPr>
          <a:xfrm>
            <a:off x="457200" y="1325880"/>
            <a:ext cx="2468880" cy="4206240"/>
          </a:xfrm>
          <a:prstGeom prst="roundRect">
            <a:avLst>
              <a:gd name="adj" fmla="val 2963"/>
            </a:avLst>
          </a:prstGeom>
          <a:solidFill>
            <a:srgbClr val="1C1C24"/>
          </a:solidFill>
          <a:ln w="12700">
            <a:solidFill>
              <a:srgbClr val="2A2A35"/>
            </a:solidFill>
            <a:prstDash val="solid"/>
          </a:ln>
        </p:spPr>
      </p:sp>
      <p:sp>
        <p:nvSpPr>
          <p:cNvPr id="6" name="Text 4"/>
          <p:cNvSpPr/>
          <p:nvPr/>
        </p:nvSpPr>
        <p:spPr>
          <a:xfrm>
            <a:off x="457200" y="1435608"/>
            <a:ext cx="2468880" cy="274320"/>
          </a:xfrm>
          <a:prstGeom prst="rect">
            <a:avLst/>
          </a:prstGeom>
          <a:noFill/>
          <a:ln/>
        </p:spPr>
        <p:txBody>
          <a:bodyPr wrap="square" lIns="0" tIns="0" rIns="0" bIns="0" rtlCol="0" anchor="ctr"/>
          <a:lstStyle/>
          <a:p>
            <a:pPr algn="ctr" indent="0" marL="0">
              <a:buNone/>
            </a:pPr>
            <a:r>
              <a:rPr lang="en-US" sz="1450" b="1" dirty="0">
                <a:solidFill>
                  <a:srgbClr val="FFFFFF"/>
                </a:solidFill>
                <a:latin typeface="Instrument Sans" pitchFamily="34" charset="0"/>
                <a:ea typeface="Instrument Sans" pitchFamily="34" charset="-122"/>
                <a:cs typeface="Instrument Sans" pitchFamily="34" charset="-120"/>
              </a:rPr>
              <a:t>Marketing team</a:t>
            </a:r>
            <a:endParaRPr lang="en-US" sz="1450" dirty="0"/>
          </a:p>
        </p:txBody>
      </p:sp>
      <p:sp>
        <p:nvSpPr>
          <p:cNvPr id="7" name="Shape 5"/>
          <p:cNvSpPr/>
          <p:nvPr/>
        </p:nvSpPr>
        <p:spPr>
          <a:xfrm>
            <a:off x="594360" y="2606040"/>
            <a:ext cx="2194560" cy="384048"/>
          </a:xfrm>
          <a:prstGeom prst="roundRect">
            <a:avLst>
              <a:gd name="adj" fmla="val 14286"/>
            </a:avLst>
          </a:prstGeom>
          <a:solidFill>
            <a:srgbClr val="2A2A35"/>
          </a:solidFill>
          <a:ln w="9525">
            <a:solidFill>
              <a:srgbClr val="4A4A58"/>
            </a:solidFill>
            <a:prstDash val="solid"/>
          </a:ln>
        </p:spPr>
      </p:sp>
      <p:sp>
        <p:nvSpPr>
          <p:cNvPr id="8" name="Text 6"/>
          <p:cNvSpPr/>
          <p:nvPr/>
        </p:nvSpPr>
        <p:spPr>
          <a:xfrm>
            <a:off x="594360" y="2606040"/>
            <a:ext cx="21945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Claude Code</a:t>
            </a:r>
            <a:endParaRPr lang="en-US" sz="1200" dirty="0"/>
          </a:p>
        </p:txBody>
      </p:sp>
      <p:sp>
        <p:nvSpPr>
          <p:cNvPr id="9" name="Shape 7"/>
          <p:cNvSpPr/>
          <p:nvPr/>
        </p:nvSpPr>
        <p:spPr>
          <a:xfrm>
            <a:off x="594360" y="3136392"/>
            <a:ext cx="2194560" cy="384048"/>
          </a:xfrm>
          <a:prstGeom prst="roundRect">
            <a:avLst>
              <a:gd name="adj" fmla="val 14286"/>
            </a:avLst>
          </a:prstGeom>
          <a:solidFill>
            <a:srgbClr val="2A2A35"/>
          </a:solidFill>
          <a:ln w="9525">
            <a:solidFill>
              <a:srgbClr val="4A4A58"/>
            </a:solidFill>
            <a:prstDash val="solid"/>
          </a:ln>
        </p:spPr>
      </p:sp>
      <p:sp>
        <p:nvSpPr>
          <p:cNvPr id="10" name="Text 8"/>
          <p:cNvSpPr/>
          <p:nvPr/>
        </p:nvSpPr>
        <p:spPr>
          <a:xfrm>
            <a:off x="594360" y="3136392"/>
            <a:ext cx="21945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claude.ai and Cowork</a:t>
            </a:r>
            <a:endParaRPr lang="en-US" sz="1200" dirty="0"/>
          </a:p>
        </p:txBody>
      </p:sp>
      <p:sp>
        <p:nvSpPr>
          <p:cNvPr id="11" name="Shape 9"/>
          <p:cNvSpPr/>
          <p:nvPr/>
        </p:nvSpPr>
        <p:spPr>
          <a:xfrm>
            <a:off x="594360" y="3666744"/>
            <a:ext cx="2194560" cy="384048"/>
          </a:xfrm>
          <a:prstGeom prst="roundRect">
            <a:avLst>
              <a:gd name="adj" fmla="val 14286"/>
            </a:avLst>
          </a:prstGeom>
          <a:solidFill>
            <a:srgbClr val="2A2A35"/>
          </a:solidFill>
          <a:ln w="9525">
            <a:solidFill>
              <a:srgbClr val="4A4A58"/>
            </a:solidFill>
            <a:prstDash val="solid"/>
          </a:ln>
        </p:spPr>
      </p:sp>
      <p:sp>
        <p:nvSpPr>
          <p:cNvPr id="12" name="Text 10"/>
          <p:cNvSpPr/>
          <p:nvPr/>
        </p:nvSpPr>
        <p:spPr>
          <a:xfrm>
            <a:off x="594360" y="3666744"/>
            <a:ext cx="21945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Claude in Chrome</a:t>
            </a:r>
            <a:endParaRPr lang="en-US" sz="1200" dirty="0"/>
          </a:p>
        </p:txBody>
      </p:sp>
      <p:sp>
        <p:nvSpPr>
          <p:cNvPr id="13" name="Shape 11"/>
          <p:cNvSpPr/>
          <p:nvPr/>
        </p:nvSpPr>
        <p:spPr>
          <a:xfrm>
            <a:off x="3383280" y="1325880"/>
            <a:ext cx="2468880" cy="4206240"/>
          </a:xfrm>
          <a:prstGeom prst="roundRect">
            <a:avLst>
              <a:gd name="adj" fmla="val 2963"/>
            </a:avLst>
          </a:prstGeom>
          <a:solidFill>
            <a:srgbClr val="1C1C24"/>
          </a:solidFill>
          <a:ln w="12700">
            <a:solidFill>
              <a:srgbClr val="2A2A35"/>
            </a:solidFill>
            <a:prstDash val="solid"/>
          </a:ln>
        </p:spPr>
      </p:sp>
      <p:sp>
        <p:nvSpPr>
          <p:cNvPr id="14" name="Text 12"/>
          <p:cNvSpPr/>
          <p:nvPr/>
        </p:nvSpPr>
        <p:spPr>
          <a:xfrm>
            <a:off x="3383280" y="1435608"/>
            <a:ext cx="2468880" cy="274320"/>
          </a:xfrm>
          <a:prstGeom prst="rect">
            <a:avLst/>
          </a:prstGeom>
          <a:noFill/>
          <a:ln/>
        </p:spPr>
        <p:txBody>
          <a:bodyPr wrap="square" lIns="0" tIns="0" rIns="0" bIns="0" rtlCol="0" anchor="ctr"/>
          <a:lstStyle/>
          <a:p>
            <a:pPr algn="ctr" indent="0" marL="0">
              <a:buNone/>
            </a:pPr>
            <a:r>
              <a:rPr lang="en-US" sz="1450" b="1" dirty="0">
                <a:solidFill>
                  <a:srgbClr val="FFFFFF"/>
                </a:solidFill>
                <a:latin typeface="Instrument Sans" pitchFamily="34" charset="0"/>
                <a:ea typeface="Instrument Sans" pitchFamily="34" charset="-122"/>
                <a:cs typeface="Instrument Sans" pitchFamily="34" charset="-120"/>
              </a:rPr>
              <a:t>The brain (this repo)</a:t>
            </a:r>
            <a:endParaRPr lang="en-US" sz="1450" dirty="0"/>
          </a:p>
        </p:txBody>
      </p:sp>
      <p:sp>
        <p:nvSpPr>
          <p:cNvPr id="15" name="Shape 13"/>
          <p:cNvSpPr/>
          <p:nvPr/>
        </p:nvSpPr>
        <p:spPr>
          <a:xfrm>
            <a:off x="3520440" y="1828800"/>
            <a:ext cx="2194560" cy="548640"/>
          </a:xfrm>
          <a:prstGeom prst="roundRect">
            <a:avLst>
              <a:gd name="adj" fmla="val 10000"/>
            </a:avLst>
          </a:prstGeom>
          <a:solidFill>
            <a:srgbClr val="2A2347"/>
          </a:solidFill>
          <a:ln w="15875">
            <a:solidFill>
              <a:srgbClr val="7C5CFF"/>
            </a:solidFill>
            <a:prstDash val="solid"/>
          </a:ln>
        </p:spPr>
      </p:sp>
      <p:sp>
        <p:nvSpPr>
          <p:cNvPr id="16" name="Text 14"/>
          <p:cNvSpPr/>
          <p:nvPr/>
        </p:nvSpPr>
        <p:spPr>
          <a:xfrm>
            <a:off x="3520440" y="1828800"/>
            <a:ext cx="21945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Instrument Sans" pitchFamily="34" charset="0"/>
                <a:ea typeface="Instrument Sans" pitchFamily="34" charset="-122"/>
                <a:cs typeface="Instrument Sans" pitchFamily="34" charset="-120"/>
              </a:rPr>
              <a:t>CLAUDE.md</a:t>
            </a:r>
            <a:endParaRPr lang="en-US" sz="1200" dirty="0"/>
          </a:p>
          <a:p>
            <a:pPr algn="ctr" indent="0" marL="0">
              <a:buNone/>
            </a:pPr>
            <a:r>
              <a:rPr lang="en-US" sz="950" dirty="0">
                <a:solidFill>
                  <a:srgbClr val="E6E6EB"/>
                </a:solidFill>
                <a:latin typeface="Instrument Sans" pitchFamily="34" charset="0"/>
                <a:ea typeface="Instrument Sans" pitchFamily="34" charset="-122"/>
                <a:cs typeface="Instrument Sans" pitchFamily="34" charset="-120"/>
              </a:rPr>
              <a:t>the map, always loaded</a:t>
            </a:r>
            <a:endParaRPr lang="en-US" sz="1200" dirty="0"/>
          </a:p>
        </p:txBody>
      </p:sp>
      <p:sp>
        <p:nvSpPr>
          <p:cNvPr id="17" name="Shape 15"/>
          <p:cNvSpPr/>
          <p:nvPr/>
        </p:nvSpPr>
        <p:spPr>
          <a:xfrm>
            <a:off x="3520440" y="2523744"/>
            <a:ext cx="2194560" cy="384048"/>
          </a:xfrm>
          <a:prstGeom prst="roundRect">
            <a:avLst>
              <a:gd name="adj" fmla="val 14286"/>
            </a:avLst>
          </a:prstGeom>
          <a:solidFill>
            <a:srgbClr val="2A2A35"/>
          </a:solidFill>
          <a:ln w="9525">
            <a:solidFill>
              <a:srgbClr val="4A4A58"/>
            </a:solidFill>
            <a:prstDash val="solid"/>
          </a:ln>
        </p:spPr>
      </p:sp>
      <p:sp>
        <p:nvSpPr>
          <p:cNvPr id="18" name="Text 16"/>
          <p:cNvSpPr/>
          <p:nvPr/>
        </p:nvSpPr>
        <p:spPr>
          <a:xfrm>
            <a:off x="3520440" y="2523744"/>
            <a:ext cx="21945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references/  (IDs, contacts)</a:t>
            </a:r>
            <a:endParaRPr lang="en-US" sz="1200" dirty="0"/>
          </a:p>
        </p:txBody>
      </p:sp>
      <p:sp>
        <p:nvSpPr>
          <p:cNvPr id="19" name="Shape 17"/>
          <p:cNvSpPr/>
          <p:nvPr/>
        </p:nvSpPr>
        <p:spPr>
          <a:xfrm>
            <a:off x="3520440" y="3054096"/>
            <a:ext cx="2194560" cy="384048"/>
          </a:xfrm>
          <a:prstGeom prst="roundRect">
            <a:avLst>
              <a:gd name="adj" fmla="val 14286"/>
            </a:avLst>
          </a:prstGeom>
          <a:solidFill>
            <a:srgbClr val="2A2A35"/>
          </a:solidFill>
          <a:ln w="9525">
            <a:solidFill>
              <a:srgbClr val="4A4A58"/>
            </a:solidFill>
            <a:prstDash val="solid"/>
          </a:ln>
        </p:spPr>
      </p:sp>
      <p:sp>
        <p:nvSpPr>
          <p:cNvPr id="20" name="Text 18"/>
          <p:cNvSpPr/>
          <p:nvPr/>
        </p:nvSpPr>
        <p:spPr>
          <a:xfrm>
            <a:off x="3520440" y="3054096"/>
            <a:ext cx="21945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systems/  (architecture)</a:t>
            </a:r>
            <a:endParaRPr lang="en-US" sz="1200" dirty="0"/>
          </a:p>
        </p:txBody>
      </p:sp>
      <p:sp>
        <p:nvSpPr>
          <p:cNvPr id="21" name="Shape 19"/>
          <p:cNvSpPr/>
          <p:nvPr/>
        </p:nvSpPr>
        <p:spPr>
          <a:xfrm>
            <a:off x="3520440" y="3584448"/>
            <a:ext cx="2194560" cy="384048"/>
          </a:xfrm>
          <a:prstGeom prst="roundRect">
            <a:avLst>
              <a:gd name="adj" fmla="val 14286"/>
            </a:avLst>
          </a:prstGeom>
          <a:solidFill>
            <a:srgbClr val="2A2A35"/>
          </a:solidFill>
          <a:ln w="9525">
            <a:solidFill>
              <a:srgbClr val="4A4A58"/>
            </a:solidFill>
            <a:prstDash val="solid"/>
          </a:ln>
        </p:spPr>
      </p:sp>
      <p:sp>
        <p:nvSpPr>
          <p:cNvPr id="22" name="Text 20"/>
          <p:cNvSpPr/>
          <p:nvPr/>
        </p:nvSpPr>
        <p:spPr>
          <a:xfrm>
            <a:off x="3520440" y="3584448"/>
            <a:ext cx="21945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skill knowledge/  (deep refs)</a:t>
            </a:r>
            <a:endParaRPr lang="en-US" sz="1200" dirty="0"/>
          </a:p>
        </p:txBody>
      </p:sp>
      <p:sp>
        <p:nvSpPr>
          <p:cNvPr id="23" name="Shape 21"/>
          <p:cNvSpPr/>
          <p:nvPr/>
        </p:nvSpPr>
        <p:spPr>
          <a:xfrm>
            <a:off x="3520440" y="4114800"/>
            <a:ext cx="2194560" cy="384048"/>
          </a:xfrm>
          <a:prstGeom prst="roundRect">
            <a:avLst>
              <a:gd name="adj" fmla="val 14286"/>
            </a:avLst>
          </a:prstGeom>
          <a:solidFill>
            <a:srgbClr val="2A2A35"/>
          </a:solidFill>
          <a:ln w="9525">
            <a:solidFill>
              <a:srgbClr val="4A4A58"/>
            </a:solidFill>
            <a:prstDash val="solid"/>
          </a:ln>
        </p:spPr>
      </p:sp>
      <p:sp>
        <p:nvSpPr>
          <p:cNvPr id="24" name="Text 22"/>
          <p:cNvSpPr/>
          <p:nvPr/>
        </p:nvSpPr>
        <p:spPr>
          <a:xfrm>
            <a:off x="3520440" y="4114800"/>
            <a:ext cx="21945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graphify knowledge graph</a:t>
            </a:r>
            <a:endParaRPr lang="en-US" sz="1200" dirty="0"/>
          </a:p>
        </p:txBody>
      </p:sp>
      <p:sp>
        <p:nvSpPr>
          <p:cNvPr id="25" name="Shape 23"/>
          <p:cNvSpPr/>
          <p:nvPr/>
        </p:nvSpPr>
        <p:spPr>
          <a:xfrm>
            <a:off x="6309360" y="1325880"/>
            <a:ext cx="2468880" cy="4206240"/>
          </a:xfrm>
          <a:prstGeom prst="roundRect">
            <a:avLst>
              <a:gd name="adj" fmla="val 2963"/>
            </a:avLst>
          </a:prstGeom>
          <a:solidFill>
            <a:srgbClr val="1C1C24"/>
          </a:solidFill>
          <a:ln w="12700">
            <a:solidFill>
              <a:srgbClr val="2A2A35"/>
            </a:solidFill>
            <a:prstDash val="solid"/>
          </a:ln>
        </p:spPr>
      </p:sp>
      <p:sp>
        <p:nvSpPr>
          <p:cNvPr id="26" name="Text 24"/>
          <p:cNvSpPr/>
          <p:nvPr/>
        </p:nvSpPr>
        <p:spPr>
          <a:xfrm>
            <a:off x="6309360" y="1435608"/>
            <a:ext cx="2468880" cy="274320"/>
          </a:xfrm>
          <a:prstGeom prst="rect">
            <a:avLst/>
          </a:prstGeom>
          <a:noFill/>
          <a:ln/>
        </p:spPr>
        <p:txBody>
          <a:bodyPr wrap="square" lIns="0" tIns="0" rIns="0" bIns="0" rtlCol="0" anchor="ctr"/>
          <a:lstStyle/>
          <a:p>
            <a:pPr algn="ctr" indent="0" marL="0">
              <a:buNone/>
            </a:pPr>
            <a:r>
              <a:rPr lang="en-US" sz="1450" b="1" dirty="0">
                <a:solidFill>
                  <a:srgbClr val="FFFFFF"/>
                </a:solidFill>
                <a:latin typeface="Instrument Sans" pitchFamily="34" charset="0"/>
                <a:ea typeface="Instrument Sans" pitchFamily="34" charset="-122"/>
                <a:cs typeface="Instrument Sans" pitchFamily="34" charset="-120"/>
              </a:rPr>
              <a:t>The agents</a:t>
            </a:r>
            <a:endParaRPr lang="en-US" sz="1450" dirty="0"/>
          </a:p>
        </p:txBody>
      </p:sp>
      <p:sp>
        <p:nvSpPr>
          <p:cNvPr id="27" name="Text 25"/>
          <p:cNvSpPr/>
          <p:nvPr/>
        </p:nvSpPr>
        <p:spPr>
          <a:xfrm>
            <a:off x="6309360" y="1783080"/>
            <a:ext cx="2468880" cy="228600"/>
          </a:xfrm>
          <a:prstGeom prst="rect">
            <a:avLst/>
          </a:prstGeom>
          <a:noFill/>
          <a:ln/>
        </p:spPr>
        <p:txBody>
          <a:bodyPr wrap="square" lIns="0" tIns="0" rIns="0" bIns="0" rtlCol="0" anchor="ctr"/>
          <a:lstStyle/>
          <a:p>
            <a:pPr algn="ctr" indent="0" marL="0">
              <a:buNone/>
            </a:pPr>
            <a:r>
              <a:rPr lang="en-US" sz="950" b="1" spc="200" kern="0" dirty="0">
                <a:solidFill>
                  <a:srgbClr val="7C5CFF"/>
                </a:solidFill>
                <a:latin typeface="Instrument Sans" pitchFamily="34" charset="0"/>
                <a:ea typeface="Instrument Sans" pitchFamily="34" charset="-122"/>
                <a:cs typeface="Instrument Sans" pitchFamily="34" charset="-120"/>
              </a:rPr>
              <a:t>ROUTING LAYER</a:t>
            </a:r>
            <a:endParaRPr lang="en-US" sz="950" dirty="0"/>
          </a:p>
        </p:txBody>
      </p:sp>
      <p:sp>
        <p:nvSpPr>
          <p:cNvPr id="28" name="Shape 26"/>
          <p:cNvSpPr/>
          <p:nvPr/>
        </p:nvSpPr>
        <p:spPr>
          <a:xfrm>
            <a:off x="6446520" y="2029968"/>
            <a:ext cx="2194560" cy="365760"/>
          </a:xfrm>
          <a:prstGeom prst="roundRect">
            <a:avLst>
              <a:gd name="adj" fmla="val 15000"/>
            </a:avLst>
          </a:prstGeom>
          <a:solidFill>
            <a:srgbClr val="2A2347"/>
          </a:solidFill>
          <a:ln w="15875">
            <a:solidFill>
              <a:srgbClr val="7C5CFF"/>
            </a:solidFill>
            <a:prstDash val="solid"/>
          </a:ln>
        </p:spPr>
      </p:sp>
      <p:sp>
        <p:nvSpPr>
          <p:cNvPr id="29" name="Text 27"/>
          <p:cNvSpPr/>
          <p:nvPr/>
        </p:nvSpPr>
        <p:spPr>
          <a:xfrm>
            <a:off x="6446520" y="2029968"/>
            <a:ext cx="21945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/marketing-brain router</a:t>
            </a:r>
            <a:endParaRPr lang="en-US" sz="1200" dirty="0"/>
          </a:p>
        </p:txBody>
      </p:sp>
      <p:sp>
        <p:nvSpPr>
          <p:cNvPr id="30" name="Shape 28"/>
          <p:cNvSpPr/>
          <p:nvPr/>
        </p:nvSpPr>
        <p:spPr>
          <a:xfrm>
            <a:off x="6446520" y="2505456"/>
            <a:ext cx="2194560" cy="530352"/>
          </a:xfrm>
          <a:prstGeom prst="roundRect">
            <a:avLst>
              <a:gd name="adj" fmla="val 10345"/>
            </a:avLst>
          </a:prstGeom>
          <a:solidFill>
            <a:srgbClr val="2A2A35"/>
          </a:solidFill>
          <a:ln w="9525">
            <a:solidFill>
              <a:srgbClr val="4A4A58"/>
            </a:solidFill>
            <a:prstDash val="solid"/>
          </a:ln>
        </p:spPr>
      </p:sp>
      <p:sp>
        <p:nvSpPr>
          <p:cNvPr id="31" name="Text 29"/>
          <p:cNvSpPr/>
          <p:nvPr/>
        </p:nvSpPr>
        <p:spPr>
          <a:xfrm>
            <a:off x="6446520" y="2505456"/>
            <a:ext cx="2194560" cy="530352"/>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12 skill agents</a:t>
            </a:r>
            <a:endParaRPr lang="en-US" sz="1200" dirty="0"/>
          </a:p>
          <a:p>
            <a:pPr algn="ctr" indent="0" marL="0">
              <a:buNone/>
            </a:pPr>
            <a:r>
              <a:rPr lang="en-US" sz="950" dirty="0">
                <a:solidFill>
                  <a:srgbClr val="E6E6EB"/>
                </a:solidFill>
                <a:latin typeface="Instrument Sans" pitchFamily="34" charset="0"/>
                <a:ea typeface="Instrument Sans" pitchFamily="34" charset="-122"/>
                <a:cs typeface="Instrument Sans" pitchFamily="34" charset="-120"/>
              </a:rPr>
              <a:t>own live system access</a:t>
            </a:r>
            <a:endParaRPr lang="en-US" sz="1200" dirty="0"/>
          </a:p>
        </p:txBody>
      </p:sp>
      <p:sp>
        <p:nvSpPr>
          <p:cNvPr id="32" name="Shape 30"/>
          <p:cNvSpPr/>
          <p:nvPr/>
        </p:nvSpPr>
        <p:spPr>
          <a:xfrm>
            <a:off x="7543800" y="3108960"/>
            <a:ext cx="0" cy="219456"/>
          </a:xfrm>
          <a:prstGeom prst="line">
            <a:avLst/>
          </a:prstGeom>
          <a:noFill/>
          <a:ln w="22225">
            <a:solidFill>
              <a:srgbClr val="4A4A58"/>
            </a:solidFill>
            <a:prstDash val="solid"/>
            <a:tailEnd type="triangle"/>
          </a:ln>
        </p:spPr>
      </p:sp>
      <p:sp>
        <p:nvSpPr>
          <p:cNvPr id="33" name="Text 31"/>
          <p:cNvSpPr/>
          <p:nvPr/>
        </p:nvSpPr>
        <p:spPr>
          <a:xfrm>
            <a:off x="6309360" y="3383280"/>
            <a:ext cx="2468880" cy="228600"/>
          </a:xfrm>
          <a:prstGeom prst="rect">
            <a:avLst/>
          </a:prstGeom>
          <a:noFill/>
          <a:ln/>
        </p:spPr>
        <p:txBody>
          <a:bodyPr wrap="square" lIns="0" tIns="0" rIns="0" bIns="0" rtlCol="0" anchor="ctr"/>
          <a:lstStyle/>
          <a:p>
            <a:pPr algn="ctr" indent="0" marL="0">
              <a:buNone/>
            </a:pPr>
            <a:r>
              <a:rPr lang="en-US" sz="950" b="1" spc="200" kern="0" dirty="0">
                <a:solidFill>
                  <a:srgbClr val="7C5CFF"/>
                </a:solidFill>
                <a:latin typeface="Instrument Sans" pitchFamily="34" charset="0"/>
                <a:ea typeface="Instrument Sans" pitchFamily="34" charset="-122"/>
                <a:cs typeface="Instrument Sans" pitchFamily="34" charset="-120"/>
              </a:rPr>
              <a:t>SPECIALIST LAYER</a:t>
            </a:r>
            <a:endParaRPr lang="en-US" sz="950" dirty="0"/>
          </a:p>
        </p:txBody>
      </p:sp>
      <p:sp>
        <p:nvSpPr>
          <p:cNvPr id="34" name="Shape 32"/>
          <p:cNvSpPr/>
          <p:nvPr/>
        </p:nvSpPr>
        <p:spPr>
          <a:xfrm>
            <a:off x="6446520" y="3630168"/>
            <a:ext cx="2194560" cy="713232"/>
          </a:xfrm>
          <a:prstGeom prst="roundRect">
            <a:avLst>
              <a:gd name="adj" fmla="val 7692"/>
            </a:avLst>
          </a:prstGeom>
          <a:solidFill>
            <a:srgbClr val="2A2A35"/>
          </a:solidFill>
          <a:ln w="9525">
            <a:solidFill>
              <a:srgbClr val="4A4A58"/>
            </a:solidFill>
            <a:prstDash val="solid"/>
          </a:ln>
        </p:spPr>
      </p:sp>
      <p:sp>
        <p:nvSpPr>
          <p:cNvPr id="35" name="Text 33"/>
          <p:cNvSpPr/>
          <p:nvPr/>
        </p:nvSpPr>
        <p:spPr>
          <a:xfrm>
            <a:off x="6446520" y="3630168"/>
            <a:ext cx="2194560" cy="713232"/>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29 deep-dive subagents</a:t>
            </a:r>
            <a:endParaRPr lang="en-US" sz="1200" dirty="0"/>
          </a:p>
          <a:p>
            <a:pPr algn="ctr" indent="0" marL="0">
              <a:buNone/>
            </a:pPr>
            <a:r>
              <a:rPr lang="en-US" sz="950" dirty="0">
                <a:solidFill>
                  <a:srgbClr val="E6E6EB"/>
                </a:solidFill>
                <a:latin typeface="Instrument Sans" pitchFamily="34" charset="0"/>
                <a:ea typeface="Instrument Sans" pitchFamily="34" charset="-122"/>
                <a:cs typeface="Instrument Sans" pitchFamily="34" charset="-120"/>
              </a:rPr>
              <a:t>paid, SEO, content, email, podcast, PR, growth</a:t>
            </a:r>
            <a:endParaRPr lang="en-US" sz="1200" dirty="0"/>
          </a:p>
          <a:p>
            <a:pPr algn="ctr" indent="0" marL="0">
              <a:buNone/>
            </a:pPr>
            <a:r>
              <a:rPr lang="en-US" sz="950" i="1" dirty="0">
                <a:solidFill>
                  <a:srgbClr val="9B9BA8"/>
                </a:solidFill>
                <a:latin typeface="Instrument Sans" pitchFamily="34" charset="0"/>
                <a:ea typeface="Instrument Sans" pitchFamily="34" charset="-122"/>
                <a:cs typeface="Instrument Sans" pitchFamily="34" charset="-120"/>
              </a:rPr>
              <a:t>no live access</a:t>
            </a:r>
            <a:endParaRPr lang="en-US" sz="1200" dirty="0"/>
          </a:p>
        </p:txBody>
      </p:sp>
      <p:sp>
        <p:nvSpPr>
          <p:cNvPr id="36" name="Shape 34"/>
          <p:cNvSpPr/>
          <p:nvPr/>
        </p:nvSpPr>
        <p:spPr>
          <a:xfrm>
            <a:off x="9235440" y="1325880"/>
            <a:ext cx="2468880" cy="4206240"/>
          </a:xfrm>
          <a:prstGeom prst="roundRect">
            <a:avLst>
              <a:gd name="adj" fmla="val 2963"/>
            </a:avLst>
          </a:prstGeom>
          <a:solidFill>
            <a:srgbClr val="1C1C24"/>
          </a:solidFill>
          <a:ln w="12700">
            <a:solidFill>
              <a:srgbClr val="2A2A35"/>
            </a:solidFill>
            <a:prstDash val="solid"/>
          </a:ln>
        </p:spPr>
      </p:sp>
      <p:sp>
        <p:nvSpPr>
          <p:cNvPr id="37" name="Text 35"/>
          <p:cNvSpPr/>
          <p:nvPr/>
        </p:nvSpPr>
        <p:spPr>
          <a:xfrm>
            <a:off x="9235440" y="1435608"/>
            <a:ext cx="2468880" cy="274320"/>
          </a:xfrm>
          <a:prstGeom prst="rect">
            <a:avLst/>
          </a:prstGeom>
          <a:noFill/>
          <a:ln/>
        </p:spPr>
        <p:txBody>
          <a:bodyPr wrap="square" lIns="0" tIns="0" rIns="0" bIns="0" rtlCol="0" anchor="ctr"/>
          <a:lstStyle/>
          <a:p>
            <a:pPr algn="ctr" indent="0" marL="0">
              <a:buNone/>
            </a:pPr>
            <a:r>
              <a:rPr lang="en-US" sz="1450" b="1" dirty="0">
                <a:solidFill>
                  <a:srgbClr val="FFFFFF"/>
                </a:solidFill>
                <a:latin typeface="Instrument Sans" pitchFamily="34" charset="0"/>
                <a:ea typeface="Instrument Sans" pitchFamily="34" charset="-122"/>
                <a:cs typeface="Instrument Sans" pitchFamily="34" charset="-120"/>
              </a:rPr>
              <a:t>Live systems</a:t>
            </a:r>
            <a:endParaRPr lang="en-US" sz="1450" dirty="0"/>
          </a:p>
        </p:txBody>
      </p:sp>
      <p:sp>
        <p:nvSpPr>
          <p:cNvPr id="38" name="Shape 36"/>
          <p:cNvSpPr/>
          <p:nvPr/>
        </p:nvSpPr>
        <p:spPr>
          <a:xfrm>
            <a:off x="9372600" y="1828800"/>
            <a:ext cx="2194560" cy="384048"/>
          </a:xfrm>
          <a:prstGeom prst="roundRect">
            <a:avLst>
              <a:gd name="adj" fmla="val 14286"/>
            </a:avLst>
          </a:prstGeom>
          <a:solidFill>
            <a:srgbClr val="2A2A35"/>
          </a:solidFill>
          <a:ln w="9525">
            <a:solidFill>
              <a:srgbClr val="4A4A58"/>
            </a:solidFill>
            <a:prstDash val="solid"/>
          </a:ln>
        </p:spPr>
      </p:sp>
      <p:sp>
        <p:nvSpPr>
          <p:cNvPr id="39" name="Text 37"/>
          <p:cNvSpPr/>
          <p:nvPr/>
        </p:nvSpPr>
        <p:spPr>
          <a:xfrm>
            <a:off x="9372600" y="1828800"/>
            <a:ext cx="21945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HubSpot</a:t>
            </a:r>
            <a:endParaRPr lang="en-US" sz="1200" dirty="0"/>
          </a:p>
        </p:txBody>
      </p:sp>
      <p:sp>
        <p:nvSpPr>
          <p:cNvPr id="40" name="Shape 38"/>
          <p:cNvSpPr/>
          <p:nvPr/>
        </p:nvSpPr>
        <p:spPr>
          <a:xfrm>
            <a:off x="9372600" y="2340864"/>
            <a:ext cx="2194560" cy="384048"/>
          </a:xfrm>
          <a:prstGeom prst="roundRect">
            <a:avLst>
              <a:gd name="adj" fmla="val 14286"/>
            </a:avLst>
          </a:prstGeom>
          <a:solidFill>
            <a:srgbClr val="2A2A35"/>
          </a:solidFill>
          <a:ln w="9525">
            <a:solidFill>
              <a:srgbClr val="4A4A58"/>
            </a:solidFill>
            <a:prstDash val="solid"/>
          </a:ln>
        </p:spPr>
      </p:sp>
      <p:sp>
        <p:nvSpPr>
          <p:cNvPr id="41" name="Text 39"/>
          <p:cNvSpPr/>
          <p:nvPr/>
        </p:nvSpPr>
        <p:spPr>
          <a:xfrm>
            <a:off x="9372600" y="2340864"/>
            <a:ext cx="21945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Omni BI + Snowflake</a:t>
            </a:r>
            <a:endParaRPr lang="en-US" sz="1200" dirty="0"/>
          </a:p>
        </p:txBody>
      </p:sp>
      <p:sp>
        <p:nvSpPr>
          <p:cNvPr id="42" name="Shape 40"/>
          <p:cNvSpPr/>
          <p:nvPr/>
        </p:nvSpPr>
        <p:spPr>
          <a:xfrm>
            <a:off x="9372600" y="2852928"/>
            <a:ext cx="2194560" cy="384048"/>
          </a:xfrm>
          <a:prstGeom prst="roundRect">
            <a:avLst>
              <a:gd name="adj" fmla="val 14286"/>
            </a:avLst>
          </a:prstGeom>
          <a:solidFill>
            <a:srgbClr val="2A2A35"/>
          </a:solidFill>
          <a:ln w="9525">
            <a:solidFill>
              <a:srgbClr val="4A4A58"/>
            </a:solidFill>
            <a:prstDash val="solid"/>
          </a:ln>
        </p:spPr>
      </p:sp>
      <p:sp>
        <p:nvSpPr>
          <p:cNvPr id="43" name="Text 41"/>
          <p:cNvSpPr/>
          <p:nvPr/>
        </p:nvSpPr>
        <p:spPr>
          <a:xfrm>
            <a:off x="9372600" y="2852928"/>
            <a:ext cx="21945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monday.com</a:t>
            </a:r>
            <a:endParaRPr lang="en-US" sz="1200" dirty="0"/>
          </a:p>
        </p:txBody>
      </p:sp>
      <p:sp>
        <p:nvSpPr>
          <p:cNvPr id="44" name="Shape 42"/>
          <p:cNvSpPr/>
          <p:nvPr/>
        </p:nvSpPr>
        <p:spPr>
          <a:xfrm>
            <a:off x="9372600" y="3364992"/>
            <a:ext cx="2194560" cy="384048"/>
          </a:xfrm>
          <a:prstGeom prst="roundRect">
            <a:avLst>
              <a:gd name="adj" fmla="val 14286"/>
            </a:avLst>
          </a:prstGeom>
          <a:solidFill>
            <a:srgbClr val="2A2A35"/>
          </a:solidFill>
          <a:ln w="9525">
            <a:solidFill>
              <a:srgbClr val="4A4A58"/>
            </a:solidFill>
            <a:prstDash val="solid"/>
          </a:ln>
        </p:spPr>
      </p:sp>
      <p:sp>
        <p:nvSpPr>
          <p:cNvPr id="45" name="Text 43"/>
          <p:cNvSpPr/>
          <p:nvPr/>
        </p:nvSpPr>
        <p:spPr>
          <a:xfrm>
            <a:off x="9372600" y="3364992"/>
            <a:ext cx="21945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Slack</a:t>
            </a:r>
            <a:endParaRPr lang="en-US" sz="1200" dirty="0"/>
          </a:p>
        </p:txBody>
      </p:sp>
      <p:sp>
        <p:nvSpPr>
          <p:cNvPr id="46" name="Shape 44"/>
          <p:cNvSpPr/>
          <p:nvPr/>
        </p:nvSpPr>
        <p:spPr>
          <a:xfrm>
            <a:off x="9372600" y="3877056"/>
            <a:ext cx="2194560" cy="384048"/>
          </a:xfrm>
          <a:prstGeom prst="roundRect">
            <a:avLst>
              <a:gd name="adj" fmla="val 14286"/>
            </a:avLst>
          </a:prstGeom>
          <a:solidFill>
            <a:srgbClr val="2A2A35"/>
          </a:solidFill>
          <a:ln w="9525">
            <a:solidFill>
              <a:srgbClr val="4A4A58"/>
            </a:solidFill>
            <a:prstDash val="solid"/>
          </a:ln>
        </p:spPr>
      </p:sp>
      <p:sp>
        <p:nvSpPr>
          <p:cNvPr id="47" name="Text 45"/>
          <p:cNvSpPr/>
          <p:nvPr/>
        </p:nvSpPr>
        <p:spPr>
          <a:xfrm>
            <a:off x="9372600" y="3877056"/>
            <a:ext cx="21945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Ad platforms</a:t>
            </a:r>
            <a:endParaRPr lang="en-US" sz="1200" dirty="0"/>
          </a:p>
        </p:txBody>
      </p:sp>
      <p:sp>
        <p:nvSpPr>
          <p:cNvPr id="48" name="Shape 46"/>
          <p:cNvSpPr/>
          <p:nvPr/>
        </p:nvSpPr>
        <p:spPr>
          <a:xfrm>
            <a:off x="9372600" y="4389120"/>
            <a:ext cx="2194560" cy="384048"/>
          </a:xfrm>
          <a:prstGeom prst="roundRect">
            <a:avLst>
              <a:gd name="adj" fmla="val 14286"/>
            </a:avLst>
          </a:prstGeom>
          <a:solidFill>
            <a:srgbClr val="2A2A35"/>
          </a:solidFill>
          <a:ln w="9525">
            <a:solidFill>
              <a:srgbClr val="4A4A58"/>
            </a:solidFill>
            <a:prstDash val="solid"/>
          </a:ln>
        </p:spPr>
      </p:sp>
      <p:sp>
        <p:nvSpPr>
          <p:cNvPr id="49" name="Text 47"/>
          <p:cNvSpPr/>
          <p:nvPr/>
        </p:nvSpPr>
        <p:spPr>
          <a:xfrm>
            <a:off x="9372600" y="4389120"/>
            <a:ext cx="21945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Webflow site</a:t>
            </a:r>
            <a:endParaRPr lang="en-US" sz="1200" dirty="0"/>
          </a:p>
        </p:txBody>
      </p:sp>
      <p:sp>
        <p:nvSpPr>
          <p:cNvPr id="50" name="Text 48"/>
          <p:cNvSpPr/>
          <p:nvPr/>
        </p:nvSpPr>
        <p:spPr>
          <a:xfrm>
            <a:off x="2926080" y="3108960"/>
            <a:ext cx="457200" cy="237744"/>
          </a:xfrm>
          <a:prstGeom prst="rect">
            <a:avLst/>
          </a:prstGeom>
          <a:noFill/>
          <a:ln/>
        </p:spPr>
        <p:txBody>
          <a:bodyPr wrap="square" lIns="0" tIns="0" rIns="0" bIns="0" rtlCol="0" anchor="ctr"/>
          <a:lstStyle/>
          <a:p>
            <a:pPr algn="ctr" indent="0" marL="0">
              <a:buNone/>
            </a:pPr>
            <a:r>
              <a:rPr lang="en-US" sz="900" dirty="0">
                <a:solidFill>
                  <a:srgbClr val="9B9BA8"/>
                </a:solidFill>
                <a:latin typeface="Instrument Sans" pitchFamily="34" charset="0"/>
                <a:ea typeface="Instrument Sans" pitchFamily="34" charset="-122"/>
                <a:cs typeface="Instrument Sans" pitchFamily="34" charset="-120"/>
              </a:rPr>
              <a:t>uses</a:t>
            </a:r>
            <a:endParaRPr lang="en-US" sz="900" dirty="0"/>
          </a:p>
        </p:txBody>
      </p:sp>
      <p:sp>
        <p:nvSpPr>
          <p:cNvPr id="51" name="Shape 49"/>
          <p:cNvSpPr/>
          <p:nvPr/>
        </p:nvSpPr>
        <p:spPr>
          <a:xfrm>
            <a:off x="2944368" y="3429000"/>
            <a:ext cx="420624" cy="0"/>
          </a:xfrm>
          <a:prstGeom prst="line">
            <a:avLst/>
          </a:prstGeom>
          <a:noFill/>
          <a:ln w="22225">
            <a:solidFill>
              <a:srgbClr val="4A4A58"/>
            </a:solidFill>
            <a:prstDash val="solid"/>
            <a:tailEnd type="triangle"/>
          </a:ln>
        </p:spPr>
      </p:sp>
      <p:sp>
        <p:nvSpPr>
          <p:cNvPr id="52" name="Text 50"/>
          <p:cNvSpPr/>
          <p:nvPr/>
        </p:nvSpPr>
        <p:spPr>
          <a:xfrm>
            <a:off x="5852160" y="3108960"/>
            <a:ext cx="457200" cy="237744"/>
          </a:xfrm>
          <a:prstGeom prst="rect">
            <a:avLst/>
          </a:prstGeom>
          <a:noFill/>
          <a:ln/>
        </p:spPr>
        <p:txBody>
          <a:bodyPr wrap="square" lIns="0" tIns="0" rIns="0" bIns="0" rtlCol="0" anchor="ctr"/>
          <a:lstStyle/>
          <a:p>
            <a:pPr algn="ctr" indent="0" marL="0">
              <a:buNone/>
            </a:pPr>
            <a:r>
              <a:rPr lang="en-US" sz="900" dirty="0">
                <a:solidFill>
                  <a:srgbClr val="9B9BA8"/>
                </a:solidFill>
                <a:latin typeface="Instrument Sans" pitchFamily="34" charset="0"/>
                <a:ea typeface="Instrument Sans" pitchFamily="34" charset="-122"/>
                <a:cs typeface="Instrument Sans" pitchFamily="34" charset="-120"/>
              </a:rPr>
              <a:t>routes</a:t>
            </a:r>
            <a:endParaRPr lang="en-US" sz="900" dirty="0"/>
          </a:p>
        </p:txBody>
      </p:sp>
      <p:sp>
        <p:nvSpPr>
          <p:cNvPr id="53" name="Shape 51"/>
          <p:cNvSpPr/>
          <p:nvPr/>
        </p:nvSpPr>
        <p:spPr>
          <a:xfrm>
            <a:off x="5870448" y="3429000"/>
            <a:ext cx="420624" cy="0"/>
          </a:xfrm>
          <a:prstGeom prst="line">
            <a:avLst/>
          </a:prstGeom>
          <a:noFill/>
          <a:ln w="22225">
            <a:solidFill>
              <a:srgbClr val="4A4A58"/>
            </a:solidFill>
            <a:prstDash val="solid"/>
            <a:tailEnd type="triangle"/>
          </a:ln>
        </p:spPr>
      </p:sp>
      <p:sp>
        <p:nvSpPr>
          <p:cNvPr id="54" name="Text 52"/>
          <p:cNvSpPr/>
          <p:nvPr/>
        </p:nvSpPr>
        <p:spPr>
          <a:xfrm>
            <a:off x="8778240" y="3108960"/>
            <a:ext cx="457200" cy="237744"/>
          </a:xfrm>
          <a:prstGeom prst="rect">
            <a:avLst/>
          </a:prstGeom>
          <a:noFill/>
          <a:ln/>
        </p:spPr>
        <p:txBody>
          <a:bodyPr wrap="square" lIns="0" tIns="0" rIns="0" bIns="0" rtlCol="0" anchor="ctr"/>
          <a:lstStyle/>
          <a:p>
            <a:pPr algn="ctr" indent="0" marL="0">
              <a:buNone/>
            </a:pPr>
            <a:r>
              <a:rPr lang="en-US" sz="900" dirty="0">
                <a:solidFill>
                  <a:srgbClr val="9B9BA8"/>
                </a:solidFill>
                <a:latin typeface="Instrument Sans" pitchFamily="34" charset="0"/>
                <a:ea typeface="Instrument Sans" pitchFamily="34" charset="-122"/>
                <a:cs typeface="Instrument Sans" pitchFamily="34" charset="-120"/>
              </a:rPr>
              <a:t>acts on</a:t>
            </a:r>
            <a:endParaRPr lang="en-US" sz="900" dirty="0"/>
          </a:p>
        </p:txBody>
      </p:sp>
      <p:sp>
        <p:nvSpPr>
          <p:cNvPr id="55" name="Shape 53"/>
          <p:cNvSpPr/>
          <p:nvPr/>
        </p:nvSpPr>
        <p:spPr>
          <a:xfrm>
            <a:off x="8796528" y="3429000"/>
            <a:ext cx="420624" cy="0"/>
          </a:xfrm>
          <a:prstGeom prst="line">
            <a:avLst/>
          </a:prstGeom>
          <a:noFill/>
          <a:ln w="22225">
            <a:solidFill>
              <a:srgbClr val="4A4A58"/>
            </a:solidFill>
            <a:prstDash val="solid"/>
            <a:tailEnd type="triangle"/>
          </a:ln>
        </p:spPr>
      </p:sp>
      <p:sp>
        <p:nvSpPr>
          <p:cNvPr id="56" name="Shape 54"/>
          <p:cNvSpPr/>
          <p:nvPr/>
        </p:nvSpPr>
        <p:spPr>
          <a:xfrm>
            <a:off x="7543800" y="5532120"/>
            <a:ext cx="0" cy="365760"/>
          </a:xfrm>
          <a:prstGeom prst="line">
            <a:avLst/>
          </a:prstGeom>
          <a:noFill/>
          <a:ln w="22225">
            <a:solidFill>
              <a:srgbClr val="7C5CFF"/>
            </a:solidFill>
            <a:prstDash val="solid"/>
          </a:ln>
        </p:spPr>
      </p:sp>
      <p:sp>
        <p:nvSpPr>
          <p:cNvPr id="57" name="Shape 55"/>
          <p:cNvSpPr/>
          <p:nvPr/>
        </p:nvSpPr>
        <p:spPr>
          <a:xfrm>
            <a:off x="4617720" y="5897880"/>
            <a:ext cx="2926080" cy="0"/>
          </a:xfrm>
          <a:prstGeom prst="line">
            <a:avLst/>
          </a:prstGeom>
          <a:noFill/>
          <a:ln w="22225">
            <a:solidFill>
              <a:srgbClr val="7C5CFF"/>
            </a:solidFill>
            <a:prstDash val="solid"/>
          </a:ln>
        </p:spPr>
      </p:sp>
      <p:sp>
        <p:nvSpPr>
          <p:cNvPr id="58" name="Shape 56"/>
          <p:cNvSpPr/>
          <p:nvPr/>
        </p:nvSpPr>
        <p:spPr>
          <a:xfrm>
            <a:off x="4617720" y="5568696"/>
            <a:ext cx="0" cy="329184"/>
          </a:xfrm>
          <a:prstGeom prst="line">
            <a:avLst/>
          </a:prstGeom>
          <a:noFill/>
          <a:ln w="22225">
            <a:solidFill>
              <a:srgbClr val="7C5CFF"/>
            </a:solidFill>
            <a:prstDash val="solid"/>
            <a:headEnd type="triangle"/>
          </a:ln>
        </p:spPr>
      </p:sp>
      <p:sp>
        <p:nvSpPr>
          <p:cNvPr id="59" name="Text 57"/>
          <p:cNvSpPr/>
          <p:nvPr/>
        </p:nvSpPr>
        <p:spPr>
          <a:xfrm>
            <a:off x="3200400" y="5961888"/>
            <a:ext cx="5760720" cy="274320"/>
          </a:xfrm>
          <a:prstGeom prst="rect">
            <a:avLst/>
          </a:prstGeom>
          <a:noFill/>
          <a:ln/>
        </p:spPr>
        <p:txBody>
          <a:bodyPr wrap="square" lIns="0" tIns="0" rIns="0" bIns="0" rtlCol="0" anchor="ctr"/>
          <a:lstStyle/>
          <a:p>
            <a:pPr algn="ctr" indent="0" marL="0">
              <a:buNone/>
            </a:pPr>
            <a:r>
              <a:rPr lang="en-US" sz="1100" b="1" dirty="0">
                <a:solidFill>
                  <a:srgbClr val="7C5CFF"/>
                </a:solidFill>
                <a:latin typeface="Instrument Sans" pitchFamily="34" charset="0"/>
                <a:ea typeface="Instrument Sans" pitchFamily="34" charset="-122"/>
                <a:cs typeface="Instrument Sans" pitchFamily="34" charset="-120"/>
              </a:rPr>
              <a:t>/retro opens PRs, knowledge compounds</a:t>
            </a:r>
            <a:endParaRPr lang="en-US" sz="1100" dirty="0"/>
          </a:p>
        </p:txBody>
      </p:sp>
      <p:sp>
        <p:nvSpPr>
          <p:cNvPr id="60" name="Text 58"/>
          <p:cNvSpPr/>
          <p:nvPr/>
        </p:nvSpPr>
        <p:spPr>
          <a:xfrm>
            <a:off x="457200" y="6419088"/>
            <a:ext cx="11247120" cy="292608"/>
          </a:xfrm>
          <a:prstGeom prst="rect">
            <a:avLst/>
          </a:prstGeom>
          <a:noFill/>
          <a:ln/>
        </p:spPr>
        <p:txBody>
          <a:bodyPr wrap="square" lIns="0" tIns="0" rIns="0" bIns="0" rtlCol="0" anchor="ctr"/>
          <a:lstStyle/>
          <a:p>
            <a:pPr indent="0" marL="0">
              <a:buNone/>
            </a:pPr>
            <a:r>
              <a:rPr lang="en-US" sz="1050" dirty="0">
                <a:solidFill>
                  <a:srgbClr val="9B9BA8"/>
                </a:solidFill>
                <a:latin typeface="Instrument Sans" pitchFamily="34" charset="0"/>
                <a:ea typeface="Instrument Sans" pitchFamily="34" charset="-122"/>
                <a:cs typeface="Instrument Sans" pitchFamily="34" charset="-120"/>
              </a:rPr>
              <a:t>Around this flow: CI lint on every PR, doc-agent wiki and graph sync on every merge, scheduled cloud routines with no human at the keyboard.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F14"/>
        </a:solidFill>
      </p:bgPr>
    </p:bg>
    <p:spTree>
      <p:nvGrpSpPr>
        <p:cNvPr id="1" name=""/>
        <p:cNvGrpSpPr/>
        <p:nvPr/>
      </p:nvGrpSpPr>
      <p:grpSpPr>
        <a:xfrm>
          <a:off x="0" y="0"/>
          <a:ext cx="0" cy="0"/>
          <a:chOff x="0" y="0"/>
          <a:chExt cx="0" cy="0"/>
        </a:xfrm>
      </p:grpSpPr>
      <p:sp>
        <p:nvSpPr>
          <p:cNvPr id="2" name="Shape 0"/>
          <p:cNvSpPr/>
          <p:nvPr/>
        </p:nvSpPr>
        <p:spPr>
          <a:xfrm>
            <a:off x="11759184" y="384048"/>
            <a:ext cx="118872" cy="118872"/>
          </a:xfrm>
          <a:prstGeom prst="ellipse">
            <a:avLst/>
          </a:prstGeom>
          <a:solidFill>
            <a:srgbClr val="7C5CFF"/>
          </a:solidFill>
          <a:ln/>
        </p:spPr>
      </p:sp>
      <p:sp>
        <p:nvSpPr>
          <p:cNvPr id="3" name="Text 1"/>
          <p:cNvSpPr/>
          <p:nvPr/>
        </p:nvSpPr>
        <p:spPr>
          <a:xfrm>
            <a:off x="457200" y="274320"/>
            <a:ext cx="10789920" cy="502920"/>
          </a:xfrm>
          <a:prstGeom prst="rect">
            <a:avLst/>
          </a:prstGeom>
          <a:noFill/>
          <a:ln/>
        </p:spPr>
        <p:txBody>
          <a:bodyPr wrap="square" lIns="0" tIns="0" rIns="0" bIns="0" rtlCol="0" anchor="ctr"/>
          <a:lstStyle/>
          <a:p>
            <a:pPr indent="0" marL="0">
              <a:buNone/>
            </a:pPr>
            <a:r>
              <a:rPr lang="en-US" sz="2600" b="1" dirty="0">
                <a:solidFill>
                  <a:srgbClr val="FFFFFF"/>
                </a:solidFill>
                <a:latin typeface="Instrument Sans" pitchFamily="34" charset="0"/>
                <a:ea typeface="Instrument Sans" pitchFamily="34" charset="-122"/>
                <a:cs typeface="Instrument Sans" pitchFamily="34" charset="-120"/>
              </a:rPr>
              <a:t>A request, end to end</a:t>
            </a:r>
            <a:endParaRPr lang="en-US" sz="2600" dirty="0"/>
          </a:p>
        </p:txBody>
      </p:sp>
      <p:sp>
        <p:nvSpPr>
          <p:cNvPr id="4" name="Text 2"/>
          <p:cNvSpPr/>
          <p:nvPr/>
        </p:nvSpPr>
        <p:spPr>
          <a:xfrm>
            <a:off x="457200" y="804672"/>
            <a:ext cx="11247120" cy="347472"/>
          </a:xfrm>
          <a:prstGeom prst="rect">
            <a:avLst/>
          </a:prstGeom>
          <a:noFill/>
          <a:ln/>
        </p:spPr>
        <p:txBody>
          <a:bodyPr wrap="square" lIns="0" tIns="0" rIns="0" bIns="0" rtlCol="0" anchor="ct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What happens when someone asks the Marketing OS a broad question</a:t>
            </a:r>
            <a:endParaRPr lang="en-US" sz="1250" dirty="0"/>
          </a:p>
        </p:txBody>
      </p:sp>
      <p:sp>
        <p:nvSpPr>
          <p:cNvPr id="5" name="Shape 3"/>
          <p:cNvSpPr/>
          <p:nvPr/>
        </p:nvSpPr>
        <p:spPr>
          <a:xfrm>
            <a:off x="457200" y="1463040"/>
            <a:ext cx="3383280" cy="1371600"/>
          </a:xfrm>
          <a:prstGeom prst="roundRect">
            <a:avLst>
              <a:gd name="adj" fmla="val 5333"/>
            </a:avLst>
          </a:prstGeom>
          <a:solidFill>
            <a:srgbClr val="1C1C24"/>
          </a:solidFill>
          <a:ln w="12700">
            <a:solidFill>
              <a:srgbClr val="2A2A35"/>
            </a:solidFill>
            <a:prstDash val="solid"/>
          </a:ln>
        </p:spPr>
      </p:sp>
      <p:sp>
        <p:nvSpPr>
          <p:cNvPr id="6" name="Shape 4"/>
          <p:cNvSpPr/>
          <p:nvPr/>
        </p:nvSpPr>
        <p:spPr>
          <a:xfrm>
            <a:off x="640080" y="1645920"/>
            <a:ext cx="329184" cy="329184"/>
          </a:xfrm>
          <a:prstGeom prst="ellipse">
            <a:avLst/>
          </a:prstGeom>
          <a:solidFill>
            <a:srgbClr val="0F0F14"/>
          </a:solidFill>
          <a:ln w="19050">
            <a:solidFill>
              <a:srgbClr val="7C5CFF"/>
            </a:solidFill>
            <a:prstDash val="solid"/>
          </a:ln>
        </p:spPr>
      </p:sp>
      <p:sp>
        <p:nvSpPr>
          <p:cNvPr id="7" name="Text 5"/>
          <p:cNvSpPr/>
          <p:nvPr/>
        </p:nvSpPr>
        <p:spPr>
          <a:xfrm>
            <a:off x="640080" y="1636776"/>
            <a:ext cx="329184" cy="329184"/>
          </a:xfrm>
          <a:prstGeom prst="rect">
            <a:avLst/>
          </a:prstGeom>
          <a:noFill/>
          <a:ln/>
        </p:spPr>
        <p:txBody>
          <a:bodyPr wrap="square" lIns="0" tIns="0" rIns="0" bIns="0" rtlCol="0" anchor="ctr"/>
          <a:lstStyle/>
          <a:p>
            <a:pPr algn="ctr" indent="0" marL="0">
              <a:buNone/>
            </a:pPr>
            <a:r>
              <a:rPr lang="en-US" sz="1300" b="1" dirty="0">
                <a:solidFill>
                  <a:srgbClr val="7C5CFF"/>
                </a:solidFill>
                <a:latin typeface="Instrument Sans" pitchFamily="34" charset="0"/>
                <a:ea typeface="Instrument Sans" pitchFamily="34" charset="-122"/>
                <a:cs typeface="Instrument Sans" pitchFamily="34" charset="-120"/>
              </a:rPr>
              <a:t>1</a:t>
            </a:r>
            <a:endParaRPr lang="en-US" sz="1300" dirty="0"/>
          </a:p>
        </p:txBody>
      </p:sp>
      <p:sp>
        <p:nvSpPr>
          <p:cNvPr id="8" name="Text 6"/>
          <p:cNvSpPr/>
          <p:nvPr/>
        </p:nvSpPr>
        <p:spPr>
          <a:xfrm>
            <a:off x="1097280" y="1618488"/>
            <a:ext cx="2560320" cy="320040"/>
          </a:xfrm>
          <a:prstGeom prst="rect">
            <a:avLst/>
          </a:prstGeom>
          <a:noFill/>
          <a:ln/>
        </p:spPr>
        <p:txBody>
          <a:bodyPr wrap="square" lIns="0" tIns="0" rIns="0" bIns="0" rtlCol="0" anchor="ctr"/>
          <a:lstStyle/>
          <a:p>
            <a:pPr indent="0" marL="0">
              <a:buNone/>
            </a:pPr>
            <a:r>
              <a:rPr lang="en-US" sz="1450" b="1" dirty="0">
                <a:solidFill>
                  <a:srgbClr val="FFFFFF"/>
                </a:solidFill>
                <a:latin typeface="Instrument Sans" pitchFamily="34" charset="0"/>
                <a:ea typeface="Instrument Sans" pitchFamily="34" charset="-122"/>
                <a:cs typeface="Instrument Sans" pitchFamily="34" charset="-120"/>
              </a:rPr>
              <a:t>Classify</a:t>
            </a:r>
            <a:endParaRPr lang="en-US" sz="1450" dirty="0"/>
          </a:p>
        </p:txBody>
      </p:sp>
      <p:sp>
        <p:nvSpPr>
          <p:cNvPr id="9" name="Text 7"/>
          <p:cNvSpPr/>
          <p:nvPr/>
        </p:nvSpPr>
        <p:spPr>
          <a:xfrm>
            <a:off x="1097280" y="1975104"/>
            <a:ext cx="2560320" cy="731520"/>
          </a:xfrm>
          <a:prstGeom prst="rect">
            <a:avLst/>
          </a:prstGeom>
          <a:noFill/>
          <a:ln/>
        </p:spPr>
        <p:txBody>
          <a:bodyPr wrap="square" lIns="0" tIns="0" rIns="0" bIns="0" rtlCol="0" anchor="ctr"/>
          <a:lstStyle/>
          <a:p>
            <a:pPr indent="0" marL="0">
              <a:buNone/>
            </a:pPr>
            <a:r>
              <a:rPr lang="en-US" sz="1150" dirty="0">
                <a:solidFill>
                  <a:srgbClr val="E6E6EB"/>
                </a:solidFill>
                <a:latin typeface="Instrument Sans" pitchFamily="34" charset="0"/>
                <a:ea typeface="Instrument Sans" pitchFamily="34" charset="-122"/>
                <a:cs typeface="Instrument Sans" pitchFamily="34" charset="-120"/>
              </a:rPr>
              <a:t>/marketing-brain reads the request and picks the path</a:t>
            </a:r>
            <a:endParaRPr lang="en-US" sz="1150" dirty="0"/>
          </a:p>
        </p:txBody>
      </p:sp>
      <p:sp>
        <p:nvSpPr>
          <p:cNvPr id="10" name="Shape 8"/>
          <p:cNvSpPr/>
          <p:nvPr/>
        </p:nvSpPr>
        <p:spPr>
          <a:xfrm>
            <a:off x="4407408" y="1463040"/>
            <a:ext cx="3383280" cy="1371600"/>
          </a:xfrm>
          <a:prstGeom prst="roundRect">
            <a:avLst>
              <a:gd name="adj" fmla="val 5333"/>
            </a:avLst>
          </a:prstGeom>
          <a:solidFill>
            <a:srgbClr val="1C1C24"/>
          </a:solidFill>
          <a:ln w="12700">
            <a:solidFill>
              <a:srgbClr val="2A2A35"/>
            </a:solidFill>
            <a:prstDash val="solid"/>
          </a:ln>
        </p:spPr>
      </p:sp>
      <p:sp>
        <p:nvSpPr>
          <p:cNvPr id="11" name="Shape 9"/>
          <p:cNvSpPr/>
          <p:nvPr/>
        </p:nvSpPr>
        <p:spPr>
          <a:xfrm>
            <a:off x="4590288" y="1645920"/>
            <a:ext cx="329184" cy="329184"/>
          </a:xfrm>
          <a:prstGeom prst="ellipse">
            <a:avLst/>
          </a:prstGeom>
          <a:solidFill>
            <a:srgbClr val="0F0F14"/>
          </a:solidFill>
          <a:ln w="19050">
            <a:solidFill>
              <a:srgbClr val="7C5CFF"/>
            </a:solidFill>
            <a:prstDash val="solid"/>
          </a:ln>
        </p:spPr>
      </p:sp>
      <p:sp>
        <p:nvSpPr>
          <p:cNvPr id="12" name="Text 10"/>
          <p:cNvSpPr/>
          <p:nvPr/>
        </p:nvSpPr>
        <p:spPr>
          <a:xfrm>
            <a:off x="4590288" y="1636776"/>
            <a:ext cx="329184" cy="329184"/>
          </a:xfrm>
          <a:prstGeom prst="rect">
            <a:avLst/>
          </a:prstGeom>
          <a:noFill/>
          <a:ln/>
        </p:spPr>
        <p:txBody>
          <a:bodyPr wrap="square" lIns="0" tIns="0" rIns="0" bIns="0" rtlCol="0" anchor="ctr"/>
          <a:lstStyle/>
          <a:p>
            <a:pPr algn="ctr" indent="0" marL="0">
              <a:buNone/>
            </a:pPr>
            <a:r>
              <a:rPr lang="en-US" sz="1300" b="1" dirty="0">
                <a:solidFill>
                  <a:srgbClr val="7C5CFF"/>
                </a:solidFill>
                <a:latin typeface="Instrument Sans" pitchFamily="34" charset="0"/>
                <a:ea typeface="Instrument Sans" pitchFamily="34" charset="-122"/>
                <a:cs typeface="Instrument Sans" pitchFamily="34" charset="-120"/>
              </a:rPr>
              <a:t>2</a:t>
            </a:r>
            <a:endParaRPr lang="en-US" sz="1300" dirty="0"/>
          </a:p>
        </p:txBody>
      </p:sp>
      <p:sp>
        <p:nvSpPr>
          <p:cNvPr id="13" name="Text 11"/>
          <p:cNvSpPr/>
          <p:nvPr/>
        </p:nvSpPr>
        <p:spPr>
          <a:xfrm>
            <a:off x="5047488" y="1618488"/>
            <a:ext cx="2560320" cy="320040"/>
          </a:xfrm>
          <a:prstGeom prst="rect">
            <a:avLst/>
          </a:prstGeom>
          <a:noFill/>
          <a:ln/>
        </p:spPr>
        <p:txBody>
          <a:bodyPr wrap="square" lIns="0" tIns="0" rIns="0" bIns="0" rtlCol="0" anchor="ctr"/>
          <a:lstStyle/>
          <a:p>
            <a:pPr indent="0" marL="0">
              <a:buNone/>
            </a:pPr>
            <a:r>
              <a:rPr lang="en-US" sz="1450" b="1" dirty="0">
                <a:solidFill>
                  <a:srgbClr val="FFFFFF"/>
                </a:solidFill>
                <a:latin typeface="Instrument Sans" pitchFamily="34" charset="0"/>
                <a:ea typeface="Instrument Sans" pitchFamily="34" charset="-122"/>
                <a:cs typeface="Instrument Sans" pitchFamily="34" charset="-120"/>
              </a:rPr>
              <a:t>Load scoped context</a:t>
            </a:r>
            <a:endParaRPr lang="en-US" sz="1450" dirty="0"/>
          </a:p>
        </p:txBody>
      </p:sp>
      <p:sp>
        <p:nvSpPr>
          <p:cNvPr id="14" name="Text 12"/>
          <p:cNvSpPr/>
          <p:nvPr/>
        </p:nvSpPr>
        <p:spPr>
          <a:xfrm>
            <a:off x="5047488" y="1975104"/>
            <a:ext cx="2560320" cy="731520"/>
          </a:xfrm>
          <a:prstGeom prst="rect">
            <a:avLst/>
          </a:prstGeom>
          <a:noFill/>
          <a:ln/>
        </p:spPr>
        <p:txBody>
          <a:bodyPr wrap="square" lIns="0" tIns="0" rIns="0" bIns="0" rtlCol="0" anchor="ctr"/>
          <a:lstStyle/>
          <a:p>
            <a:pPr indent="0" marL="0">
              <a:buNone/>
            </a:pPr>
            <a:r>
              <a:rPr lang="en-US" sz="1150" dirty="0">
                <a:solidFill>
                  <a:srgbClr val="E6E6EB"/>
                </a:solidFill>
                <a:latin typeface="Instrument Sans" pitchFamily="34" charset="0"/>
                <a:ea typeface="Instrument Sans" pitchFamily="34" charset="-122"/>
                <a:cs typeface="Instrument Sans" pitchFamily="34" charset="-120"/>
              </a:rPr>
              <a:t>the CLAUDE.md map plus only the relevant docs</a:t>
            </a:r>
            <a:endParaRPr lang="en-US" sz="1150" dirty="0"/>
          </a:p>
        </p:txBody>
      </p:sp>
      <p:sp>
        <p:nvSpPr>
          <p:cNvPr id="15" name="Shape 13"/>
          <p:cNvSpPr/>
          <p:nvPr/>
        </p:nvSpPr>
        <p:spPr>
          <a:xfrm>
            <a:off x="8348472" y="1463040"/>
            <a:ext cx="3383280" cy="1371600"/>
          </a:xfrm>
          <a:prstGeom prst="roundRect">
            <a:avLst>
              <a:gd name="adj" fmla="val 5333"/>
            </a:avLst>
          </a:prstGeom>
          <a:solidFill>
            <a:srgbClr val="1C1C24"/>
          </a:solidFill>
          <a:ln w="12700">
            <a:solidFill>
              <a:srgbClr val="2A2A35"/>
            </a:solidFill>
            <a:prstDash val="solid"/>
          </a:ln>
        </p:spPr>
      </p:sp>
      <p:sp>
        <p:nvSpPr>
          <p:cNvPr id="16" name="Shape 14"/>
          <p:cNvSpPr/>
          <p:nvPr/>
        </p:nvSpPr>
        <p:spPr>
          <a:xfrm>
            <a:off x="8531352" y="1645920"/>
            <a:ext cx="329184" cy="329184"/>
          </a:xfrm>
          <a:prstGeom prst="ellipse">
            <a:avLst/>
          </a:prstGeom>
          <a:solidFill>
            <a:srgbClr val="0F0F14"/>
          </a:solidFill>
          <a:ln w="19050">
            <a:solidFill>
              <a:srgbClr val="7C5CFF"/>
            </a:solidFill>
            <a:prstDash val="solid"/>
          </a:ln>
        </p:spPr>
      </p:sp>
      <p:sp>
        <p:nvSpPr>
          <p:cNvPr id="17" name="Text 15"/>
          <p:cNvSpPr/>
          <p:nvPr/>
        </p:nvSpPr>
        <p:spPr>
          <a:xfrm>
            <a:off x="8531352" y="1636776"/>
            <a:ext cx="329184" cy="329184"/>
          </a:xfrm>
          <a:prstGeom prst="rect">
            <a:avLst/>
          </a:prstGeom>
          <a:noFill/>
          <a:ln/>
        </p:spPr>
        <p:txBody>
          <a:bodyPr wrap="square" lIns="0" tIns="0" rIns="0" bIns="0" rtlCol="0" anchor="ctr"/>
          <a:lstStyle/>
          <a:p>
            <a:pPr algn="ctr" indent="0" marL="0">
              <a:buNone/>
            </a:pPr>
            <a:r>
              <a:rPr lang="en-US" sz="1300" b="1" dirty="0">
                <a:solidFill>
                  <a:srgbClr val="7C5CFF"/>
                </a:solidFill>
                <a:latin typeface="Instrument Sans" pitchFamily="34" charset="0"/>
                <a:ea typeface="Instrument Sans" pitchFamily="34" charset="-122"/>
                <a:cs typeface="Instrument Sans" pitchFamily="34" charset="-120"/>
              </a:rPr>
              <a:t>3</a:t>
            </a:r>
            <a:endParaRPr lang="en-US" sz="1300" dirty="0"/>
          </a:p>
        </p:txBody>
      </p:sp>
      <p:sp>
        <p:nvSpPr>
          <p:cNvPr id="18" name="Text 16"/>
          <p:cNvSpPr/>
          <p:nvPr/>
        </p:nvSpPr>
        <p:spPr>
          <a:xfrm>
            <a:off x="8988552" y="1618488"/>
            <a:ext cx="2560320" cy="320040"/>
          </a:xfrm>
          <a:prstGeom prst="rect">
            <a:avLst/>
          </a:prstGeom>
          <a:noFill/>
          <a:ln/>
        </p:spPr>
        <p:txBody>
          <a:bodyPr wrap="square" lIns="0" tIns="0" rIns="0" bIns="0" rtlCol="0" anchor="ctr"/>
          <a:lstStyle/>
          <a:p>
            <a:pPr indent="0" marL="0">
              <a:buNone/>
            </a:pPr>
            <a:r>
              <a:rPr lang="en-US" sz="1450" b="1" dirty="0">
                <a:solidFill>
                  <a:srgbClr val="FFFFFF"/>
                </a:solidFill>
                <a:latin typeface="Instrument Sans" pitchFamily="34" charset="0"/>
                <a:ea typeface="Instrument Sans" pitchFamily="34" charset="-122"/>
                <a:cs typeface="Instrument Sans" pitchFamily="34" charset="-120"/>
              </a:rPr>
              <a:t>Delegate</a:t>
            </a:r>
            <a:endParaRPr lang="en-US" sz="1450" dirty="0"/>
          </a:p>
        </p:txBody>
      </p:sp>
      <p:sp>
        <p:nvSpPr>
          <p:cNvPr id="19" name="Text 17"/>
          <p:cNvSpPr/>
          <p:nvPr/>
        </p:nvSpPr>
        <p:spPr>
          <a:xfrm>
            <a:off x="8988552" y="1975104"/>
            <a:ext cx="2560320" cy="731520"/>
          </a:xfrm>
          <a:prstGeom prst="rect">
            <a:avLst/>
          </a:prstGeom>
          <a:noFill/>
          <a:ln/>
        </p:spPr>
        <p:txBody>
          <a:bodyPr wrap="square" lIns="0" tIns="0" rIns="0" bIns="0" rtlCol="0" anchor="ctr"/>
          <a:lstStyle/>
          <a:p>
            <a:pPr indent="0" marL="0">
              <a:buNone/>
            </a:pPr>
            <a:r>
              <a:rPr lang="en-US" sz="1150" dirty="0">
                <a:solidFill>
                  <a:srgbClr val="E6E6EB"/>
                </a:solidFill>
                <a:latin typeface="Instrument Sans" pitchFamily="34" charset="0"/>
                <a:ea typeface="Instrument Sans" pitchFamily="34" charset="-122"/>
                <a:cs typeface="Instrument Sans" pitchFamily="34" charset="-120"/>
              </a:rPr>
              <a:t>to the skill agent that owns the domain, e.g. /data-agent</a:t>
            </a:r>
            <a:endParaRPr lang="en-US" sz="1150" dirty="0"/>
          </a:p>
        </p:txBody>
      </p:sp>
      <p:sp>
        <p:nvSpPr>
          <p:cNvPr id="20" name="Shape 18"/>
          <p:cNvSpPr/>
          <p:nvPr/>
        </p:nvSpPr>
        <p:spPr>
          <a:xfrm>
            <a:off x="3913632" y="2148840"/>
            <a:ext cx="420624" cy="0"/>
          </a:xfrm>
          <a:prstGeom prst="line">
            <a:avLst/>
          </a:prstGeom>
          <a:noFill/>
          <a:ln w="22225">
            <a:solidFill>
              <a:srgbClr val="4A4A58"/>
            </a:solidFill>
            <a:prstDash val="solid"/>
            <a:tailEnd type="triangle"/>
          </a:ln>
        </p:spPr>
      </p:sp>
      <p:sp>
        <p:nvSpPr>
          <p:cNvPr id="21" name="Shape 19"/>
          <p:cNvSpPr/>
          <p:nvPr/>
        </p:nvSpPr>
        <p:spPr>
          <a:xfrm>
            <a:off x="7854696" y="2148840"/>
            <a:ext cx="420624" cy="0"/>
          </a:xfrm>
          <a:prstGeom prst="line">
            <a:avLst/>
          </a:prstGeom>
          <a:noFill/>
          <a:ln w="22225">
            <a:solidFill>
              <a:srgbClr val="4A4A58"/>
            </a:solidFill>
            <a:prstDash val="solid"/>
            <a:tailEnd type="triangle"/>
          </a:ln>
        </p:spPr>
      </p:sp>
      <p:sp>
        <p:nvSpPr>
          <p:cNvPr id="22" name="Shape 20"/>
          <p:cNvSpPr/>
          <p:nvPr/>
        </p:nvSpPr>
        <p:spPr>
          <a:xfrm>
            <a:off x="10040112" y="2834640"/>
            <a:ext cx="0" cy="502920"/>
          </a:xfrm>
          <a:prstGeom prst="line">
            <a:avLst/>
          </a:prstGeom>
          <a:noFill/>
          <a:ln w="22225">
            <a:solidFill>
              <a:srgbClr val="4A4A58"/>
            </a:solidFill>
            <a:prstDash val="solid"/>
            <a:tailEnd type="triangle"/>
          </a:ln>
        </p:spPr>
      </p:sp>
      <p:sp>
        <p:nvSpPr>
          <p:cNvPr id="23" name="Shape 21"/>
          <p:cNvSpPr/>
          <p:nvPr/>
        </p:nvSpPr>
        <p:spPr>
          <a:xfrm>
            <a:off x="8348472" y="3337560"/>
            <a:ext cx="3383280" cy="1371600"/>
          </a:xfrm>
          <a:prstGeom prst="roundRect">
            <a:avLst>
              <a:gd name="adj" fmla="val 5333"/>
            </a:avLst>
          </a:prstGeom>
          <a:solidFill>
            <a:srgbClr val="1C1C24"/>
          </a:solidFill>
          <a:ln w="12700">
            <a:solidFill>
              <a:srgbClr val="2A2A35"/>
            </a:solidFill>
            <a:prstDash val="solid"/>
          </a:ln>
        </p:spPr>
      </p:sp>
      <p:sp>
        <p:nvSpPr>
          <p:cNvPr id="24" name="Shape 22"/>
          <p:cNvSpPr/>
          <p:nvPr/>
        </p:nvSpPr>
        <p:spPr>
          <a:xfrm>
            <a:off x="8531352" y="3520440"/>
            <a:ext cx="329184" cy="329184"/>
          </a:xfrm>
          <a:prstGeom prst="ellipse">
            <a:avLst/>
          </a:prstGeom>
          <a:solidFill>
            <a:srgbClr val="0F0F14"/>
          </a:solidFill>
          <a:ln w="19050">
            <a:solidFill>
              <a:srgbClr val="7C5CFF"/>
            </a:solidFill>
            <a:prstDash val="solid"/>
          </a:ln>
        </p:spPr>
      </p:sp>
      <p:sp>
        <p:nvSpPr>
          <p:cNvPr id="25" name="Text 23"/>
          <p:cNvSpPr/>
          <p:nvPr/>
        </p:nvSpPr>
        <p:spPr>
          <a:xfrm>
            <a:off x="8531352" y="3511296"/>
            <a:ext cx="329184" cy="329184"/>
          </a:xfrm>
          <a:prstGeom prst="rect">
            <a:avLst/>
          </a:prstGeom>
          <a:noFill/>
          <a:ln/>
        </p:spPr>
        <p:txBody>
          <a:bodyPr wrap="square" lIns="0" tIns="0" rIns="0" bIns="0" rtlCol="0" anchor="ctr"/>
          <a:lstStyle/>
          <a:p>
            <a:pPr algn="ctr" indent="0" marL="0">
              <a:buNone/>
            </a:pPr>
            <a:r>
              <a:rPr lang="en-US" sz="1300" b="1" dirty="0">
                <a:solidFill>
                  <a:srgbClr val="7C5CFF"/>
                </a:solidFill>
                <a:latin typeface="Instrument Sans" pitchFamily="34" charset="0"/>
                <a:ea typeface="Instrument Sans" pitchFamily="34" charset="-122"/>
                <a:cs typeface="Instrument Sans" pitchFamily="34" charset="-120"/>
              </a:rPr>
              <a:t>4</a:t>
            </a:r>
            <a:endParaRPr lang="en-US" sz="1300" dirty="0"/>
          </a:p>
        </p:txBody>
      </p:sp>
      <p:sp>
        <p:nvSpPr>
          <p:cNvPr id="26" name="Text 24"/>
          <p:cNvSpPr/>
          <p:nvPr/>
        </p:nvSpPr>
        <p:spPr>
          <a:xfrm>
            <a:off x="8988552" y="3493008"/>
            <a:ext cx="2560320" cy="320040"/>
          </a:xfrm>
          <a:prstGeom prst="rect">
            <a:avLst/>
          </a:prstGeom>
          <a:noFill/>
          <a:ln/>
        </p:spPr>
        <p:txBody>
          <a:bodyPr wrap="square" lIns="0" tIns="0" rIns="0" bIns="0" rtlCol="0" anchor="ctr"/>
          <a:lstStyle/>
          <a:p>
            <a:pPr indent="0" marL="0">
              <a:buNone/>
            </a:pPr>
            <a:r>
              <a:rPr lang="en-US" sz="1450" b="1" dirty="0">
                <a:solidFill>
                  <a:srgbClr val="FFFFFF"/>
                </a:solidFill>
                <a:latin typeface="Instrument Sans" pitchFamily="34" charset="0"/>
                <a:ea typeface="Instrument Sans" pitchFamily="34" charset="-122"/>
                <a:cs typeface="Instrument Sans" pitchFamily="34" charset="-120"/>
              </a:rPr>
              <a:t>Pull live data</a:t>
            </a:r>
            <a:endParaRPr lang="en-US" sz="1450" dirty="0"/>
          </a:p>
        </p:txBody>
      </p:sp>
      <p:sp>
        <p:nvSpPr>
          <p:cNvPr id="27" name="Text 25"/>
          <p:cNvSpPr/>
          <p:nvPr/>
        </p:nvSpPr>
        <p:spPr>
          <a:xfrm>
            <a:off x="8988552" y="3849624"/>
            <a:ext cx="2560320" cy="731520"/>
          </a:xfrm>
          <a:prstGeom prst="rect">
            <a:avLst/>
          </a:prstGeom>
          <a:noFill/>
          <a:ln/>
        </p:spPr>
        <p:txBody>
          <a:bodyPr wrap="square" lIns="0" tIns="0" rIns="0" bIns="0" rtlCol="0" anchor="ctr"/>
          <a:lstStyle/>
          <a:p>
            <a:pPr indent="0" marL="0">
              <a:buNone/>
            </a:pPr>
            <a:r>
              <a:rPr lang="en-US" sz="1150" dirty="0">
                <a:solidFill>
                  <a:srgbClr val="E6E6EB"/>
                </a:solidFill>
                <a:latin typeface="Instrument Sans" pitchFamily="34" charset="0"/>
                <a:ea typeface="Instrument Sans" pitchFamily="34" charset="-122"/>
                <a:cs typeface="Instrument Sans" pitchFamily="34" charset="-120"/>
              </a:rPr>
              <a:t>MCP into HubSpot, Omni, monday, Slack, ad platforms</a:t>
            </a:r>
            <a:endParaRPr lang="en-US" sz="1150" dirty="0"/>
          </a:p>
        </p:txBody>
      </p:sp>
      <p:sp>
        <p:nvSpPr>
          <p:cNvPr id="28" name="Shape 26"/>
          <p:cNvSpPr/>
          <p:nvPr/>
        </p:nvSpPr>
        <p:spPr>
          <a:xfrm>
            <a:off x="4407408" y="3337560"/>
            <a:ext cx="3383280" cy="1371600"/>
          </a:xfrm>
          <a:prstGeom prst="roundRect">
            <a:avLst>
              <a:gd name="adj" fmla="val 5333"/>
            </a:avLst>
          </a:prstGeom>
          <a:solidFill>
            <a:srgbClr val="1C1C24"/>
          </a:solidFill>
          <a:ln w="12700">
            <a:solidFill>
              <a:srgbClr val="2A2A35"/>
            </a:solidFill>
            <a:prstDash val="solid"/>
          </a:ln>
        </p:spPr>
      </p:sp>
      <p:sp>
        <p:nvSpPr>
          <p:cNvPr id="29" name="Shape 27"/>
          <p:cNvSpPr/>
          <p:nvPr/>
        </p:nvSpPr>
        <p:spPr>
          <a:xfrm>
            <a:off x="4590288" y="3520440"/>
            <a:ext cx="329184" cy="329184"/>
          </a:xfrm>
          <a:prstGeom prst="ellipse">
            <a:avLst/>
          </a:prstGeom>
          <a:solidFill>
            <a:srgbClr val="0F0F14"/>
          </a:solidFill>
          <a:ln w="19050">
            <a:solidFill>
              <a:srgbClr val="7C5CFF"/>
            </a:solidFill>
            <a:prstDash val="solid"/>
          </a:ln>
        </p:spPr>
      </p:sp>
      <p:sp>
        <p:nvSpPr>
          <p:cNvPr id="30" name="Text 28"/>
          <p:cNvSpPr/>
          <p:nvPr/>
        </p:nvSpPr>
        <p:spPr>
          <a:xfrm>
            <a:off x="4590288" y="3511296"/>
            <a:ext cx="329184" cy="329184"/>
          </a:xfrm>
          <a:prstGeom prst="rect">
            <a:avLst/>
          </a:prstGeom>
          <a:noFill/>
          <a:ln/>
        </p:spPr>
        <p:txBody>
          <a:bodyPr wrap="square" lIns="0" tIns="0" rIns="0" bIns="0" rtlCol="0" anchor="ctr"/>
          <a:lstStyle/>
          <a:p>
            <a:pPr algn="ctr" indent="0" marL="0">
              <a:buNone/>
            </a:pPr>
            <a:r>
              <a:rPr lang="en-US" sz="1300" b="1" dirty="0">
                <a:solidFill>
                  <a:srgbClr val="7C5CFF"/>
                </a:solidFill>
                <a:latin typeface="Instrument Sans" pitchFamily="34" charset="0"/>
                <a:ea typeface="Instrument Sans" pitchFamily="34" charset="-122"/>
                <a:cs typeface="Instrument Sans" pitchFamily="34" charset="-120"/>
              </a:rPr>
              <a:t>5</a:t>
            </a:r>
            <a:endParaRPr lang="en-US" sz="1300" dirty="0"/>
          </a:p>
        </p:txBody>
      </p:sp>
      <p:sp>
        <p:nvSpPr>
          <p:cNvPr id="31" name="Text 29"/>
          <p:cNvSpPr/>
          <p:nvPr/>
        </p:nvSpPr>
        <p:spPr>
          <a:xfrm>
            <a:off x="5047488" y="3493008"/>
            <a:ext cx="2560320" cy="320040"/>
          </a:xfrm>
          <a:prstGeom prst="rect">
            <a:avLst/>
          </a:prstGeom>
          <a:noFill/>
          <a:ln/>
        </p:spPr>
        <p:txBody>
          <a:bodyPr wrap="square" lIns="0" tIns="0" rIns="0" bIns="0" rtlCol="0" anchor="ctr"/>
          <a:lstStyle/>
          <a:p>
            <a:pPr indent="0" marL="0">
              <a:buNone/>
            </a:pPr>
            <a:r>
              <a:rPr lang="en-US" sz="1450" b="1" dirty="0">
                <a:solidFill>
                  <a:srgbClr val="FFFFFF"/>
                </a:solidFill>
                <a:latin typeface="Instrument Sans" pitchFamily="34" charset="0"/>
                <a:ea typeface="Instrument Sans" pitchFamily="34" charset="-122"/>
                <a:cs typeface="Instrument Sans" pitchFamily="34" charset="-120"/>
              </a:rPr>
              <a:t>Specialist deep pass</a:t>
            </a:r>
            <a:endParaRPr lang="en-US" sz="1450" dirty="0"/>
          </a:p>
        </p:txBody>
      </p:sp>
      <p:sp>
        <p:nvSpPr>
          <p:cNvPr id="32" name="Text 30"/>
          <p:cNvSpPr/>
          <p:nvPr/>
        </p:nvSpPr>
        <p:spPr>
          <a:xfrm>
            <a:off x="5047488" y="3849624"/>
            <a:ext cx="2560320" cy="731520"/>
          </a:xfrm>
          <a:prstGeom prst="rect">
            <a:avLst/>
          </a:prstGeom>
          <a:noFill/>
          <a:ln/>
        </p:spPr>
        <p:txBody>
          <a:bodyPr wrap="square" lIns="0" tIns="0" rIns="0" bIns="0" rtlCol="0" anchor="ctr"/>
          <a:lstStyle/>
          <a:p>
            <a:pPr indent="0" marL="0">
              <a:buNone/>
            </a:pPr>
            <a:r>
              <a:rPr lang="en-US" sz="1150" dirty="0">
                <a:solidFill>
                  <a:srgbClr val="E6E6EB"/>
                </a:solidFill>
                <a:latin typeface="Instrument Sans" pitchFamily="34" charset="0"/>
                <a:ea typeface="Instrument Sans" pitchFamily="34" charset="-122"/>
                <a:cs typeface="Instrument Sans" pitchFamily="34" charset="-120"/>
              </a:rPr>
              <a:t>domain analysis on the data, no live access needed</a:t>
            </a:r>
            <a:endParaRPr lang="en-US" sz="1150" dirty="0"/>
          </a:p>
        </p:txBody>
      </p:sp>
      <p:sp>
        <p:nvSpPr>
          <p:cNvPr id="33" name="Shape 31"/>
          <p:cNvSpPr/>
          <p:nvPr/>
        </p:nvSpPr>
        <p:spPr>
          <a:xfrm>
            <a:off x="457200" y="3337560"/>
            <a:ext cx="3383280" cy="1371600"/>
          </a:xfrm>
          <a:prstGeom prst="roundRect">
            <a:avLst>
              <a:gd name="adj" fmla="val 5333"/>
            </a:avLst>
          </a:prstGeom>
          <a:solidFill>
            <a:srgbClr val="1C1C24"/>
          </a:solidFill>
          <a:ln w="12700">
            <a:solidFill>
              <a:srgbClr val="2A2A35"/>
            </a:solidFill>
            <a:prstDash val="solid"/>
          </a:ln>
        </p:spPr>
      </p:sp>
      <p:sp>
        <p:nvSpPr>
          <p:cNvPr id="34" name="Shape 32"/>
          <p:cNvSpPr/>
          <p:nvPr/>
        </p:nvSpPr>
        <p:spPr>
          <a:xfrm>
            <a:off x="640080" y="3520440"/>
            <a:ext cx="329184" cy="329184"/>
          </a:xfrm>
          <a:prstGeom prst="ellipse">
            <a:avLst/>
          </a:prstGeom>
          <a:solidFill>
            <a:srgbClr val="0F0F14"/>
          </a:solidFill>
          <a:ln w="19050">
            <a:solidFill>
              <a:srgbClr val="7C5CFF"/>
            </a:solidFill>
            <a:prstDash val="solid"/>
          </a:ln>
        </p:spPr>
      </p:sp>
      <p:sp>
        <p:nvSpPr>
          <p:cNvPr id="35" name="Text 33"/>
          <p:cNvSpPr/>
          <p:nvPr/>
        </p:nvSpPr>
        <p:spPr>
          <a:xfrm>
            <a:off x="640080" y="3511296"/>
            <a:ext cx="329184" cy="329184"/>
          </a:xfrm>
          <a:prstGeom prst="rect">
            <a:avLst/>
          </a:prstGeom>
          <a:noFill/>
          <a:ln/>
        </p:spPr>
        <p:txBody>
          <a:bodyPr wrap="square" lIns="0" tIns="0" rIns="0" bIns="0" rtlCol="0" anchor="ctr"/>
          <a:lstStyle/>
          <a:p>
            <a:pPr algn="ctr" indent="0" marL="0">
              <a:buNone/>
            </a:pPr>
            <a:r>
              <a:rPr lang="en-US" sz="1300" b="1" dirty="0">
                <a:solidFill>
                  <a:srgbClr val="7C5CFF"/>
                </a:solidFill>
                <a:latin typeface="Instrument Sans" pitchFamily="34" charset="0"/>
                <a:ea typeface="Instrument Sans" pitchFamily="34" charset="-122"/>
                <a:cs typeface="Instrument Sans" pitchFamily="34" charset="-120"/>
              </a:rPr>
              <a:t>6</a:t>
            </a:r>
            <a:endParaRPr lang="en-US" sz="1300" dirty="0"/>
          </a:p>
        </p:txBody>
      </p:sp>
      <p:sp>
        <p:nvSpPr>
          <p:cNvPr id="36" name="Text 34"/>
          <p:cNvSpPr/>
          <p:nvPr/>
        </p:nvSpPr>
        <p:spPr>
          <a:xfrm>
            <a:off x="1097280" y="3493008"/>
            <a:ext cx="2560320" cy="320040"/>
          </a:xfrm>
          <a:prstGeom prst="rect">
            <a:avLst/>
          </a:prstGeom>
          <a:noFill/>
          <a:ln/>
        </p:spPr>
        <p:txBody>
          <a:bodyPr wrap="square" lIns="0" tIns="0" rIns="0" bIns="0" rtlCol="0" anchor="ctr"/>
          <a:lstStyle/>
          <a:p>
            <a:pPr indent="0" marL="0">
              <a:buNone/>
            </a:pPr>
            <a:r>
              <a:rPr lang="en-US" sz="1450" b="1" dirty="0">
                <a:solidFill>
                  <a:srgbClr val="FFFFFF"/>
                </a:solidFill>
                <a:latin typeface="Instrument Sans" pitchFamily="34" charset="0"/>
                <a:ea typeface="Instrument Sans" pitchFamily="34" charset="-122"/>
                <a:cs typeface="Instrument Sans" pitchFamily="34" charset="-120"/>
              </a:rPr>
              <a:t>Synthesize and close</a:t>
            </a:r>
            <a:endParaRPr lang="en-US" sz="1450" dirty="0"/>
          </a:p>
        </p:txBody>
      </p:sp>
      <p:sp>
        <p:nvSpPr>
          <p:cNvPr id="37" name="Text 35"/>
          <p:cNvSpPr/>
          <p:nvPr/>
        </p:nvSpPr>
        <p:spPr>
          <a:xfrm>
            <a:off x="1097280" y="3849624"/>
            <a:ext cx="2560320" cy="731520"/>
          </a:xfrm>
          <a:prstGeom prst="rect">
            <a:avLst/>
          </a:prstGeom>
          <a:noFill/>
          <a:ln/>
        </p:spPr>
        <p:txBody>
          <a:bodyPr wrap="square" lIns="0" tIns="0" rIns="0" bIns="0" rtlCol="0" anchor="ctr"/>
          <a:lstStyle/>
          <a:p>
            <a:pPr indent="0" marL="0">
              <a:buNone/>
            </a:pPr>
            <a:r>
              <a:rPr lang="en-US" sz="1150" dirty="0">
                <a:solidFill>
                  <a:srgbClr val="E6E6EB"/>
                </a:solidFill>
                <a:latin typeface="Instrument Sans" pitchFamily="34" charset="0"/>
                <a:ea typeface="Instrument Sans" pitchFamily="34" charset="-122"/>
                <a:cs typeface="Instrument Sans" pitchFamily="34" charset="-120"/>
              </a:rPr>
              <a:t>decision, owner, evidence, next action</a:t>
            </a:r>
            <a:endParaRPr lang="en-US" sz="1150" dirty="0"/>
          </a:p>
        </p:txBody>
      </p:sp>
      <p:sp>
        <p:nvSpPr>
          <p:cNvPr id="38" name="Shape 36"/>
          <p:cNvSpPr/>
          <p:nvPr/>
        </p:nvSpPr>
        <p:spPr>
          <a:xfrm>
            <a:off x="7854696" y="4023360"/>
            <a:ext cx="420624" cy="0"/>
          </a:xfrm>
          <a:prstGeom prst="line">
            <a:avLst/>
          </a:prstGeom>
          <a:noFill/>
          <a:ln w="22225">
            <a:solidFill>
              <a:srgbClr val="4A4A58"/>
            </a:solidFill>
            <a:prstDash val="solid"/>
            <a:headEnd type="triangle"/>
          </a:ln>
        </p:spPr>
      </p:sp>
      <p:sp>
        <p:nvSpPr>
          <p:cNvPr id="39" name="Shape 37"/>
          <p:cNvSpPr/>
          <p:nvPr/>
        </p:nvSpPr>
        <p:spPr>
          <a:xfrm>
            <a:off x="3913632" y="4023360"/>
            <a:ext cx="420624" cy="0"/>
          </a:xfrm>
          <a:prstGeom prst="line">
            <a:avLst/>
          </a:prstGeom>
          <a:noFill/>
          <a:ln w="22225">
            <a:solidFill>
              <a:srgbClr val="4A4A58"/>
            </a:solidFill>
            <a:prstDash val="solid"/>
            <a:headEnd type="triangle"/>
          </a:ln>
        </p:spPr>
      </p:sp>
      <p:sp>
        <p:nvSpPr>
          <p:cNvPr id="40" name="Shape 38"/>
          <p:cNvSpPr/>
          <p:nvPr/>
        </p:nvSpPr>
        <p:spPr>
          <a:xfrm>
            <a:off x="457200" y="5120640"/>
            <a:ext cx="11274552" cy="1188720"/>
          </a:xfrm>
          <a:prstGeom prst="roundRect">
            <a:avLst>
              <a:gd name="adj" fmla="val 6154"/>
            </a:avLst>
          </a:prstGeom>
          <a:solidFill>
            <a:srgbClr val="2A2347"/>
          </a:solidFill>
          <a:ln w="12700">
            <a:solidFill>
              <a:srgbClr val="7C5CFF"/>
            </a:solidFill>
            <a:prstDash val="solid"/>
          </a:ln>
        </p:spPr>
      </p:sp>
      <p:sp>
        <p:nvSpPr>
          <p:cNvPr id="41" name="Text 39"/>
          <p:cNvSpPr/>
          <p:nvPr/>
        </p:nvSpPr>
        <p:spPr>
          <a:xfrm>
            <a:off x="731520" y="5257800"/>
            <a:ext cx="10725912" cy="914400"/>
          </a:xfrm>
          <a:prstGeom prst="rect">
            <a:avLst/>
          </a:prstGeom>
          <a:noFill/>
          <a:ln/>
        </p:spPr>
        <p:txBody>
          <a:bodyPr wrap="square" lIns="0" tIns="0" rIns="0" bIns="0" rtlCol="0" anchor="t"/>
          <a:lstStyle/>
          <a:p>
            <a:pPr indent="0" marL="0">
              <a:spcAft>
                <a:spcPts val="600"/>
              </a:spcAft>
              <a:buNone/>
            </a:pPr>
            <a:r>
              <a:rPr lang="en-US" sz="1250" b="1" dirty="0">
                <a:solidFill>
                  <a:srgbClr val="7C5CFF"/>
                </a:solidFill>
                <a:latin typeface="Instrument Sans" pitchFamily="34" charset="0"/>
                <a:ea typeface="Instrument Sans" pitchFamily="34" charset="-122"/>
                <a:cs typeface="Instrument Sans" pitchFamily="34" charset="-120"/>
              </a:rPr>
              <a:t>Safety rule:  </a:t>
            </a:r>
            <a:pPr indent="0" marL="0">
              <a:spcAft>
                <a:spcPts val="600"/>
              </a:spcAft>
              <a:buNone/>
            </a:pPr>
            <a:r>
              <a:rPr lang="en-US" sz="1250" dirty="0">
                <a:solidFill>
                  <a:srgbClr val="FFFFFF"/>
                </a:solidFill>
                <a:latin typeface="Instrument Sans" pitchFamily="34" charset="0"/>
                <a:ea typeface="Instrument Sans" pitchFamily="34" charset="-122"/>
                <a:cs typeface="Instrument Sans" pitchFamily="34" charset="-120"/>
              </a:rPr>
              <a:t>any mutating write along the way (HubSpot changes, monday updates, Slack sends) pauses for human approval first, unless a specific automation skill was invoked.</a:t>
            </a:r>
            <a:endParaRPr lang="en-US" sz="1250" dirty="0"/>
          </a:p>
          <a:p>
            <a:pPr indent="0" marL="0">
              <a:spcAft>
                <a:spcPts val="600"/>
              </a:spcAft>
              <a:buNone/>
            </a:pPr>
            <a:r>
              <a:rPr lang="en-US" sz="1250" b="1" dirty="0">
                <a:solidFill>
                  <a:srgbClr val="7C5CFF"/>
                </a:solidFill>
                <a:latin typeface="Instrument Sans" pitchFamily="34" charset="0"/>
                <a:ea typeface="Instrument Sans" pitchFamily="34" charset="-122"/>
                <a:cs typeface="Instrument Sans" pitchFamily="34" charset="-120"/>
              </a:rPr>
              <a:t>Data rule:  </a:t>
            </a:r>
            <a:pPr indent="0" marL="0">
              <a:spcAft>
                <a:spcPts val="600"/>
              </a:spcAft>
              <a:buNone/>
            </a:pPr>
            <a:r>
              <a:rPr lang="en-US" sz="1250" dirty="0">
                <a:solidFill>
                  <a:srgbClr val="FFFFFF"/>
                </a:solidFill>
                <a:latin typeface="Instrument Sans" pitchFamily="34" charset="0"/>
                <a:ea typeface="Instrument Sans" pitchFamily="34" charset="-122"/>
                <a:cs typeface="Instrument Sans" pitchFamily="34" charset="-120"/>
              </a:rPr>
              <a:t>data questions go to Rivermind first; the skill agent only falls back to direct Omni or Snowflake when Rivermind lacks coverage.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F14"/>
        </a:solidFill>
      </p:bgPr>
    </p:bg>
    <p:spTree>
      <p:nvGrpSpPr>
        <p:cNvPr id="1" name=""/>
        <p:cNvGrpSpPr/>
        <p:nvPr/>
      </p:nvGrpSpPr>
      <p:grpSpPr>
        <a:xfrm>
          <a:off x="0" y="0"/>
          <a:ext cx="0" cy="0"/>
          <a:chOff x="0" y="0"/>
          <a:chExt cx="0" cy="0"/>
        </a:xfrm>
      </p:grpSpPr>
      <p:sp>
        <p:nvSpPr>
          <p:cNvPr id="2" name="Shape 0"/>
          <p:cNvSpPr/>
          <p:nvPr/>
        </p:nvSpPr>
        <p:spPr>
          <a:xfrm>
            <a:off x="11759184" y="384048"/>
            <a:ext cx="118872" cy="118872"/>
          </a:xfrm>
          <a:prstGeom prst="ellipse">
            <a:avLst/>
          </a:prstGeom>
          <a:solidFill>
            <a:srgbClr val="7C5CFF"/>
          </a:solidFill>
          <a:ln/>
        </p:spPr>
      </p:sp>
      <p:sp>
        <p:nvSpPr>
          <p:cNvPr id="3" name="Text 1"/>
          <p:cNvSpPr/>
          <p:nvPr/>
        </p:nvSpPr>
        <p:spPr>
          <a:xfrm>
            <a:off x="457200" y="274320"/>
            <a:ext cx="10789920" cy="502920"/>
          </a:xfrm>
          <a:prstGeom prst="rect">
            <a:avLst/>
          </a:prstGeom>
          <a:noFill/>
          <a:ln/>
        </p:spPr>
        <p:txBody>
          <a:bodyPr wrap="square" lIns="0" tIns="0" rIns="0" bIns="0" rtlCol="0" anchor="ctr"/>
          <a:lstStyle/>
          <a:p>
            <a:pPr indent="0" marL="0">
              <a:buNone/>
            </a:pPr>
            <a:r>
              <a:rPr lang="en-US" sz="2600" b="1" dirty="0">
                <a:solidFill>
                  <a:srgbClr val="FFFFFF"/>
                </a:solidFill>
                <a:latin typeface="Instrument Sans" pitchFamily="34" charset="0"/>
                <a:ea typeface="Instrument Sans" pitchFamily="34" charset="-122"/>
                <a:cs typeface="Instrument Sans" pitchFamily="34" charset="-120"/>
              </a:rPr>
              <a:t>Progressive disclosure, what loads when</a:t>
            </a:r>
            <a:endParaRPr lang="en-US" sz="2600" dirty="0"/>
          </a:p>
        </p:txBody>
      </p:sp>
      <p:sp>
        <p:nvSpPr>
          <p:cNvPr id="4" name="Text 2"/>
          <p:cNvSpPr/>
          <p:nvPr/>
        </p:nvSpPr>
        <p:spPr>
          <a:xfrm>
            <a:off x="457200" y="804672"/>
            <a:ext cx="11247120" cy="347472"/>
          </a:xfrm>
          <a:prstGeom prst="rect">
            <a:avLst/>
          </a:prstGeom>
          <a:noFill/>
          <a:ln/>
        </p:spPr>
        <p:txBody>
          <a:bodyPr wrap="square" lIns="0" tIns="0" rIns="0" bIns="0" rtlCol="0" anchor="ct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The brain is a map, not a library: a session starts with one file and pulls depth only when the task needs it</a:t>
            </a:r>
            <a:endParaRPr lang="en-US" sz="1250" dirty="0"/>
          </a:p>
        </p:txBody>
      </p:sp>
      <p:sp>
        <p:nvSpPr>
          <p:cNvPr id="5" name="Shape 3"/>
          <p:cNvSpPr/>
          <p:nvPr/>
        </p:nvSpPr>
        <p:spPr>
          <a:xfrm>
            <a:off x="457200" y="1417320"/>
            <a:ext cx="11274552" cy="1024128"/>
          </a:xfrm>
          <a:prstGeom prst="roundRect">
            <a:avLst>
              <a:gd name="adj" fmla="val 7143"/>
            </a:avLst>
          </a:prstGeom>
          <a:solidFill>
            <a:srgbClr val="2A2347"/>
          </a:solidFill>
          <a:ln w="12700">
            <a:solidFill>
              <a:srgbClr val="7C5CFF"/>
            </a:solidFill>
            <a:prstDash val="solid"/>
          </a:ln>
        </p:spPr>
      </p:sp>
      <p:sp>
        <p:nvSpPr>
          <p:cNvPr id="6" name="Text 4"/>
          <p:cNvSpPr/>
          <p:nvPr/>
        </p:nvSpPr>
        <p:spPr>
          <a:xfrm>
            <a:off x="731520" y="1545336"/>
            <a:ext cx="2011680" cy="777240"/>
          </a:xfrm>
          <a:prstGeom prst="rect">
            <a:avLst/>
          </a:prstGeom>
          <a:noFill/>
          <a:ln/>
        </p:spPr>
        <p:txBody>
          <a:bodyPr wrap="square" lIns="0" tIns="0" rIns="0" bIns="0" rtlCol="0" anchor="ctr"/>
          <a:lstStyle/>
          <a:p>
            <a:pPr indent="0" marL="0">
              <a:buNone/>
            </a:pPr>
            <a:r>
              <a:rPr lang="en-US" sz="1050" b="1" spc="150" kern="0" dirty="0">
                <a:solidFill>
                  <a:srgbClr val="7C5CFF"/>
                </a:solidFill>
                <a:latin typeface="Instrument Sans" pitchFamily="34" charset="0"/>
                <a:ea typeface="Instrument Sans" pitchFamily="34" charset="-122"/>
                <a:cs typeface="Instrument Sans" pitchFamily="34" charset="-120"/>
              </a:rPr>
              <a:t>ALWAYS LOADED</a:t>
            </a:r>
            <a:endParaRPr lang="en-US" sz="1050" dirty="0"/>
          </a:p>
        </p:txBody>
      </p:sp>
      <p:sp>
        <p:nvSpPr>
          <p:cNvPr id="7" name="Text 5"/>
          <p:cNvSpPr/>
          <p:nvPr/>
        </p:nvSpPr>
        <p:spPr>
          <a:xfrm>
            <a:off x="2926080" y="1563624"/>
            <a:ext cx="8595360" cy="384048"/>
          </a:xfrm>
          <a:prstGeom prst="rect">
            <a:avLst/>
          </a:prstGeom>
          <a:noFill/>
          <a:ln/>
        </p:spPr>
        <p:txBody>
          <a:bodyPr wrap="square" lIns="0" tIns="0" rIns="0" bIns="0" rtlCol="0" anchor="ctr"/>
          <a:lstStyle/>
          <a:p>
            <a:pPr indent="0" marL="0">
              <a:buNone/>
            </a:pPr>
            <a:r>
              <a:rPr lang="en-US" sz="1350" b="1" dirty="0">
                <a:solidFill>
                  <a:srgbClr val="FFFFFF"/>
                </a:solidFill>
                <a:latin typeface="Instrument Sans" pitchFamily="34" charset="0"/>
                <a:ea typeface="Instrument Sans" pitchFamily="34" charset="-122"/>
                <a:cs typeface="Instrument Sans" pitchFamily="34" charset="-120"/>
              </a:rPr>
              <a:t>CLAUDE.md</a:t>
            </a:r>
            <a:endParaRPr lang="en-US" sz="1350" dirty="0"/>
          </a:p>
        </p:txBody>
      </p:sp>
      <p:sp>
        <p:nvSpPr>
          <p:cNvPr id="8" name="Text 6"/>
          <p:cNvSpPr/>
          <p:nvPr/>
        </p:nvSpPr>
        <p:spPr>
          <a:xfrm>
            <a:off x="2926080" y="1965960"/>
            <a:ext cx="8595360" cy="365760"/>
          </a:xfrm>
          <a:prstGeom prst="rect">
            <a:avLst/>
          </a:prstGeom>
          <a:noFill/>
          <a:ln/>
        </p:spPr>
        <p:txBody>
          <a:bodyPr wrap="square" lIns="0" tIns="0" rIns="0" bIns="0" rtlCol="0" anchor="ctr"/>
          <a:lstStyle/>
          <a:p>
            <a:pPr indent="0" marL="0">
              <a:buNone/>
            </a:pPr>
            <a:r>
              <a:rPr lang="en-US" sz="1150" dirty="0">
                <a:solidFill>
                  <a:srgbClr val="E6E6EB"/>
                </a:solidFill>
                <a:latin typeface="Instrument Sans" pitchFamily="34" charset="0"/>
                <a:ea typeface="Instrument Sans" pitchFamily="34" charset="-122"/>
                <a:cs typeface="Instrument Sans" pitchFamily="34" charset="-120"/>
              </a:rPr>
              <a:t>Team identity, task routing tables, directives, pointers to everything else.</a:t>
            </a:r>
            <a:endParaRPr lang="en-US" sz="1150" dirty="0"/>
          </a:p>
        </p:txBody>
      </p:sp>
      <p:sp>
        <p:nvSpPr>
          <p:cNvPr id="9" name="Shape 7"/>
          <p:cNvSpPr/>
          <p:nvPr/>
        </p:nvSpPr>
        <p:spPr>
          <a:xfrm>
            <a:off x="457200" y="2624328"/>
            <a:ext cx="11274552" cy="1024128"/>
          </a:xfrm>
          <a:prstGeom prst="roundRect">
            <a:avLst>
              <a:gd name="adj" fmla="val 7143"/>
            </a:avLst>
          </a:prstGeom>
          <a:solidFill>
            <a:srgbClr val="1C1C24"/>
          </a:solidFill>
          <a:ln w="12700">
            <a:solidFill>
              <a:srgbClr val="2A2A35"/>
            </a:solidFill>
            <a:prstDash val="solid"/>
          </a:ln>
        </p:spPr>
      </p:sp>
      <p:sp>
        <p:nvSpPr>
          <p:cNvPr id="10" name="Text 8"/>
          <p:cNvSpPr/>
          <p:nvPr/>
        </p:nvSpPr>
        <p:spPr>
          <a:xfrm>
            <a:off x="731520" y="2752344"/>
            <a:ext cx="2011680" cy="777240"/>
          </a:xfrm>
          <a:prstGeom prst="rect">
            <a:avLst/>
          </a:prstGeom>
          <a:noFill/>
          <a:ln/>
        </p:spPr>
        <p:txBody>
          <a:bodyPr wrap="square" lIns="0" tIns="0" rIns="0" bIns="0" rtlCol="0" anchor="ctr"/>
          <a:lstStyle/>
          <a:p>
            <a:pPr indent="0" marL="0">
              <a:buNone/>
            </a:pPr>
            <a:r>
              <a:rPr lang="en-US" sz="1050" b="1" spc="150" kern="0" dirty="0">
                <a:solidFill>
                  <a:srgbClr val="7C5CFF"/>
                </a:solidFill>
                <a:latin typeface="Instrument Sans" pitchFamily="34" charset="0"/>
                <a:ea typeface="Instrument Sans" pitchFamily="34" charset="-122"/>
                <a:cs typeface="Instrument Sans" pitchFamily="34" charset="-120"/>
              </a:rPr>
              <a:t>ON DEMAND</a:t>
            </a:r>
            <a:endParaRPr lang="en-US" sz="1050" dirty="0"/>
          </a:p>
        </p:txBody>
      </p:sp>
      <p:sp>
        <p:nvSpPr>
          <p:cNvPr id="11" name="Text 9"/>
          <p:cNvSpPr/>
          <p:nvPr/>
        </p:nvSpPr>
        <p:spPr>
          <a:xfrm>
            <a:off x="2926080" y="2770632"/>
            <a:ext cx="8595360" cy="384048"/>
          </a:xfrm>
          <a:prstGeom prst="rect">
            <a:avLst/>
          </a:prstGeom>
          <a:noFill/>
          <a:ln/>
        </p:spPr>
        <p:txBody>
          <a:bodyPr wrap="square" lIns="0" tIns="0" rIns="0" bIns="0" rtlCol="0" anchor="ctr"/>
          <a:lstStyle/>
          <a:p>
            <a:pPr indent="0" marL="0">
              <a:buNone/>
            </a:pPr>
            <a:r>
              <a:rPr lang="en-US" sz="1350" b="1" dirty="0">
                <a:solidFill>
                  <a:srgbClr val="FFFFFF"/>
                </a:solidFill>
                <a:latin typeface="Instrument Sans" pitchFamily="34" charset="0"/>
                <a:ea typeface="Instrument Sans" pitchFamily="34" charset="-122"/>
                <a:cs typeface="Instrument Sans" pitchFamily="34" charset="-120"/>
              </a:rPr>
              <a:t>references/  (team, boards, Slack, messaging)   systems/owned/   systems/reference/</a:t>
            </a:r>
            <a:endParaRPr lang="en-US" sz="1350" dirty="0"/>
          </a:p>
        </p:txBody>
      </p:sp>
      <p:sp>
        <p:nvSpPr>
          <p:cNvPr id="12" name="Text 10"/>
          <p:cNvSpPr/>
          <p:nvPr/>
        </p:nvSpPr>
        <p:spPr>
          <a:xfrm>
            <a:off x="2926080" y="3172968"/>
            <a:ext cx="8595360" cy="365760"/>
          </a:xfrm>
          <a:prstGeom prst="rect">
            <a:avLst/>
          </a:prstGeom>
          <a:noFill/>
          <a:ln/>
        </p:spPr>
        <p:txBody>
          <a:bodyPr wrap="square" lIns="0" tIns="0" rIns="0" bIns="0" rtlCol="0" anchor="ctr"/>
          <a:lstStyle/>
          <a:p>
            <a:pPr indent="0" marL="0">
              <a:buNone/>
            </a:pPr>
            <a:r>
              <a:rPr lang="en-US" sz="1150" dirty="0">
                <a:solidFill>
                  <a:srgbClr val="E6E6EB"/>
                </a:solidFill>
                <a:latin typeface="Instrument Sans" pitchFamily="34" charset="0"/>
                <a:ea typeface="Instrument Sans" pitchFamily="34" charset="-122"/>
                <a:cs typeface="Instrument Sans" pitchFamily="34" charset="-120"/>
              </a:rPr>
              <a:t>Loaded when a task mentions the system, without being asked.</a:t>
            </a:r>
            <a:endParaRPr lang="en-US" sz="1150" dirty="0"/>
          </a:p>
        </p:txBody>
      </p:sp>
      <p:sp>
        <p:nvSpPr>
          <p:cNvPr id="13" name="Shape 11"/>
          <p:cNvSpPr/>
          <p:nvPr/>
        </p:nvSpPr>
        <p:spPr>
          <a:xfrm>
            <a:off x="457200" y="3831336"/>
            <a:ext cx="11274552" cy="1024128"/>
          </a:xfrm>
          <a:prstGeom prst="roundRect">
            <a:avLst>
              <a:gd name="adj" fmla="val 7143"/>
            </a:avLst>
          </a:prstGeom>
          <a:solidFill>
            <a:srgbClr val="1C1C24"/>
          </a:solidFill>
          <a:ln w="12700">
            <a:solidFill>
              <a:srgbClr val="2A2A35"/>
            </a:solidFill>
            <a:prstDash val="solid"/>
          </a:ln>
        </p:spPr>
      </p:sp>
      <p:sp>
        <p:nvSpPr>
          <p:cNvPr id="14" name="Text 12"/>
          <p:cNvSpPr/>
          <p:nvPr/>
        </p:nvSpPr>
        <p:spPr>
          <a:xfrm>
            <a:off x="731520" y="3959352"/>
            <a:ext cx="2011680" cy="777240"/>
          </a:xfrm>
          <a:prstGeom prst="rect">
            <a:avLst/>
          </a:prstGeom>
          <a:noFill/>
          <a:ln/>
        </p:spPr>
        <p:txBody>
          <a:bodyPr wrap="square" lIns="0" tIns="0" rIns="0" bIns="0" rtlCol="0" anchor="ctr"/>
          <a:lstStyle/>
          <a:p>
            <a:pPr indent="0" marL="0">
              <a:buNone/>
            </a:pPr>
            <a:r>
              <a:rPr lang="en-US" sz="1050" b="1" spc="150" kern="0" dirty="0">
                <a:solidFill>
                  <a:srgbClr val="7C5CFF"/>
                </a:solidFill>
                <a:latin typeface="Instrument Sans" pitchFamily="34" charset="0"/>
                <a:ea typeface="Instrument Sans" pitchFamily="34" charset="-122"/>
                <a:cs typeface="Instrument Sans" pitchFamily="34" charset="-120"/>
              </a:rPr>
              <a:t>ON TRIGGER</a:t>
            </a:r>
            <a:endParaRPr lang="en-US" sz="1050" dirty="0"/>
          </a:p>
        </p:txBody>
      </p:sp>
      <p:sp>
        <p:nvSpPr>
          <p:cNvPr id="15" name="Text 13"/>
          <p:cNvSpPr/>
          <p:nvPr/>
        </p:nvSpPr>
        <p:spPr>
          <a:xfrm>
            <a:off x="2926080" y="3977640"/>
            <a:ext cx="8595360" cy="384048"/>
          </a:xfrm>
          <a:prstGeom prst="rect">
            <a:avLst/>
          </a:prstGeom>
          <a:noFill/>
          <a:ln/>
        </p:spPr>
        <p:txBody>
          <a:bodyPr wrap="square" lIns="0" tIns="0" rIns="0" bIns="0" rtlCol="0" anchor="ctr"/>
          <a:lstStyle/>
          <a:p>
            <a:pPr indent="0" marL="0">
              <a:buNone/>
            </a:pPr>
            <a:r>
              <a:rPr lang="en-US" sz="1350" b="1" dirty="0">
                <a:solidFill>
                  <a:srgbClr val="FFFFFF"/>
                </a:solidFill>
                <a:latin typeface="Instrument Sans" pitchFamily="34" charset="0"/>
                <a:ea typeface="Instrument Sans" pitchFamily="34" charset="-122"/>
                <a:cs typeface="Instrument Sans" pitchFamily="34" charset="-120"/>
              </a:rPr>
              <a:t>.claude/skills/  (61 skills)   .claude/agents/  (specialist subagents)</a:t>
            </a:r>
            <a:endParaRPr lang="en-US" sz="1350" dirty="0"/>
          </a:p>
        </p:txBody>
      </p:sp>
      <p:sp>
        <p:nvSpPr>
          <p:cNvPr id="16" name="Text 14"/>
          <p:cNvSpPr/>
          <p:nvPr/>
        </p:nvSpPr>
        <p:spPr>
          <a:xfrm>
            <a:off x="2926080" y="4379976"/>
            <a:ext cx="8595360" cy="365760"/>
          </a:xfrm>
          <a:prstGeom prst="rect">
            <a:avLst/>
          </a:prstGeom>
          <a:noFill/>
          <a:ln/>
        </p:spPr>
        <p:txBody>
          <a:bodyPr wrap="square" lIns="0" tIns="0" rIns="0" bIns="0" rtlCol="0" anchor="ctr"/>
          <a:lstStyle/>
          <a:p>
            <a:pPr indent="0" marL="0">
              <a:buNone/>
            </a:pPr>
            <a:r>
              <a:rPr lang="en-US" sz="1150" dirty="0">
                <a:solidFill>
                  <a:srgbClr val="E6E6EB"/>
                </a:solidFill>
                <a:latin typeface="Instrument Sans" pitchFamily="34" charset="0"/>
                <a:ea typeface="Instrument Sans" pitchFamily="34" charset="-122"/>
                <a:cs typeface="Instrument Sans" pitchFamily="34" charset="-120"/>
              </a:rPr>
              <a:t>A skill's SKILL.md loads only when its trigger fires or the router delegates to it.</a:t>
            </a:r>
            <a:endParaRPr lang="en-US" sz="1150" dirty="0"/>
          </a:p>
        </p:txBody>
      </p:sp>
      <p:sp>
        <p:nvSpPr>
          <p:cNvPr id="17" name="Shape 15"/>
          <p:cNvSpPr/>
          <p:nvPr/>
        </p:nvSpPr>
        <p:spPr>
          <a:xfrm>
            <a:off x="457200" y="5038344"/>
            <a:ext cx="11274552" cy="1024128"/>
          </a:xfrm>
          <a:prstGeom prst="roundRect">
            <a:avLst>
              <a:gd name="adj" fmla="val 7143"/>
            </a:avLst>
          </a:prstGeom>
          <a:solidFill>
            <a:srgbClr val="1C1C24"/>
          </a:solidFill>
          <a:ln w="12700">
            <a:solidFill>
              <a:srgbClr val="2A2A35"/>
            </a:solidFill>
            <a:prstDash val="solid"/>
          </a:ln>
        </p:spPr>
      </p:sp>
      <p:sp>
        <p:nvSpPr>
          <p:cNvPr id="18" name="Text 16"/>
          <p:cNvSpPr/>
          <p:nvPr/>
        </p:nvSpPr>
        <p:spPr>
          <a:xfrm>
            <a:off x="731520" y="5166360"/>
            <a:ext cx="2011680" cy="777240"/>
          </a:xfrm>
          <a:prstGeom prst="rect">
            <a:avLst/>
          </a:prstGeom>
          <a:noFill/>
          <a:ln/>
        </p:spPr>
        <p:txBody>
          <a:bodyPr wrap="square" lIns="0" tIns="0" rIns="0" bIns="0" rtlCol="0" anchor="ctr"/>
          <a:lstStyle/>
          <a:p>
            <a:pPr indent="0" marL="0">
              <a:buNone/>
            </a:pPr>
            <a:r>
              <a:rPr lang="en-US" sz="1050" b="1" spc="150" kern="0" dirty="0">
                <a:solidFill>
                  <a:srgbClr val="7C5CFF"/>
                </a:solidFill>
                <a:latin typeface="Instrument Sans" pitchFamily="34" charset="0"/>
                <a:ea typeface="Instrument Sans" pitchFamily="34" charset="-122"/>
                <a:cs typeface="Instrument Sans" pitchFamily="34" charset="-120"/>
              </a:rPr>
              <a:t>DEEP, IN A SKILL</a:t>
            </a:r>
            <a:endParaRPr lang="en-US" sz="1050" dirty="0"/>
          </a:p>
        </p:txBody>
      </p:sp>
      <p:sp>
        <p:nvSpPr>
          <p:cNvPr id="19" name="Text 17"/>
          <p:cNvSpPr/>
          <p:nvPr/>
        </p:nvSpPr>
        <p:spPr>
          <a:xfrm>
            <a:off x="2926080" y="5184648"/>
            <a:ext cx="8595360" cy="384048"/>
          </a:xfrm>
          <a:prstGeom prst="rect">
            <a:avLst/>
          </a:prstGeom>
          <a:noFill/>
          <a:ln/>
        </p:spPr>
        <p:txBody>
          <a:bodyPr wrap="square" lIns="0" tIns="0" rIns="0" bIns="0" rtlCol="0" anchor="ctr"/>
          <a:lstStyle/>
          <a:p>
            <a:pPr indent="0" marL="0">
              <a:buNone/>
            </a:pPr>
            <a:r>
              <a:rPr lang="en-US" sz="1350" b="1" dirty="0">
                <a:solidFill>
                  <a:srgbClr val="FFFFFF"/>
                </a:solidFill>
                <a:latin typeface="Instrument Sans" pitchFamily="34" charset="0"/>
                <a:ea typeface="Instrument Sans" pitchFamily="34" charset="-122"/>
                <a:cs typeface="Instrument Sans" pitchFamily="34" charset="-120"/>
              </a:rPr>
              <a:t>skills/*/knowledge/*.md</a:t>
            </a:r>
            <a:endParaRPr lang="en-US" sz="1350" dirty="0"/>
          </a:p>
        </p:txBody>
      </p:sp>
      <p:sp>
        <p:nvSpPr>
          <p:cNvPr id="20" name="Text 18"/>
          <p:cNvSpPr/>
          <p:nvPr/>
        </p:nvSpPr>
        <p:spPr>
          <a:xfrm>
            <a:off x="2926080" y="5586984"/>
            <a:ext cx="8595360" cy="365760"/>
          </a:xfrm>
          <a:prstGeom prst="rect">
            <a:avLst/>
          </a:prstGeom>
          <a:noFill/>
          <a:ln/>
        </p:spPr>
        <p:txBody>
          <a:bodyPr wrap="square" lIns="0" tIns="0" rIns="0" bIns="0" rtlCol="0" anchor="ctr"/>
          <a:lstStyle/>
          <a:p>
            <a:pPr indent="0" marL="0">
              <a:buNone/>
            </a:pPr>
            <a:r>
              <a:rPr lang="en-US" sz="1150" dirty="0">
                <a:solidFill>
                  <a:srgbClr val="E6E6EB"/>
                </a:solidFill>
                <a:latin typeface="Instrument Sans" pitchFamily="34" charset="0"/>
                <a:ea typeface="Instrument Sans" pitchFamily="34" charset="-122"/>
                <a:cs typeface="Instrument Sans" pitchFamily="34" charset="-120"/>
              </a:rPr>
              <a:t>Heavy reference content a skill pulls mid-run: queries, field dictionaries, configs.</a:t>
            </a:r>
            <a:endParaRPr lang="en-US" sz="1150" dirty="0"/>
          </a:p>
        </p:txBody>
      </p:sp>
      <p:sp>
        <p:nvSpPr>
          <p:cNvPr id="21" name="Text 19"/>
          <p:cNvSpPr/>
          <p:nvPr/>
        </p:nvSpPr>
        <p:spPr>
          <a:xfrm>
            <a:off x="457200" y="6355080"/>
            <a:ext cx="11247120" cy="320040"/>
          </a:xfrm>
          <a:prstGeom prst="rect">
            <a:avLst/>
          </a:prstGeom>
          <a:noFill/>
          <a:ln/>
        </p:spPr>
        <p:txBody>
          <a:bodyPr wrap="square" lIns="0" tIns="0" rIns="0" bIns="0" rtlCol="0" anchor="ctr"/>
          <a:lstStyle/>
          <a:p>
            <a:pPr indent="0" marL="0">
              <a:buNone/>
            </a:pPr>
            <a:r>
              <a:rPr lang="en-US" sz="1100" dirty="0">
                <a:solidFill>
                  <a:srgbClr val="9B9BA8"/>
                </a:solidFill>
                <a:latin typeface="Instrument Sans" pitchFamily="34" charset="0"/>
                <a:ea typeface="Instrument Sans" pitchFamily="34" charset="-122"/>
                <a:cs typeface="Instrument Sans" pitchFamily="34" charset="-120"/>
              </a:rPr>
              <a:t>Result: sessions start instant, context stays scoped, and 61 skills can coexist without drowning the router.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4"/>
        </a:solidFill>
      </p:bgPr>
    </p:bg>
    <p:spTree>
      <p:nvGrpSpPr>
        <p:cNvPr id="1" name=""/>
        <p:cNvGrpSpPr/>
        <p:nvPr/>
      </p:nvGrpSpPr>
      <p:grpSpPr>
        <a:xfrm>
          <a:off x="0" y="0"/>
          <a:ext cx="0" cy="0"/>
          <a:chOff x="0" y="0"/>
          <a:chExt cx="0" cy="0"/>
        </a:xfrm>
      </p:grpSpPr>
      <p:sp>
        <p:nvSpPr>
          <p:cNvPr id="2" name="Shape 0"/>
          <p:cNvSpPr/>
          <p:nvPr/>
        </p:nvSpPr>
        <p:spPr>
          <a:xfrm>
            <a:off x="11759184" y="384048"/>
            <a:ext cx="118872" cy="118872"/>
          </a:xfrm>
          <a:prstGeom prst="ellipse">
            <a:avLst/>
          </a:prstGeom>
          <a:solidFill>
            <a:srgbClr val="7C5CFF"/>
          </a:solidFill>
          <a:ln/>
        </p:spPr>
      </p:sp>
      <p:sp>
        <p:nvSpPr>
          <p:cNvPr id="3" name="Text 1"/>
          <p:cNvSpPr/>
          <p:nvPr/>
        </p:nvSpPr>
        <p:spPr>
          <a:xfrm>
            <a:off x="457200" y="274320"/>
            <a:ext cx="10789920" cy="502920"/>
          </a:xfrm>
          <a:prstGeom prst="rect">
            <a:avLst/>
          </a:prstGeom>
          <a:noFill/>
          <a:ln/>
        </p:spPr>
        <p:txBody>
          <a:bodyPr wrap="square" lIns="0" tIns="0" rIns="0" bIns="0" rtlCol="0" anchor="ctr"/>
          <a:lstStyle/>
          <a:p>
            <a:pPr indent="0" marL="0">
              <a:buNone/>
            </a:pPr>
            <a:r>
              <a:rPr lang="en-US" sz="2600" b="1" dirty="0">
                <a:solidFill>
                  <a:srgbClr val="FFFFFF"/>
                </a:solidFill>
                <a:latin typeface="Instrument Sans" pitchFamily="34" charset="0"/>
                <a:ea typeface="Instrument Sans" pitchFamily="34" charset="-122"/>
                <a:cs typeface="Instrument Sans" pitchFamily="34" charset="-120"/>
              </a:rPr>
              <a:t>The learning flywheel</a:t>
            </a:r>
            <a:endParaRPr lang="en-US" sz="2600" dirty="0"/>
          </a:p>
        </p:txBody>
      </p:sp>
      <p:sp>
        <p:nvSpPr>
          <p:cNvPr id="4" name="Text 2"/>
          <p:cNvSpPr/>
          <p:nvPr/>
        </p:nvSpPr>
        <p:spPr>
          <a:xfrm>
            <a:off x="457200" y="804672"/>
            <a:ext cx="11247120" cy="347472"/>
          </a:xfrm>
          <a:prstGeom prst="rect">
            <a:avLst/>
          </a:prstGeom>
          <a:noFill/>
          <a:ln/>
        </p:spPr>
        <p:txBody>
          <a:bodyPr wrap="square" lIns="0" tIns="0" rIns="0" bIns="0" rtlCol="0" anchor="ct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What turns a context repo into a compounding brain: every learning is a reviewed pull request, never tribal memory</a:t>
            </a:r>
            <a:endParaRPr lang="en-US" sz="1250" dirty="0"/>
          </a:p>
        </p:txBody>
      </p:sp>
      <p:sp>
        <p:nvSpPr>
          <p:cNvPr id="5" name="Shape 3"/>
          <p:cNvSpPr/>
          <p:nvPr/>
        </p:nvSpPr>
        <p:spPr>
          <a:xfrm>
            <a:off x="548640" y="1691640"/>
            <a:ext cx="3291840" cy="1143000"/>
          </a:xfrm>
          <a:prstGeom prst="roundRect">
            <a:avLst>
              <a:gd name="adj" fmla="val 6400"/>
            </a:avLst>
          </a:prstGeom>
          <a:solidFill>
            <a:srgbClr val="1C1C24"/>
          </a:solidFill>
          <a:ln w="12700">
            <a:solidFill>
              <a:srgbClr val="2A2A35"/>
            </a:solidFill>
            <a:prstDash val="solid"/>
          </a:ln>
        </p:spPr>
      </p:sp>
      <p:sp>
        <p:nvSpPr>
          <p:cNvPr id="6" name="Shape 4"/>
          <p:cNvSpPr/>
          <p:nvPr/>
        </p:nvSpPr>
        <p:spPr>
          <a:xfrm>
            <a:off x="713232" y="1856232"/>
            <a:ext cx="329184" cy="329184"/>
          </a:xfrm>
          <a:prstGeom prst="ellipse">
            <a:avLst/>
          </a:prstGeom>
          <a:solidFill>
            <a:srgbClr val="0F0F14"/>
          </a:solidFill>
          <a:ln w="19050">
            <a:solidFill>
              <a:srgbClr val="7C5CFF"/>
            </a:solidFill>
            <a:prstDash val="solid"/>
          </a:ln>
        </p:spPr>
      </p:sp>
      <p:sp>
        <p:nvSpPr>
          <p:cNvPr id="7" name="Text 5"/>
          <p:cNvSpPr/>
          <p:nvPr/>
        </p:nvSpPr>
        <p:spPr>
          <a:xfrm>
            <a:off x="713232" y="1847088"/>
            <a:ext cx="329184" cy="329184"/>
          </a:xfrm>
          <a:prstGeom prst="rect">
            <a:avLst/>
          </a:prstGeom>
          <a:noFill/>
          <a:ln/>
        </p:spPr>
        <p:txBody>
          <a:bodyPr wrap="square" lIns="0" tIns="0" rIns="0" bIns="0" rtlCol="0" anchor="ctr"/>
          <a:lstStyle/>
          <a:p>
            <a:pPr algn="ctr" indent="0" marL="0">
              <a:buNone/>
            </a:pPr>
            <a:r>
              <a:rPr lang="en-US" sz="1300" b="1" dirty="0">
                <a:solidFill>
                  <a:srgbClr val="7C5CFF"/>
                </a:solidFill>
                <a:latin typeface="Instrument Sans" pitchFamily="34" charset="0"/>
                <a:ea typeface="Instrument Sans" pitchFamily="34" charset="-122"/>
                <a:cs typeface="Instrument Sans" pitchFamily="34" charset="-120"/>
              </a:rPr>
              <a:t>1</a:t>
            </a:r>
            <a:endParaRPr lang="en-US" sz="1300" dirty="0"/>
          </a:p>
        </p:txBody>
      </p:sp>
      <p:sp>
        <p:nvSpPr>
          <p:cNvPr id="8" name="Text 6"/>
          <p:cNvSpPr/>
          <p:nvPr/>
        </p:nvSpPr>
        <p:spPr>
          <a:xfrm>
            <a:off x="1152144" y="1828800"/>
            <a:ext cx="2514600" cy="566928"/>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Run a task with the brain</a:t>
            </a:r>
            <a:endParaRPr lang="en-US" sz="1300" dirty="0"/>
          </a:p>
        </p:txBody>
      </p:sp>
      <p:sp>
        <p:nvSpPr>
          <p:cNvPr id="9" name="Text 7"/>
          <p:cNvSpPr/>
          <p:nvPr/>
        </p:nvSpPr>
        <p:spPr>
          <a:xfrm>
            <a:off x="1152144" y="2404872"/>
            <a:ext cx="2514600" cy="365760"/>
          </a:xfrm>
          <a:prstGeom prst="rect">
            <a:avLst/>
          </a:prstGeom>
          <a:noFill/>
          <a:ln/>
        </p:spPr>
        <p:txBody>
          <a:bodyPr wrap="square" lIns="0" tIns="0" rIns="0" bIns="0" rtlCol="0" anchor="ctr"/>
          <a:lstStyle/>
          <a:p>
            <a:pPr indent="0" marL="0">
              <a:buNone/>
            </a:pPr>
            <a:r>
              <a:rPr lang="en-US" sz="1050" dirty="0">
                <a:solidFill>
                  <a:srgbClr val="E6E6EB"/>
                </a:solidFill>
                <a:latin typeface="Instrument Sans" pitchFamily="34" charset="0"/>
                <a:ea typeface="Instrument Sans" pitchFamily="34" charset="-122"/>
                <a:cs typeface="Instrument Sans" pitchFamily="34" charset="-120"/>
              </a:rPr>
              <a:t>any skill, any session</a:t>
            </a:r>
            <a:endParaRPr lang="en-US" sz="1050" dirty="0"/>
          </a:p>
        </p:txBody>
      </p:sp>
      <p:sp>
        <p:nvSpPr>
          <p:cNvPr id="10" name="Shape 8"/>
          <p:cNvSpPr/>
          <p:nvPr/>
        </p:nvSpPr>
        <p:spPr>
          <a:xfrm>
            <a:off x="4453128" y="1691640"/>
            <a:ext cx="3291840" cy="1143000"/>
          </a:xfrm>
          <a:prstGeom prst="roundRect">
            <a:avLst>
              <a:gd name="adj" fmla="val 6400"/>
            </a:avLst>
          </a:prstGeom>
          <a:solidFill>
            <a:srgbClr val="1C1C24"/>
          </a:solidFill>
          <a:ln w="12700">
            <a:solidFill>
              <a:srgbClr val="2A2A35"/>
            </a:solidFill>
            <a:prstDash val="solid"/>
          </a:ln>
        </p:spPr>
      </p:sp>
      <p:sp>
        <p:nvSpPr>
          <p:cNvPr id="11" name="Shape 9"/>
          <p:cNvSpPr/>
          <p:nvPr/>
        </p:nvSpPr>
        <p:spPr>
          <a:xfrm>
            <a:off x="4617720" y="1856232"/>
            <a:ext cx="329184" cy="329184"/>
          </a:xfrm>
          <a:prstGeom prst="ellipse">
            <a:avLst/>
          </a:prstGeom>
          <a:solidFill>
            <a:srgbClr val="0F0F14"/>
          </a:solidFill>
          <a:ln w="19050">
            <a:solidFill>
              <a:srgbClr val="7C5CFF"/>
            </a:solidFill>
            <a:prstDash val="solid"/>
          </a:ln>
        </p:spPr>
      </p:sp>
      <p:sp>
        <p:nvSpPr>
          <p:cNvPr id="12" name="Text 10"/>
          <p:cNvSpPr/>
          <p:nvPr/>
        </p:nvSpPr>
        <p:spPr>
          <a:xfrm>
            <a:off x="4617720" y="1847088"/>
            <a:ext cx="329184" cy="329184"/>
          </a:xfrm>
          <a:prstGeom prst="rect">
            <a:avLst/>
          </a:prstGeom>
          <a:noFill/>
          <a:ln/>
        </p:spPr>
        <p:txBody>
          <a:bodyPr wrap="square" lIns="0" tIns="0" rIns="0" bIns="0" rtlCol="0" anchor="ctr"/>
          <a:lstStyle/>
          <a:p>
            <a:pPr algn="ctr" indent="0" marL="0">
              <a:buNone/>
            </a:pPr>
            <a:r>
              <a:rPr lang="en-US" sz="1300" b="1" dirty="0">
                <a:solidFill>
                  <a:srgbClr val="7C5CFF"/>
                </a:solidFill>
                <a:latin typeface="Instrument Sans" pitchFamily="34" charset="0"/>
                <a:ea typeface="Instrument Sans" pitchFamily="34" charset="-122"/>
                <a:cs typeface="Instrument Sans" pitchFamily="34" charset="-120"/>
              </a:rPr>
              <a:t>2</a:t>
            </a:r>
            <a:endParaRPr lang="en-US" sz="1300" dirty="0"/>
          </a:p>
        </p:txBody>
      </p:sp>
      <p:sp>
        <p:nvSpPr>
          <p:cNvPr id="13" name="Text 11"/>
          <p:cNvSpPr/>
          <p:nvPr/>
        </p:nvSpPr>
        <p:spPr>
          <a:xfrm>
            <a:off x="5056632" y="1828800"/>
            <a:ext cx="2514600" cy="566928"/>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A non-obvious learning surfaces</a:t>
            </a:r>
            <a:endParaRPr lang="en-US" sz="1300" dirty="0"/>
          </a:p>
        </p:txBody>
      </p:sp>
      <p:sp>
        <p:nvSpPr>
          <p:cNvPr id="14" name="Text 12"/>
          <p:cNvSpPr/>
          <p:nvPr/>
        </p:nvSpPr>
        <p:spPr>
          <a:xfrm>
            <a:off x="5056632" y="2404872"/>
            <a:ext cx="2514600" cy="365760"/>
          </a:xfrm>
          <a:prstGeom prst="rect">
            <a:avLst/>
          </a:prstGeom>
          <a:noFill/>
          <a:ln/>
        </p:spPr>
        <p:txBody>
          <a:bodyPr wrap="square" lIns="0" tIns="0" rIns="0" bIns="0" rtlCol="0" anchor="ctr"/>
          <a:lstStyle/>
          <a:p>
            <a:pPr indent="0" marL="0">
              <a:buNone/>
            </a:pPr>
            <a:r>
              <a:rPr lang="en-US" sz="1050" dirty="0">
                <a:solidFill>
                  <a:srgbClr val="E6E6EB"/>
                </a:solidFill>
                <a:latin typeface="Instrument Sans" pitchFamily="34" charset="0"/>
                <a:ea typeface="Instrument Sans" pitchFamily="34" charset="-122"/>
                <a:cs typeface="Instrument Sans" pitchFamily="34" charset="-120"/>
              </a:rPr>
              <a:t>platform quirk, missing step, gotcha</a:t>
            </a:r>
            <a:endParaRPr lang="en-US" sz="1050" dirty="0"/>
          </a:p>
        </p:txBody>
      </p:sp>
      <p:sp>
        <p:nvSpPr>
          <p:cNvPr id="15" name="Shape 13"/>
          <p:cNvSpPr/>
          <p:nvPr/>
        </p:nvSpPr>
        <p:spPr>
          <a:xfrm>
            <a:off x="8348472" y="1691640"/>
            <a:ext cx="3291840" cy="1143000"/>
          </a:xfrm>
          <a:prstGeom prst="roundRect">
            <a:avLst>
              <a:gd name="adj" fmla="val 6400"/>
            </a:avLst>
          </a:prstGeom>
          <a:solidFill>
            <a:srgbClr val="2A2347"/>
          </a:solidFill>
          <a:ln w="12700">
            <a:solidFill>
              <a:srgbClr val="7C5CFF"/>
            </a:solidFill>
            <a:prstDash val="solid"/>
          </a:ln>
        </p:spPr>
      </p:sp>
      <p:sp>
        <p:nvSpPr>
          <p:cNvPr id="16" name="Shape 14"/>
          <p:cNvSpPr/>
          <p:nvPr/>
        </p:nvSpPr>
        <p:spPr>
          <a:xfrm>
            <a:off x="8513064" y="1856232"/>
            <a:ext cx="329184" cy="329184"/>
          </a:xfrm>
          <a:prstGeom prst="ellipse">
            <a:avLst/>
          </a:prstGeom>
          <a:solidFill>
            <a:srgbClr val="0F0F14"/>
          </a:solidFill>
          <a:ln w="19050">
            <a:solidFill>
              <a:srgbClr val="7C5CFF"/>
            </a:solidFill>
            <a:prstDash val="solid"/>
          </a:ln>
        </p:spPr>
      </p:sp>
      <p:sp>
        <p:nvSpPr>
          <p:cNvPr id="17" name="Text 15"/>
          <p:cNvSpPr/>
          <p:nvPr/>
        </p:nvSpPr>
        <p:spPr>
          <a:xfrm>
            <a:off x="8513064" y="1847088"/>
            <a:ext cx="329184" cy="329184"/>
          </a:xfrm>
          <a:prstGeom prst="rect">
            <a:avLst/>
          </a:prstGeom>
          <a:noFill/>
          <a:ln/>
        </p:spPr>
        <p:txBody>
          <a:bodyPr wrap="square" lIns="0" tIns="0" rIns="0" bIns="0" rtlCol="0" anchor="ctr"/>
          <a:lstStyle/>
          <a:p>
            <a:pPr algn="ctr" indent="0" marL="0">
              <a:buNone/>
            </a:pPr>
            <a:r>
              <a:rPr lang="en-US" sz="1300" b="1" dirty="0">
                <a:solidFill>
                  <a:srgbClr val="7C5CFF"/>
                </a:solidFill>
                <a:latin typeface="Instrument Sans" pitchFamily="34" charset="0"/>
                <a:ea typeface="Instrument Sans" pitchFamily="34" charset="-122"/>
                <a:cs typeface="Instrument Sans" pitchFamily="34" charset="-120"/>
              </a:rPr>
              <a:t>3</a:t>
            </a:r>
            <a:endParaRPr lang="en-US" sz="1300" dirty="0"/>
          </a:p>
        </p:txBody>
      </p:sp>
      <p:sp>
        <p:nvSpPr>
          <p:cNvPr id="18" name="Text 16"/>
          <p:cNvSpPr/>
          <p:nvPr/>
        </p:nvSpPr>
        <p:spPr>
          <a:xfrm>
            <a:off x="8951976" y="1828800"/>
            <a:ext cx="2514600" cy="566928"/>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/retro captures and routes it</a:t>
            </a:r>
            <a:endParaRPr lang="en-US" sz="1300" dirty="0"/>
          </a:p>
        </p:txBody>
      </p:sp>
      <p:sp>
        <p:nvSpPr>
          <p:cNvPr id="19" name="Text 17"/>
          <p:cNvSpPr/>
          <p:nvPr/>
        </p:nvSpPr>
        <p:spPr>
          <a:xfrm>
            <a:off x="8951976" y="2404872"/>
            <a:ext cx="2514600" cy="365760"/>
          </a:xfrm>
          <a:prstGeom prst="rect">
            <a:avLst/>
          </a:prstGeom>
          <a:noFill/>
          <a:ln/>
        </p:spPr>
        <p:txBody>
          <a:bodyPr wrap="square" lIns="0" tIns="0" rIns="0" bIns="0" rtlCol="0" anchor="ctr"/>
          <a:lstStyle/>
          <a:p>
            <a:pPr indent="0" marL="0">
              <a:buNone/>
            </a:pPr>
            <a:r>
              <a:rPr lang="en-US" sz="1050" dirty="0">
                <a:solidFill>
                  <a:srgbClr val="E6E6EB"/>
                </a:solidFill>
                <a:latin typeface="Instrument Sans" pitchFamily="34" charset="0"/>
                <a:ea typeface="Instrument Sans" pitchFamily="34" charset="-122"/>
                <a:cs typeface="Instrument Sans" pitchFamily="34" charset="-120"/>
              </a:rPr>
              <a:t>to the right file: system, skill, reference</a:t>
            </a:r>
            <a:endParaRPr lang="en-US" sz="1050" dirty="0"/>
          </a:p>
        </p:txBody>
      </p:sp>
      <p:sp>
        <p:nvSpPr>
          <p:cNvPr id="20" name="Shape 18"/>
          <p:cNvSpPr/>
          <p:nvPr/>
        </p:nvSpPr>
        <p:spPr>
          <a:xfrm>
            <a:off x="8348472" y="3749040"/>
            <a:ext cx="3291840" cy="1143000"/>
          </a:xfrm>
          <a:prstGeom prst="roundRect">
            <a:avLst>
              <a:gd name="adj" fmla="val 6400"/>
            </a:avLst>
          </a:prstGeom>
          <a:solidFill>
            <a:srgbClr val="1C1C24"/>
          </a:solidFill>
          <a:ln w="12700">
            <a:solidFill>
              <a:srgbClr val="2A2A35"/>
            </a:solidFill>
            <a:prstDash val="solid"/>
          </a:ln>
        </p:spPr>
      </p:sp>
      <p:sp>
        <p:nvSpPr>
          <p:cNvPr id="21" name="Shape 19"/>
          <p:cNvSpPr/>
          <p:nvPr/>
        </p:nvSpPr>
        <p:spPr>
          <a:xfrm>
            <a:off x="8513064" y="3913632"/>
            <a:ext cx="329184" cy="329184"/>
          </a:xfrm>
          <a:prstGeom prst="ellipse">
            <a:avLst/>
          </a:prstGeom>
          <a:solidFill>
            <a:srgbClr val="0F0F14"/>
          </a:solidFill>
          <a:ln w="19050">
            <a:solidFill>
              <a:srgbClr val="7C5CFF"/>
            </a:solidFill>
            <a:prstDash val="solid"/>
          </a:ln>
        </p:spPr>
      </p:sp>
      <p:sp>
        <p:nvSpPr>
          <p:cNvPr id="22" name="Text 20"/>
          <p:cNvSpPr/>
          <p:nvPr/>
        </p:nvSpPr>
        <p:spPr>
          <a:xfrm>
            <a:off x="8513064" y="3904488"/>
            <a:ext cx="329184" cy="329184"/>
          </a:xfrm>
          <a:prstGeom prst="rect">
            <a:avLst/>
          </a:prstGeom>
          <a:noFill/>
          <a:ln/>
        </p:spPr>
        <p:txBody>
          <a:bodyPr wrap="square" lIns="0" tIns="0" rIns="0" bIns="0" rtlCol="0" anchor="ctr"/>
          <a:lstStyle/>
          <a:p>
            <a:pPr algn="ctr" indent="0" marL="0">
              <a:buNone/>
            </a:pPr>
            <a:r>
              <a:rPr lang="en-US" sz="1300" b="1" dirty="0">
                <a:solidFill>
                  <a:srgbClr val="7C5CFF"/>
                </a:solidFill>
                <a:latin typeface="Instrument Sans" pitchFamily="34" charset="0"/>
                <a:ea typeface="Instrument Sans" pitchFamily="34" charset="-122"/>
                <a:cs typeface="Instrument Sans" pitchFamily="34" charset="-120"/>
              </a:rPr>
              <a:t>4</a:t>
            </a:r>
            <a:endParaRPr lang="en-US" sz="1300" dirty="0"/>
          </a:p>
        </p:txBody>
      </p:sp>
      <p:sp>
        <p:nvSpPr>
          <p:cNvPr id="23" name="Text 21"/>
          <p:cNvSpPr/>
          <p:nvPr/>
        </p:nvSpPr>
        <p:spPr>
          <a:xfrm>
            <a:off x="8951976" y="3886200"/>
            <a:ext cx="2514600" cy="566928"/>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PR review, the human gate</a:t>
            </a:r>
            <a:endParaRPr lang="en-US" sz="1300" dirty="0"/>
          </a:p>
        </p:txBody>
      </p:sp>
      <p:sp>
        <p:nvSpPr>
          <p:cNvPr id="24" name="Text 22"/>
          <p:cNvSpPr/>
          <p:nvPr/>
        </p:nvSpPr>
        <p:spPr>
          <a:xfrm>
            <a:off x="8951976" y="4462272"/>
            <a:ext cx="2514600" cy="365760"/>
          </a:xfrm>
          <a:prstGeom prst="rect">
            <a:avLst/>
          </a:prstGeom>
          <a:noFill/>
          <a:ln/>
        </p:spPr>
        <p:txBody>
          <a:bodyPr wrap="square" lIns="0" tIns="0" rIns="0" bIns="0" rtlCol="0" anchor="ctr"/>
          <a:lstStyle/>
          <a:p>
            <a:pPr indent="0" marL="0">
              <a:buNone/>
            </a:pPr>
            <a:r>
              <a:rPr lang="en-US" sz="1050" dirty="0">
                <a:solidFill>
                  <a:srgbClr val="E6E6EB"/>
                </a:solidFill>
                <a:latin typeface="Instrument Sans" pitchFamily="34" charset="0"/>
                <a:ea typeface="Instrument Sans" pitchFamily="34" charset="-122"/>
                <a:cs typeface="Instrument Sans" pitchFamily="34" charset="-120"/>
              </a:rPr>
              <a:t>CI lint checks structure on every PR</a:t>
            </a:r>
            <a:endParaRPr lang="en-US" sz="1050" dirty="0"/>
          </a:p>
        </p:txBody>
      </p:sp>
      <p:sp>
        <p:nvSpPr>
          <p:cNvPr id="25" name="Shape 23"/>
          <p:cNvSpPr/>
          <p:nvPr/>
        </p:nvSpPr>
        <p:spPr>
          <a:xfrm>
            <a:off x="4453128" y="3749040"/>
            <a:ext cx="3291840" cy="1143000"/>
          </a:xfrm>
          <a:prstGeom prst="roundRect">
            <a:avLst>
              <a:gd name="adj" fmla="val 6400"/>
            </a:avLst>
          </a:prstGeom>
          <a:solidFill>
            <a:srgbClr val="1C1C24"/>
          </a:solidFill>
          <a:ln w="12700">
            <a:solidFill>
              <a:srgbClr val="2A2A35"/>
            </a:solidFill>
            <a:prstDash val="solid"/>
          </a:ln>
        </p:spPr>
      </p:sp>
      <p:sp>
        <p:nvSpPr>
          <p:cNvPr id="26" name="Shape 24"/>
          <p:cNvSpPr/>
          <p:nvPr/>
        </p:nvSpPr>
        <p:spPr>
          <a:xfrm>
            <a:off x="4617720" y="3913632"/>
            <a:ext cx="329184" cy="329184"/>
          </a:xfrm>
          <a:prstGeom prst="ellipse">
            <a:avLst/>
          </a:prstGeom>
          <a:solidFill>
            <a:srgbClr val="0F0F14"/>
          </a:solidFill>
          <a:ln w="19050">
            <a:solidFill>
              <a:srgbClr val="7C5CFF"/>
            </a:solidFill>
            <a:prstDash val="solid"/>
          </a:ln>
        </p:spPr>
      </p:sp>
      <p:sp>
        <p:nvSpPr>
          <p:cNvPr id="27" name="Text 25"/>
          <p:cNvSpPr/>
          <p:nvPr/>
        </p:nvSpPr>
        <p:spPr>
          <a:xfrm>
            <a:off x="4617720" y="3904488"/>
            <a:ext cx="329184" cy="329184"/>
          </a:xfrm>
          <a:prstGeom prst="rect">
            <a:avLst/>
          </a:prstGeom>
          <a:noFill/>
          <a:ln/>
        </p:spPr>
        <p:txBody>
          <a:bodyPr wrap="square" lIns="0" tIns="0" rIns="0" bIns="0" rtlCol="0" anchor="ctr"/>
          <a:lstStyle/>
          <a:p>
            <a:pPr algn="ctr" indent="0" marL="0">
              <a:buNone/>
            </a:pPr>
            <a:r>
              <a:rPr lang="en-US" sz="1300" b="1" dirty="0">
                <a:solidFill>
                  <a:srgbClr val="7C5CFF"/>
                </a:solidFill>
                <a:latin typeface="Instrument Sans" pitchFamily="34" charset="0"/>
                <a:ea typeface="Instrument Sans" pitchFamily="34" charset="-122"/>
                <a:cs typeface="Instrument Sans" pitchFamily="34" charset="-120"/>
              </a:rPr>
              <a:t>5</a:t>
            </a:r>
            <a:endParaRPr lang="en-US" sz="1300" dirty="0"/>
          </a:p>
        </p:txBody>
      </p:sp>
      <p:sp>
        <p:nvSpPr>
          <p:cNvPr id="28" name="Text 26"/>
          <p:cNvSpPr/>
          <p:nvPr/>
        </p:nvSpPr>
        <p:spPr>
          <a:xfrm>
            <a:off x="5056632" y="3886200"/>
            <a:ext cx="2514600" cy="566928"/>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Merge to main</a:t>
            </a:r>
            <a:endParaRPr lang="en-US" sz="1300" dirty="0"/>
          </a:p>
        </p:txBody>
      </p:sp>
      <p:sp>
        <p:nvSpPr>
          <p:cNvPr id="29" name="Text 27"/>
          <p:cNvSpPr/>
          <p:nvPr/>
        </p:nvSpPr>
        <p:spPr>
          <a:xfrm>
            <a:off x="5056632" y="4462272"/>
            <a:ext cx="2514600" cy="365760"/>
          </a:xfrm>
          <a:prstGeom prst="rect">
            <a:avLst/>
          </a:prstGeom>
          <a:noFill/>
          <a:ln/>
        </p:spPr>
        <p:txBody>
          <a:bodyPr wrap="square" lIns="0" tIns="0" rIns="0" bIns="0" rtlCol="0" anchor="ctr"/>
          <a:lstStyle/>
          <a:p>
            <a:pPr indent="0" marL="0">
              <a:buNone/>
            </a:pPr>
            <a:r>
              <a:rPr lang="en-US" sz="1050" dirty="0">
                <a:solidFill>
                  <a:srgbClr val="E6E6EB"/>
                </a:solidFill>
                <a:latin typeface="Instrument Sans" pitchFamily="34" charset="0"/>
                <a:ea typeface="Instrument Sans" pitchFamily="34" charset="-122"/>
                <a:cs typeface="Instrument Sans" pitchFamily="34" charset="-120"/>
              </a:rPr>
              <a:t>doc-agent syncs the wiki and the graph</a:t>
            </a:r>
            <a:endParaRPr lang="en-US" sz="1050" dirty="0"/>
          </a:p>
        </p:txBody>
      </p:sp>
      <p:sp>
        <p:nvSpPr>
          <p:cNvPr id="30" name="Shape 28"/>
          <p:cNvSpPr/>
          <p:nvPr/>
        </p:nvSpPr>
        <p:spPr>
          <a:xfrm>
            <a:off x="548640" y="3749040"/>
            <a:ext cx="3291840" cy="1143000"/>
          </a:xfrm>
          <a:prstGeom prst="roundRect">
            <a:avLst>
              <a:gd name="adj" fmla="val 6400"/>
            </a:avLst>
          </a:prstGeom>
          <a:solidFill>
            <a:srgbClr val="2A2347"/>
          </a:solidFill>
          <a:ln w="12700">
            <a:solidFill>
              <a:srgbClr val="7C5CFF"/>
            </a:solidFill>
            <a:prstDash val="solid"/>
          </a:ln>
        </p:spPr>
      </p:sp>
      <p:sp>
        <p:nvSpPr>
          <p:cNvPr id="31" name="Shape 29"/>
          <p:cNvSpPr/>
          <p:nvPr/>
        </p:nvSpPr>
        <p:spPr>
          <a:xfrm>
            <a:off x="713232" y="3913632"/>
            <a:ext cx="329184" cy="329184"/>
          </a:xfrm>
          <a:prstGeom prst="ellipse">
            <a:avLst/>
          </a:prstGeom>
          <a:solidFill>
            <a:srgbClr val="0F0F14"/>
          </a:solidFill>
          <a:ln w="19050">
            <a:solidFill>
              <a:srgbClr val="7C5CFF"/>
            </a:solidFill>
            <a:prstDash val="solid"/>
          </a:ln>
        </p:spPr>
      </p:sp>
      <p:sp>
        <p:nvSpPr>
          <p:cNvPr id="32" name="Text 30"/>
          <p:cNvSpPr/>
          <p:nvPr/>
        </p:nvSpPr>
        <p:spPr>
          <a:xfrm>
            <a:off x="713232" y="3904488"/>
            <a:ext cx="329184" cy="329184"/>
          </a:xfrm>
          <a:prstGeom prst="rect">
            <a:avLst/>
          </a:prstGeom>
          <a:noFill/>
          <a:ln/>
        </p:spPr>
        <p:txBody>
          <a:bodyPr wrap="square" lIns="0" tIns="0" rIns="0" bIns="0" rtlCol="0" anchor="ctr"/>
          <a:lstStyle/>
          <a:p>
            <a:pPr algn="ctr" indent="0" marL="0">
              <a:buNone/>
            </a:pPr>
            <a:r>
              <a:rPr lang="en-US" sz="1300" b="1" dirty="0">
                <a:solidFill>
                  <a:srgbClr val="7C5CFF"/>
                </a:solidFill>
                <a:latin typeface="Instrument Sans" pitchFamily="34" charset="0"/>
                <a:ea typeface="Instrument Sans" pitchFamily="34" charset="-122"/>
                <a:cs typeface="Instrument Sans" pitchFamily="34" charset="-120"/>
              </a:rPr>
              <a:t>6</a:t>
            </a:r>
            <a:endParaRPr lang="en-US" sz="1300" dirty="0"/>
          </a:p>
        </p:txBody>
      </p:sp>
      <p:sp>
        <p:nvSpPr>
          <p:cNvPr id="33" name="Text 31"/>
          <p:cNvSpPr/>
          <p:nvPr/>
        </p:nvSpPr>
        <p:spPr>
          <a:xfrm>
            <a:off x="1152144" y="3886200"/>
            <a:ext cx="2514600" cy="566928"/>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Next session loads a smarter brain</a:t>
            </a:r>
            <a:endParaRPr lang="en-US" sz="1300" dirty="0"/>
          </a:p>
        </p:txBody>
      </p:sp>
      <p:sp>
        <p:nvSpPr>
          <p:cNvPr id="34" name="Text 32"/>
          <p:cNvSpPr/>
          <p:nvPr/>
        </p:nvSpPr>
        <p:spPr>
          <a:xfrm>
            <a:off x="1152144" y="4462272"/>
            <a:ext cx="2514600" cy="365760"/>
          </a:xfrm>
          <a:prstGeom prst="rect">
            <a:avLst/>
          </a:prstGeom>
          <a:noFill/>
          <a:ln/>
        </p:spPr>
        <p:txBody>
          <a:bodyPr wrap="square" lIns="0" tIns="0" rIns="0" bIns="0" rtlCol="0" anchor="ctr"/>
          <a:lstStyle/>
          <a:p>
            <a:pPr indent="0" marL="0">
              <a:buNone/>
            </a:pPr>
            <a:r>
              <a:rPr lang="en-US" sz="1050" dirty="0">
                <a:solidFill>
                  <a:srgbClr val="E6E6EB"/>
                </a:solidFill>
                <a:latin typeface="Instrument Sans" pitchFamily="34" charset="0"/>
                <a:ea typeface="Instrument Sans" pitchFamily="34" charset="-122"/>
                <a:cs typeface="Instrument Sans" pitchFamily="34" charset="-120"/>
              </a:rPr>
              <a:t>for the whole team, not one person</a:t>
            </a:r>
            <a:endParaRPr lang="en-US" sz="1050" dirty="0"/>
          </a:p>
        </p:txBody>
      </p:sp>
      <p:sp>
        <p:nvSpPr>
          <p:cNvPr id="35" name="Shape 33"/>
          <p:cNvSpPr/>
          <p:nvPr/>
        </p:nvSpPr>
        <p:spPr>
          <a:xfrm>
            <a:off x="3840480" y="2263140"/>
            <a:ext cx="612648" cy="0"/>
          </a:xfrm>
          <a:prstGeom prst="line">
            <a:avLst/>
          </a:prstGeom>
          <a:noFill/>
          <a:ln w="22225">
            <a:solidFill>
              <a:srgbClr val="4A4A58"/>
            </a:solidFill>
            <a:prstDash val="solid"/>
            <a:tailEnd type="triangle"/>
          </a:ln>
        </p:spPr>
      </p:sp>
      <p:sp>
        <p:nvSpPr>
          <p:cNvPr id="36" name="Shape 34"/>
          <p:cNvSpPr/>
          <p:nvPr/>
        </p:nvSpPr>
        <p:spPr>
          <a:xfrm>
            <a:off x="7744968" y="2263140"/>
            <a:ext cx="603504" cy="0"/>
          </a:xfrm>
          <a:prstGeom prst="line">
            <a:avLst/>
          </a:prstGeom>
          <a:noFill/>
          <a:ln w="22225">
            <a:solidFill>
              <a:srgbClr val="4A4A58"/>
            </a:solidFill>
            <a:prstDash val="solid"/>
            <a:tailEnd type="triangle"/>
          </a:ln>
        </p:spPr>
      </p:sp>
      <p:sp>
        <p:nvSpPr>
          <p:cNvPr id="37" name="Shape 35"/>
          <p:cNvSpPr/>
          <p:nvPr/>
        </p:nvSpPr>
        <p:spPr>
          <a:xfrm>
            <a:off x="9994392" y="2834640"/>
            <a:ext cx="0" cy="914400"/>
          </a:xfrm>
          <a:prstGeom prst="line">
            <a:avLst/>
          </a:prstGeom>
          <a:noFill/>
          <a:ln w="22225">
            <a:solidFill>
              <a:srgbClr val="4A4A58"/>
            </a:solidFill>
            <a:prstDash val="solid"/>
            <a:tailEnd type="triangle"/>
          </a:ln>
        </p:spPr>
      </p:sp>
      <p:sp>
        <p:nvSpPr>
          <p:cNvPr id="38" name="Shape 36"/>
          <p:cNvSpPr/>
          <p:nvPr/>
        </p:nvSpPr>
        <p:spPr>
          <a:xfrm>
            <a:off x="7744968" y="4320540"/>
            <a:ext cx="603504" cy="0"/>
          </a:xfrm>
          <a:prstGeom prst="line">
            <a:avLst/>
          </a:prstGeom>
          <a:noFill/>
          <a:ln w="22225">
            <a:solidFill>
              <a:srgbClr val="4A4A58"/>
            </a:solidFill>
            <a:prstDash val="solid"/>
            <a:headEnd type="triangle"/>
          </a:ln>
        </p:spPr>
      </p:sp>
      <p:sp>
        <p:nvSpPr>
          <p:cNvPr id="39" name="Shape 37"/>
          <p:cNvSpPr/>
          <p:nvPr/>
        </p:nvSpPr>
        <p:spPr>
          <a:xfrm>
            <a:off x="3840480" y="4320540"/>
            <a:ext cx="612648" cy="0"/>
          </a:xfrm>
          <a:prstGeom prst="line">
            <a:avLst/>
          </a:prstGeom>
          <a:noFill/>
          <a:ln w="22225">
            <a:solidFill>
              <a:srgbClr val="4A4A58"/>
            </a:solidFill>
            <a:prstDash val="solid"/>
            <a:headEnd type="triangle"/>
          </a:ln>
        </p:spPr>
      </p:sp>
      <p:sp>
        <p:nvSpPr>
          <p:cNvPr id="40" name="Shape 38"/>
          <p:cNvSpPr/>
          <p:nvPr/>
        </p:nvSpPr>
        <p:spPr>
          <a:xfrm>
            <a:off x="2194560" y="2834640"/>
            <a:ext cx="0" cy="914400"/>
          </a:xfrm>
          <a:prstGeom prst="line">
            <a:avLst/>
          </a:prstGeom>
          <a:noFill/>
          <a:ln w="22225">
            <a:solidFill>
              <a:srgbClr val="7C5CFF"/>
            </a:solidFill>
            <a:prstDash val="solid"/>
            <a:headEnd type="triangle"/>
          </a:ln>
        </p:spPr>
      </p:sp>
      <p:sp>
        <p:nvSpPr>
          <p:cNvPr id="41" name="Text 39"/>
          <p:cNvSpPr/>
          <p:nvPr/>
        </p:nvSpPr>
        <p:spPr>
          <a:xfrm>
            <a:off x="548640" y="5349240"/>
            <a:ext cx="11064240" cy="685800"/>
          </a:xfrm>
          <a:prstGeom prst="rect">
            <a:avLst/>
          </a:prstGeom>
          <a:noFill/>
          <a:ln/>
        </p:spPr>
        <p:txBody>
          <a:bodyPr wrap="square" lIns="0" tIns="0" rIns="0" bIns="0" rtlCol="0" anchor="ctr"/>
          <a:lstStyle/>
          <a:p>
            <a:pPr indent="0" marL="0">
              <a:buNone/>
            </a:pPr>
            <a:r>
              <a:rPr lang="en-US" sz="1250" b="1" dirty="0">
                <a:solidFill>
                  <a:srgbClr val="7C5CFF"/>
                </a:solidFill>
                <a:latin typeface="Instrument Sans" pitchFamily="34" charset="0"/>
                <a:ea typeface="Instrument Sans" pitchFamily="34" charset="-122"/>
                <a:cs typeface="Instrument Sans" pitchFamily="34" charset="-120"/>
              </a:rPr>
              <a:t>The rule that keeps it honest:  </a:t>
            </a:r>
            <a:pPr indent="0" marL="0">
              <a:buNone/>
            </a:pPr>
            <a:r>
              <a:rPr lang="en-US" sz="1250" dirty="0">
                <a:solidFill>
                  <a:srgbClr val="E6E6EB"/>
                </a:solidFill>
                <a:latin typeface="Instrument Sans" pitchFamily="34" charset="0"/>
                <a:ea typeface="Instrument Sans" pitchFamily="34" charset="-122"/>
                <a:cs typeface="Instrument Sans" pitchFamily="34" charset="-120"/>
              </a:rPr>
              <a:t>team and system knowledge goes to the repo via PR. Personal memory holds only individual preferences. If it would help a teammate, it never stays in one head.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F14"/>
        </a:solidFill>
      </p:bgPr>
    </p:bg>
    <p:spTree>
      <p:nvGrpSpPr>
        <p:cNvPr id="1" name=""/>
        <p:cNvGrpSpPr/>
        <p:nvPr/>
      </p:nvGrpSpPr>
      <p:grpSpPr>
        <a:xfrm>
          <a:off x="0" y="0"/>
          <a:ext cx="0" cy="0"/>
          <a:chOff x="0" y="0"/>
          <a:chExt cx="0" cy="0"/>
        </a:xfrm>
      </p:grpSpPr>
      <p:sp>
        <p:nvSpPr>
          <p:cNvPr id="2" name="Shape 0"/>
          <p:cNvSpPr/>
          <p:nvPr/>
        </p:nvSpPr>
        <p:spPr>
          <a:xfrm>
            <a:off x="11759184" y="384048"/>
            <a:ext cx="118872" cy="118872"/>
          </a:xfrm>
          <a:prstGeom prst="ellipse">
            <a:avLst/>
          </a:prstGeom>
          <a:solidFill>
            <a:srgbClr val="7C5CFF"/>
          </a:solidFill>
          <a:ln/>
        </p:spPr>
      </p:sp>
      <p:sp>
        <p:nvSpPr>
          <p:cNvPr id="3" name="Text 1"/>
          <p:cNvSpPr/>
          <p:nvPr/>
        </p:nvSpPr>
        <p:spPr>
          <a:xfrm>
            <a:off x="457200" y="274320"/>
            <a:ext cx="10789920" cy="502920"/>
          </a:xfrm>
          <a:prstGeom prst="rect">
            <a:avLst/>
          </a:prstGeom>
          <a:noFill/>
          <a:ln/>
        </p:spPr>
        <p:txBody>
          <a:bodyPr wrap="square" lIns="0" tIns="0" rIns="0" bIns="0" rtlCol="0" anchor="ctr"/>
          <a:lstStyle/>
          <a:p>
            <a:pPr indent="0" marL="0">
              <a:buNone/>
            </a:pPr>
            <a:r>
              <a:rPr lang="en-US" sz="2600" b="1" dirty="0">
                <a:solidFill>
                  <a:srgbClr val="FFFFFF"/>
                </a:solidFill>
                <a:latin typeface="Instrument Sans" pitchFamily="34" charset="0"/>
                <a:ea typeface="Instrument Sans" pitchFamily="34" charset="-122"/>
                <a:cs typeface="Instrument Sans" pitchFamily="34" charset="-120"/>
              </a:rPr>
              <a:t>Operating state, how work moves</a:t>
            </a:r>
            <a:endParaRPr lang="en-US" sz="2600" dirty="0"/>
          </a:p>
        </p:txBody>
      </p:sp>
      <p:sp>
        <p:nvSpPr>
          <p:cNvPr id="4" name="Text 2"/>
          <p:cNvSpPr/>
          <p:nvPr/>
        </p:nvSpPr>
        <p:spPr>
          <a:xfrm>
            <a:off x="457200" y="804672"/>
            <a:ext cx="11247120" cy="347472"/>
          </a:xfrm>
          <a:prstGeom prst="rect">
            <a:avLst/>
          </a:prstGeom>
          <a:noFill/>
          <a:ln/>
        </p:spPr>
        <p:txBody>
          <a:bodyPr wrap="square" lIns="0" tIns="0" rIns="0" bIns="0" rtlCol="0" anchor="ct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Every piece of work the OS touches moves through one state loop, from intake to a captured learning</a:t>
            </a:r>
            <a:endParaRPr lang="en-US" sz="1250" dirty="0"/>
          </a:p>
        </p:txBody>
      </p:sp>
      <p:sp>
        <p:nvSpPr>
          <p:cNvPr id="5" name="Shape 3"/>
          <p:cNvSpPr/>
          <p:nvPr/>
        </p:nvSpPr>
        <p:spPr>
          <a:xfrm>
            <a:off x="530352" y="3063240"/>
            <a:ext cx="1005840" cy="475488"/>
          </a:xfrm>
          <a:prstGeom prst="roundRect">
            <a:avLst>
              <a:gd name="adj" fmla="val 50000"/>
            </a:avLst>
          </a:prstGeom>
          <a:solidFill>
            <a:srgbClr val="2A2A35"/>
          </a:solidFill>
          <a:ln w="9525">
            <a:solidFill>
              <a:srgbClr val="4A4A58"/>
            </a:solidFill>
            <a:prstDash val="solid"/>
          </a:ln>
        </p:spPr>
      </p:sp>
      <p:sp>
        <p:nvSpPr>
          <p:cNvPr id="6" name="Text 4"/>
          <p:cNvSpPr/>
          <p:nvPr/>
        </p:nvSpPr>
        <p:spPr>
          <a:xfrm>
            <a:off x="530352" y="3063240"/>
            <a:ext cx="1005840" cy="47548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intake</a:t>
            </a:r>
            <a:endParaRPr lang="en-US" sz="1200" dirty="0"/>
          </a:p>
        </p:txBody>
      </p:sp>
      <p:sp>
        <p:nvSpPr>
          <p:cNvPr id="7" name="Shape 5"/>
          <p:cNvSpPr/>
          <p:nvPr/>
        </p:nvSpPr>
        <p:spPr>
          <a:xfrm>
            <a:off x="1536192" y="3300984"/>
            <a:ext cx="237744" cy="0"/>
          </a:xfrm>
          <a:prstGeom prst="line">
            <a:avLst/>
          </a:prstGeom>
          <a:noFill/>
          <a:ln w="22225">
            <a:solidFill>
              <a:srgbClr val="4A4A58"/>
            </a:solidFill>
            <a:prstDash val="solid"/>
            <a:tailEnd type="triangle"/>
          </a:ln>
        </p:spPr>
      </p:sp>
      <p:sp>
        <p:nvSpPr>
          <p:cNvPr id="8" name="Shape 6"/>
          <p:cNvSpPr/>
          <p:nvPr/>
        </p:nvSpPr>
        <p:spPr>
          <a:xfrm>
            <a:off x="1773936" y="3063240"/>
            <a:ext cx="1097280" cy="475488"/>
          </a:xfrm>
          <a:prstGeom prst="roundRect">
            <a:avLst>
              <a:gd name="adj" fmla="val 50000"/>
            </a:avLst>
          </a:prstGeom>
          <a:solidFill>
            <a:srgbClr val="2A2A35"/>
          </a:solidFill>
          <a:ln w="9525">
            <a:solidFill>
              <a:srgbClr val="4A4A58"/>
            </a:solidFill>
            <a:prstDash val="solid"/>
          </a:ln>
        </p:spPr>
      </p:sp>
      <p:sp>
        <p:nvSpPr>
          <p:cNvPr id="9" name="Text 7"/>
          <p:cNvSpPr/>
          <p:nvPr/>
        </p:nvSpPr>
        <p:spPr>
          <a:xfrm>
            <a:off x="1773936" y="3063240"/>
            <a:ext cx="1097280" cy="47548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triaged</a:t>
            </a:r>
            <a:endParaRPr lang="en-US" sz="1200" dirty="0"/>
          </a:p>
        </p:txBody>
      </p:sp>
      <p:sp>
        <p:nvSpPr>
          <p:cNvPr id="10" name="Shape 8"/>
          <p:cNvSpPr/>
          <p:nvPr/>
        </p:nvSpPr>
        <p:spPr>
          <a:xfrm>
            <a:off x="2871216" y="3300984"/>
            <a:ext cx="237744" cy="0"/>
          </a:xfrm>
          <a:prstGeom prst="line">
            <a:avLst/>
          </a:prstGeom>
          <a:noFill/>
          <a:ln w="22225">
            <a:solidFill>
              <a:srgbClr val="4A4A58"/>
            </a:solidFill>
            <a:prstDash val="solid"/>
            <a:tailEnd type="triangle"/>
          </a:ln>
        </p:spPr>
      </p:sp>
      <p:sp>
        <p:nvSpPr>
          <p:cNvPr id="11" name="Shape 9"/>
          <p:cNvSpPr/>
          <p:nvPr/>
        </p:nvSpPr>
        <p:spPr>
          <a:xfrm>
            <a:off x="3108960" y="3063240"/>
            <a:ext cx="1143000" cy="475488"/>
          </a:xfrm>
          <a:prstGeom prst="roundRect">
            <a:avLst>
              <a:gd name="adj" fmla="val 50000"/>
            </a:avLst>
          </a:prstGeom>
          <a:solidFill>
            <a:srgbClr val="2A2A35"/>
          </a:solidFill>
          <a:ln w="9525">
            <a:solidFill>
              <a:srgbClr val="4A4A58"/>
            </a:solidFill>
            <a:prstDash val="solid"/>
          </a:ln>
        </p:spPr>
      </p:sp>
      <p:sp>
        <p:nvSpPr>
          <p:cNvPr id="12" name="Text 10"/>
          <p:cNvSpPr/>
          <p:nvPr/>
        </p:nvSpPr>
        <p:spPr>
          <a:xfrm>
            <a:off x="3108960" y="3063240"/>
            <a:ext cx="1143000" cy="47548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planned</a:t>
            </a:r>
            <a:endParaRPr lang="en-US" sz="1200" dirty="0"/>
          </a:p>
        </p:txBody>
      </p:sp>
      <p:sp>
        <p:nvSpPr>
          <p:cNvPr id="13" name="Shape 11"/>
          <p:cNvSpPr/>
          <p:nvPr/>
        </p:nvSpPr>
        <p:spPr>
          <a:xfrm>
            <a:off x="4251960" y="3300984"/>
            <a:ext cx="237744" cy="0"/>
          </a:xfrm>
          <a:prstGeom prst="line">
            <a:avLst/>
          </a:prstGeom>
          <a:noFill/>
          <a:ln w="22225">
            <a:solidFill>
              <a:srgbClr val="4A4A58"/>
            </a:solidFill>
            <a:prstDash val="solid"/>
            <a:tailEnd type="triangle"/>
          </a:ln>
        </p:spPr>
      </p:sp>
      <p:sp>
        <p:nvSpPr>
          <p:cNvPr id="14" name="Shape 12"/>
          <p:cNvSpPr/>
          <p:nvPr/>
        </p:nvSpPr>
        <p:spPr>
          <a:xfrm>
            <a:off x="4489704" y="3063240"/>
            <a:ext cx="1188720" cy="475488"/>
          </a:xfrm>
          <a:prstGeom prst="roundRect">
            <a:avLst>
              <a:gd name="adj" fmla="val 50000"/>
            </a:avLst>
          </a:prstGeom>
          <a:solidFill>
            <a:srgbClr val="2A2A35"/>
          </a:solidFill>
          <a:ln w="9525">
            <a:solidFill>
              <a:srgbClr val="4A4A58"/>
            </a:solidFill>
            <a:prstDash val="solid"/>
          </a:ln>
        </p:spPr>
      </p:sp>
      <p:sp>
        <p:nvSpPr>
          <p:cNvPr id="15" name="Text 13"/>
          <p:cNvSpPr/>
          <p:nvPr/>
        </p:nvSpPr>
        <p:spPr>
          <a:xfrm>
            <a:off x="4489704" y="3063240"/>
            <a:ext cx="1188720" cy="47548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executing</a:t>
            </a:r>
            <a:endParaRPr lang="en-US" sz="1200" dirty="0"/>
          </a:p>
        </p:txBody>
      </p:sp>
      <p:sp>
        <p:nvSpPr>
          <p:cNvPr id="16" name="Shape 14"/>
          <p:cNvSpPr/>
          <p:nvPr/>
        </p:nvSpPr>
        <p:spPr>
          <a:xfrm>
            <a:off x="5678424" y="3300984"/>
            <a:ext cx="237744" cy="0"/>
          </a:xfrm>
          <a:prstGeom prst="line">
            <a:avLst/>
          </a:prstGeom>
          <a:noFill/>
          <a:ln w="22225">
            <a:solidFill>
              <a:srgbClr val="4A4A58"/>
            </a:solidFill>
            <a:prstDash val="solid"/>
            <a:tailEnd type="triangle"/>
          </a:ln>
        </p:spPr>
      </p:sp>
      <p:sp>
        <p:nvSpPr>
          <p:cNvPr id="17" name="Shape 15"/>
          <p:cNvSpPr/>
          <p:nvPr/>
        </p:nvSpPr>
        <p:spPr>
          <a:xfrm>
            <a:off x="5916168" y="3063240"/>
            <a:ext cx="1645920" cy="475488"/>
          </a:xfrm>
          <a:prstGeom prst="roundRect">
            <a:avLst>
              <a:gd name="adj" fmla="val 50000"/>
            </a:avLst>
          </a:prstGeom>
          <a:solidFill>
            <a:srgbClr val="2A2A35"/>
          </a:solidFill>
          <a:ln w="9525">
            <a:solidFill>
              <a:srgbClr val="4A4A58"/>
            </a:solidFill>
            <a:prstDash val="solid"/>
          </a:ln>
        </p:spPr>
      </p:sp>
      <p:sp>
        <p:nvSpPr>
          <p:cNvPr id="18" name="Text 16"/>
          <p:cNvSpPr/>
          <p:nvPr/>
        </p:nvSpPr>
        <p:spPr>
          <a:xfrm>
            <a:off x="5916168" y="3063240"/>
            <a:ext cx="1645920" cy="47548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ready for review</a:t>
            </a:r>
            <a:endParaRPr lang="en-US" sz="1200" dirty="0"/>
          </a:p>
        </p:txBody>
      </p:sp>
      <p:sp>
        <p:nvSpPr>
          <p:cNvPr id="19" name="Shape 17"/>
          <p:cNvSpPr/>
          <p:nvPr/>
        </p:nvSpPr>
        <p:spPr>
          <a:xfrm>
            <a:off x="7562088" y="3300984"/>
            <a:ext cx="237744" cy="0"/>
          </a:xfrm>
          <a:prstGeom prst="line">
            <a:avLst/>
          </a:prstGeom>
          <a:noFill/>
          <a:ln w="22225">
            <a:solidFill>
              <a:srgbClr val="4A4A58"/>
            </a:solidFill>
            <a:prstDash val="solid"/>
            <a:tailEnd type="triangle"/>
          </a:ln>
        </p:spPr>
      </p:sp>
      <p:sp>
        <p:nvSpPr>
          <p:cNvPr id="20" name="Shape 18"/>
          <p:cNvSpPr/>
          <p:nvPr/>
        </p:nvSpPr>
        <p:spPr>
          <a:xfrm>
            <a:off x="7799832" y="3063240"/>
            <a:ext cx="1097280" cy="475488"/>
          </a:xfrm>
          <a:prstGeom prst="roundRect">
            <a:avLst>
              <a:gd name="adj" fmla="val 50000"/>
            </a:avLst>
          </a:prstGeom>
          <a:solidFill>
            <a:srgbClr val="2A2A35"/>
          </a:solidFill>
          <a:ln w="9525">
            <a:solidFill>
              <a:srgbClr val="4A4A58"/>
            </a:solidFill>
            <a:prstDash val="solid"/>
          </a:ln>
        </p:spPr>
      </p:sp>
      <p:sp>
        <p:nvSpPr>
          <p:cNvPr id="21" name="Text 19"/>
          <p:cNvSpPr/>
          <p:nvPr/>
        </p:nvSpPr>
        <p:spPr>
          <a:xfrm>
            <a:off x="7799832" y="3063240"/>
            <a:ext cx="1097280" cy="47548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shipped</a:t>
            </a:r>
            <a:endParaRPr lang="en-US" sz="1200" dirty="0"/>
          </a:p>
        </p:txBody>
      </p:sp>
      <p:sp>
        <p:nvSpPr>
          <p:cNvPr id="22" name="Shape 20"/>
          <p:cNvSpPr/>
          <p:nvPr/>
        </p:nvSpPr>
        <p:spPr>
          <a:xfrm>
            <a:off x="8897112" y="3300984"/>
            <a:ext cx="237744" cy="0"/>
          </a:xfrm>
          <a:prstGeom prst="line">
            <a:avLst/>
          </a:prstGeom>
          <a:noFill/>
          <a:ln w="22225">
            <a:solidFill>
              <a:srgbClr val="4A4A58"/>
            </a:solidFill>
            <a:prstDash val="solid"/>
            <a:tailEnd type="triangle"/>
          </a:ln>
        </p:spPr>
      </p:sp>
      <p:sp>
        <p:nvSpPr>
          <p:cNvPr id="23" name="Shape 21"/>
          <p:cNvSpPr/>
          <p:nvPr/>
        </p:nvSpPr>
        <p:spPr>
          <a:xfrm>
            <a:off x="9134856" y="3063240"/>
            <a:ext cx="1188720" cy="475488"/>
          </a:xfrm>
          <a:prstGeom prst="roundRect">
            <a:avLst>
              <a:gd name="adj" fmla="val 50000"/>
            </a:avLst>
          </a:prstGeom>
          <a:solidFill>
            <a:srgbClr val="2A2A35"/>
          </a:solidFill>
          <a:ln w="9525">
            <a:solidFill>
              <a:srgbClr val="4A4A58"/>
            </a:solidFill>
            <a:prstDash val="solid"/>
          </a:ln>
        </p:spPr>
      </p:sp>
      <p:sp>
        <p:nvSpPr>
          <p:cNvPr id="24" name="Text 22"/>
          <p:cNvSpPr/>
          <p:nvPr/>
        </p:nvSpPr>
        <p:spPr>
          <a:xfrm>
            <a:off x="9134856" y="3063240"/>
            <a:ext cx="1188720" cy="47548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measured</a:t>
            </a:r>
            <a:endParaRPr lang="en-US" sz="1200" dirty="0"/>
          </a:p>
        </p:txBody>
      </p:sp>
      <p:sp>
        <p:nvSpPr>
          <p:cNvPr id="25" name="Shape 23"/>
          <p:cNvSpPr/>
          <p:nvPr/>
        </p:nvSpPr>
        <p:spPr>
          <a:xfrm>
            <a:off x="10323576" y="3300984"/>
            <a:ext cx="237744" cy="0"/>
          </a:xfrm>
          <a:prstGeom prst="line">
            <a:avLst/>
          </a:prstGeom>
          <a:noFill/>
          <a:ln w="22225">
            <a:solidFill>
              <a:srgbClr val="4A4A58"/>
            </a:solidFill>
            <a:prstDash val="solid"/>
            <a:tailEnd type="triangle"/>
          </a:ln>
        </p:spPr>
      </p:sp>
      <p:sp>
        <p:nvSpPr>
          <p:cNvPr id="26" name="Shape 24"/>
          <p:cNvSpPr/>
          <p:nvPr/>
        </p:nvSpPr>
        <p:spPr>
          <a:xfrm>
            <a:off x="10561320" y="3063240"/>
            <a:ext cx="1097280" cy="475488"/>
          </a:xfrm>
          <a:prstGeom prst="roundRect">
            <a:avLst>
              <a:gd name="adj" fmla="val 50000"/>
            </a:avLst>
          </a:prstGeom>
          <a:solidFill>
            <a:srgbClr val="2A2347"/>
          </a:solidFill>
          <a:ln w="15875">
            <a:solidFill>
              <a:srgbClr val="7C5CFF"/>
            </a:solidFill>
            <a:prstDash val="solid"/>
          </a:ln>
        </p:spPr>
      </p:sp>
      <p:sp>
        <p:nvSpPr>
          <p:cNvPr id="27" name="Text 25"/>
          <p:cNvSpPr/>
          <p:nvPr/>
        </p:nvSpPr>
        <p:spPr>
          <a:xfrm>
            <a:off x="10561320" y="3063240"/>
            <a:ext cx="1097280" cy="475488"/>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learned</a:t>
            </a:r>
            <a:endParaRPr lang="en-US" sz="1200" dirty="0"/>
          </a:p>
        </p:txBody>
      </p:sp>
      <p:sp>
        <p:nvSpPr>
          <p:cNvPr id="28" name="Shape 26"/>
          <p:cNvSpPr/>
          <p:nvPr/>
        </p:nvSpPr>
        <p:spPr>
          <a:xfrm>
            <a:off x="2269998" y="2057400"/>
            <a:ext cx="1463040" cy="457200"/>
          </a:xfrm>
          <a:prstGeom prst="roundRect">
            <a:avLst>
              <a:gd name="adj" fmla="val 50000"/>
            </a:avLst>
          </a:prstGeom>
          <a:solidFill>
            <a:srgbClr val="2A2A35"/>
          </a:solidFill>
          <a:ln w="9525">
            <a:solidFill>
              <a:srgbClr val="4A4A58"/>
            </a:solidFill>
            <a:prstDash val="solid"/>
          </a:ln>
        </p:spPr>
      </p:sp>
      <p:sp>
        <p:nvSpPr>
          <p:cNvPr id="29" name="Text 27"/>
          <p:cNvSpPr/>
          <p:nvPr/>
        </p:nvSpPr>
        <p:spPr>
          <a:xfrm>
            <a:off x="2269998" y="2057400"/>
            <a:ext cx="1463040" cy="457200"/>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investigating</a:t>
            </a:r>
            <a:endParaRPr lang="en-US" sz="1200" dirty="0"/>
          </a:p>
        </p:txBody>
      </p:sp>
      <p:sp>
        <p:nvSpPr>
          <p:cNvPr id="30" name="Shape 28"/>
          <p:cNvSpPr/>
          <p:nvPr/>
        </p:nvSpPr>
        <p:spPr>
          <a:xfrm>
            <a:off x="2487168" y="2514600"/>
            <a:ext cx="0" cy="548640"/>
          </a:xfrm>
          <a:prstGeom prst="line">
            <a:avLst/>
          </a:prstGeom>
          <a:noFill/>
          <a:ln w="22225">
            <a:solidFill>
              <a:srgbClr val="4A4A58"/>
            </a:solidFill>
            <a:prstDash val="solid"/>
            <a:headEnd type="triangle"/>
          </a:ln>
        </p:spPr>
      </p:sp>
      <p:sp>
        <p:nvSpPr>
          <p:cNvPr id="31" name="Shape 29"/>
          <p:cNvSpPr/>
          <p:nvPr/>
        </p:nvSpPr>
        <p:spPr>
          <a:xfrm>
            <a:off x="3552444" y="2514600"/>
            <a:ext cx="0" cy="548640"/>
          </a:xfrm>
          <a:prstGeom prst="line">
            <a:avLst/>
          </a:prstGeom>
          <a:noFill/>
          <a:ln w="22225">
            <a:solidFill>
              <a:srgbClr val="4A4A58"/>
            </a:solidFill>
            <a:prstDash val="solid"/>
            <a:tailEnd type="triangle"/>
          </a:ln>
        </p:spPr>
      </p:sp>
      <p:sp>
        <p:nvSpPr>
          <p:cNvPr id="32" name="Text 30"/>
          <p:cNvSpPr/>
          <p:nvPr/>
        </p:nvSpPr>
        <p:spPr>
          <a:xfrm>
            <a:off x="532638" y="2103120"/>
            <a:ext cx="1645920" cy="274320"/>
          </a:xfrm>
          <a:prstGeom prst="rect">
            <a:avLst/>
          </a:prstGeom>
          <a:noFill/>
          <a:ln/>
        </p:spPr>
        <p:txBody>
          <a:bodyPr wrap="square" lIns="0" tIns="0" rIns="0" bIns="0" rtlCol="0" anchor="ctr"/>
          <a:lstStyle/>
          <a:p>
            <a:pPr algn="r" indent="0" marL="0">
              <a:buNone/>
            </a:pPr>
            <a:r>
              <a:rPr lang="en-US" sz="950" dirty="0">
                <a:solidFill>
                  <a:srgbClr val="9B9BA8"/>
                </a:solidFill>
                <a:latin typeface="Instrument Sans" pitchFamily="34" charset="0"/>
                <a:ea typeface="Instrument Sans" pitchFamily="34" charset="-122"/>
                <a:cs typeface="Instrument Sans" pitchFamily="34" charset="-120"/>
              </a:rPr>
              <a:t>evidence needed</a:t>
            </a:r>
            <a:endParaRPr lang="en-US" sz="950" dirty="0"/>
          </a:p>
        </p:txBody>
      </p:sp>
      <p:sp>
        <p:nvSpPr>
          <p:cNvPr id="33" name="Shape 31"/>
          <p:cNvSpPr/>
          <p:nvPr/>
        </p:nvSpPr>
        <p:spPr>
          <a:xfrm>
            <a:off x="4489704" y="4160520"/>
            <a:ext cx="1188720" cy="457200"/>
          </a:xfrm>
          <a:prstGeom prst="roundRect">
            <a:avLst>
              <a:gd name="adj" fmla="val 50000"/>
            </a:avLst>
          </a:prstGeom>
          <a:solidFill>
            <a:srgbClr val="2A2A35"/>
          </a:solidFill>
          <a:ln w="9525">
            <a:solidFill>
              <a:srgbClr val="4A4A58"/>
            </a:solidFill>
            <a:prstDash val="solid"/>
          </a:ln>
        </p:spPr>
      </p:sp>
      <p:sp>
        <p:nvSpPr>
          <p:cNvPr id="34" name="Text 32"/>
          <p:cNvSpPr/>
          <p:nvPr/>
        </p:nvSpPr>
        <p:spPr>
          <a:xfrm>
            <a:off x="4489704" y="4160520"/>
            <a:ext cx="1188720" cy="457200"/>
          </a:xfrm>
          <a:prstGeom prst="rect">
            <a:avLst/>
          </a:prstGeom>
          <a:noFill/>
          <a:ln/>
        </p:spPr>
        <p:txBody>
          <a:bodyPr wrap="square" lIns="0" tIns="0" rIns="0" bIns="0" rtlCol="0" anchor="ctr"/>
          <a:lstStyle/>
          <a:p>
            <a:pPr algn="ctr" indent="0" marL="0">
              <a:buNone/>
            </a:pPr>
            <a:r>
              <a:rPr lang="en-US" sz="1200" dirty="0">
                <a:solidFill>
                  <a:srgbClr val="FFFFFF"/>
                </a:solidFill>
                <a:latin typeface="Instrument Sans" pitchFamily="34" charset="0"/>
                <a:ea typeface="Instrument Sans" pitchFamily="34" charset="-122"/>
                <a:cs typeface="Instrument Sans" pitchFamily="34" charset="-120"/>
              </a:rPr>
              <a:t>blocked</a:t>
            </a:r>
            <a:endParaRPr lang="en-US" sz="1200" dirty="0"/>
          </a:p>
        </p:txBody>
      </p:sp>
      <p:sp>
        <p:nvSpPr>
          <p:cNvPr id="35" name="Shape 33"/>
          <p:cNvSpPr/>
          <p:nvPr/>
        </p:nvSpPr>
        <p:spPr>
          <a:xfrm>
            <a:off x="4919472" y="3538728"/>
            <a:ext cx="0" cy="621792"/>
          </a:xfrm>
          <a:prstGeom prst="line">
            <a:avLst/>
          </a:prstGeom>
          <a:noFill/>
          <a:ln w="22225">
            <a:solidFill>
              <a:srgbClr val="4A4A58"/>
            </a:solidFill>
            <a:prstDash val="solid"/>
            <a:tailEnd type="triangle"/>
          </a:ln>
        </p:spPr>
      </p:sp>
      <p:sp>
        <p:nvSpPr>
          <p:cNvPr id="36" name="Shape 34"/>
          <p:cNvSpPr/>
          <p:nvPr/>
        </p:nvSpPr>
        <p:spPr>
          <a:xfrm>
            <a:off x="5248656" y="3538728"/>
            <a:ext cx="0" cy="621792"/>
          </a:xfrm>
          <a:prstGeom prst="line">
            <a:avLst/>
          </a:prstGeom>
          <a:noFill/>
          <a:ln w="22225">
            <a:solidFill>
              <a:srgbClr val="4A4A58"/>
            </a:solidFill>
            <a:prstDash val="solid"/>
            <a:headEnd type="triangle"/>
          </a:ln>
        </p:spPr>
      </p:sp>
      <p:sp>
        <p:nvSpPr>
          <p:cNvPr id="37" name="Text 35"/>
          <p:cNvSpPr/>
          <p:nvPr/>
        </p:nvSpPr>
        <p:spPr>
          <a:xfrm>
            <a:off x="5815584" y="4251960"/>
            <a:ext cx="2743200" cy="274320"/>
          </a:xfrm>
          <a:prstGeom prst="rect">
            <a:avLst/>
          </a:prstGeom>
          <a:noFill/>
          <a:ln/>
        </p:spPr>
        <p:txBody>
          <a:bodyPr wrap="square" lIns="0" tIns="0" rIns="0" bIns="0" rtlCol="0" anchor="ctr"/>
          <a:lstStyle/>
          <a:p>
            <a:pPr indent="0" marL="0">
              <a:buNone/>
            </a:pPr>
            <a:r>
              <a:rPr lang="en-US" sz="950" dirty="0">
                <a:solidFill>
                  <a:srgbClr val="9B9BA8"/>
                </a:solidFill>
                <a:latin typeface="Instrument Sans" pitchFamily="34" charset="0"/>
                <a:ea typeface="Instrument Sans" pitchFamily="34" charset="-122"/>
                <a:cs typeface="Instrument Sans" pitchFamily="34" charset="-120"/>
              </a:rPr>
              <a:t>dependency or decision needed</a:t>
            </a:r>
            <a:endParaRPr lang="en-US" sz="950" dirty="0"/>
          </a:p>
        </p:txBody>
      </p:sp>
      <p:sp>
        <p:nvSpPr>
          <p:cNvPr id="38" name="Shape 36"/>
          <p:cNvSpPr/>
          <p:nvPr/>
        </p:nvSpPr>
        <p:spPr>
          <a:xfrm>
            <a:off x="11109960" y="1554480"/>
            <a:ext cx="0" cy="1508760"/>
          </a:xfrm>
          <a:prstGeom prst="line">
            <a:avLst/>
          </a:prstGeom>
          <a:noFill/>
          <a:ln w="22225">
            <a:solidFill>
              <a:srgbClr val="7C5CFF"/>
            </a:solidFill>
            <a:prstDash val="solid"/>
          </a:ln>
        </p:spPr>
      </p:sp>
      <p:sp>
        <p:nvSpPr>
          <p:cNvPr id="39" name="Shape 37"/>
          <p:cNvSpPr/>
          <p:nvPr/>
        </p:nvSpPr>
        <p:spPr>
          <a:xfrm>
            <a:off x="1033272" y="1554480"/>
            <a:ext cx="10076688" cy="0"/>
          </a:xfrm>
          <a:prstGeom prst="line">
            <a:avLst/>
          </a:prstGeom>
          <a:noFill/>
          <a:ln w="22225">
            <a:solidFill>
              <a:srgbClr val="7C5CFF"/>
            </a:solidFill>
            <a:prstDash val="solid"/>
          </a:ln>
        </p:spPr>
      </p:sp>
      <p:sp>
        <p:nvSpPr>
          <p:cNvPr id="40" name="Shape 38"/>
          <p:cNvSpPr/>
          <p:nvPr/>
        </p:nvSpPr>
        <p:spPr>
          <a:xfrm>
            <a:off x="1033272" y="1554480"/>
            <a:ext cx="0" cy="1472184"/>
          </a:xfrm>
          <a:prstGeom prst="line">
            <a:avLst/>
          </a:prstGeom>
          <a:noFill/>
          <a:ln w="22225">
            <a:solidFill>
              <a:srgbClr val="7C5CFF"/>
            </a:solidFill>
            <a:prstDash val="solid"/>
            <a:tailEnd type="triangle"/>
          </a:ln>
        </p:spPr>
      </p:sp>
      <p:sp>
        <p:nvSpPr>
          <p:cNvPr id="41" name="Text 39"/>
          <p:cNvSpPr/>
          <p:nvPr/>
        </p:nvSpPr>
        <p:spPr>
          <a:xfrm>
            <a:off x="3200400" y="1207008"/>
            <a:ext cx="5760720" cy="274320"/>
          </a:xfrm>
          <a:prstGeom prst="rect">
            <a:avLst/>
          </a:prstGeom>
          <a:noFill/>
          <a:ln/>
        </p:spPr>
        <p:txBody>
          <a:bodyPr wrap="square" lIns="0" tIns="0" rIns="0" bIns="0" rtlCol="0" anchor="ctr"/>
          <a:lstStyle/>
          <a:p>
            <a:pPr algn="ctr" indent="0" marL="0">
              <a:buNone/>
            </a:pPr>
            <a:r>
              <a:rPr lang="en-US" sz="1100" b="1" dirty="0">
                <a:solidFill>
                  <a:srgbClr val="7C5CFF"/>
                </a:solidFill>
                <a:latin typeface="Instrument Sans" pitchFamily="34" charset="0"/>
                <a:ea typeface="Instrument Sans" pitchFamily="34" charset="-122"/>
                <a:cs typeface="Instrument Sans" pitchFamily="34" charset="-120"/>
              </a:rPr>
              <a:t>learnings feed the next intake</a:t>
            </a:r>
            <a:endParaRPr lang="en-US" sz="1100" dirty="0"/>
          </a:p>
        </p:txBody>
      </p:sp>
      <p:sp>
        <p:nvSpPr>
          <p:cNvPr id="42" name="Text 40"/>
          <p:cNvSpPr/>
          <p:nvPr/>
        </p:nvSpPr>
        <p:spPr>
          <a:xfrm>
            <a:off x="548640" y="5349240"/>
            <a:ext cx="11064240" cy="640080"/>
          </a:xfrm>
          <a:prstGeom prst="rect">
            <a:avLst/>
          </a:prstGeom>
          <a:noFill/>
          <a:ln/>
        </p:spPr>
        <p:txBody>
          <a:bodyPr wrap="square" lIns="0" tIns="0" rIns="0" bIns="0" rtlCol="0" anchor="ctr"/>
          <a:lstStyle/>
          <a:p>
            <a:pPr indent="0" marL="0">
              <a:buNone/>
            </a:pPr>
            <a:r>
              <a:rPr lang="en-US" sz="1200" dirty="0">
                <a:solidFill>
                  <a:srgbClr val="E6E6EB"/>
                </a:solidFill>
                <a:latin typeface="Instrument Sans" pitchFamily="34" charset="0"/>
                <a:ea typeface="Instrument Sans" pitchFamily="34" charset="-122"/>
                <a:cs typeface="Instrument Sans" pitchFamily="34" charset="-120"/>
              </a:rPr>
              <a:t>Triaged work goes straight to planned when scope is clear, or through investigating when evidence is needed. Executing can bounce through blocked and back. Nothing is done until the learning is captured.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F14"/>
        </a:solidFill>
      </p:bgPr>
    </p:bg>
    <p:spTree>
      <p:nvGrpSpPr>
        <p:cNvPr id="1" name=""/>
        <p:cNvGrpSpPr/>
        <p:nvPr/>
      </p:nvGrpSpPr>
      <p:grpSpPr>
        <a:xfrm>
          <a:off x="0" y="0"/>
          <a:ext cx="0" cy="0"/>
          <a:chOff x="0" y="0"/>
          <a:chExt cx="0" cy="0"/>
        </a:xfrm>
      </p:grpSpPr>
      <p:sp>
        <p:nvSpPr>
          <p:cNvPr id="2" name="Shape 0"/>
          <p:cNvSpPr/>
          <p:nvPr/>
        </p:nvSpPr>
        <p:spPr>
          <a:xfrm>
            <a:off x="11759184" y="384048"/>
            <a:ext cx="118872" cy="118872"/>
          </a:xfrm>
          <a:prstGeom prst="ellipse">
            <a:avLst/>
          </a:prstGeom>
          <a:solidFill>
            <a:srgbClr val="7C5CFF"/>
          </a:solidFill>
          <a:ln/>
        </p:spPr>
      </p:sp>
      <p:sp>
        <p:nvSpPr>
          <p:cNvPr id="3" name="Text 1"/>
          <p:cNvSpPr/>
          <p:nvPr/>
        </p:nvSpPr>
        <p:spPr>
          <a:xfrm>
            <a:off x="457200" y="274320"/>
            <a:ext cx="10789920" cy="502920"/>
          </a:xfrm>
          <a:prstGeom prst="rect">
            <a:avLst/>
          </a:prstGeom>
          <a:noFill/>
          <a:ln/>
        </p:spPr>
        <p:txBody>
          <a:bodyPr wrap="square" lIns="0" tIns="0" rIns="0" bIns="0" rtlCol="0" anchor="ctr"/>
          <a:lstStyle/>
          <a:p>
            <a:pPr indent="0" marL="0">
              <a:buNone/>
            </a:pPr>
            <a:r>
              <a:rPr lang="en-US" sz="2600" b="1" dirty="0">
                <a:solidFill>
                  <a:srgbClr val="FFFFFF"/>
                </a:solidFill>
                <a:latin typeface="Instrument Sans" pitchFamily="34" charset="0"/>
                <a:ea typeface="Instrument Sans" pitchFamily="34" charset="-122"/>
                <a:cs typeface="Instrument Sans" pitchFamily="34" charset="-120"/>
              </a:rPr>
              <a:t>Autonomy today</a:t>
            </a:r>
            <a:endParaRPr lang="en-US" sz="2600" dirty="0"/>
          </a:p>
        </p:txBody>
      </p:sp>
      <p:sp>
        <p:nvSpPr>
          <p:cNvPr id="4" name="Text 2"/>
          <p:cNvSpPr/>
          <p:nvPr/>
        </p:nvSpPr>
        <p:spPr>
          <a:xfrm>
            <a:off x="457200" y="804672"/>
            <a:ext cx="11247120" cy="347472"/>
          </a:xfrm>
          <a:prstGeom prst="rect">
            <a:avLst/>
          </a:prstGeom>
          <a:noFill/>
          <a:ln/>
        </p:spPr>
        <p:txBody>
          <a:bodyPr wrap="square" lIns="0" tIns="0" rIns="0" bIns="0" rtlCol="0" anchor="ct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Prove a workflow with a human at the keyboard, then graduate it to a schedule</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2834640"/>
                <a:gridCol w="4480560"/>
                <a:gridCol w="3959352"/>
              </a:tblGrid>
              <a:tr h="457200">
                <a:tc>
                  <a:txBody>
                    <a:bodyPr/>
                    <a:lstStyle/>
                    <a:p>
                      <a:pPr indent="0" marL="0">
                        <a:buNone/>
                      </a:pPr>
                      <a:r>
                        <a:rPr lang="en-US" sz="1250" b="1" dirty="0">
                          <a:solidFill>
                            <a:srgbClr val="FFFFFF"/>
                          </a:solidFill>
                          <a:latin typeface="Instrument Sans" pitchFamily="34" charset="0"/>
                          <a:ea typeface="Instrument Sans" pitchFamily="34" charset="-122"/>
                          <a:cs typeface="Instrument Sans" pitchFamily="34" charset="-120"/>
                        </a:rPr>
                        <a:t>Mode</a:t>
                      </a:r>
                      <a:endParaRPr lang="en-US" sz="1250" dirty="0">
                        <a:latin typeface="Instrument Sans" charset="0"/>
                        <a:ea typeface="Instrument Sans" charset="0"/>
                        <a:cs typeface="Instrument Sans" charset="0"/>
                      </a:endParaRPr>
                    </a:p>
                  </a:txBody>
                  <a:tcPr marL="109728" marR="109728" marT="109728" marB="109728"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2A2A35"/>
                    </a:solidFill>
                  </a:tcPr>
                </a:tc>
                <a:tc>
                  <a:txBody>
                    <a:bodyPr/>
                    <a:lstStyle/>
                    <a:p>
                      <a:pPr indent="0" marL="0">
                        <a:buNone/>
                      </a:pPr>
                      <a:r>
                        <a:rPr lang="en-US" sz="1250" b="1" dirty="0">
                          <a:solidFill>
                            <a:srgbClr val="FFFFFF"/>
                          </a:solidFill>
                          <a:latin typeface="Instrument Sans" pitchFamily="34" charset="0"/>
                          <a:ea typeface="Instrument Sans" pitchFamily="34" charset="-122"/>
                          <a:cs typeface="Instrument Sans" pitchFamily="34" charset="-120"/>
                        </a:rPr>
                        <a:t>What runs</a:t>
                      </a:r>
                      <a:endParaRPr lang="en-US" sz="1250" dirty="0">
                        <a:latin typeface="Instrument Sans" charset="0"/>
                        <a:ea typeface="Instrument Sans" charset="0"/>
                        <a:cs typeface="Instrument Sans" charset="0"/>
                      </a:endParaRPr>
                    </a:p>
                  </a:txBody>
                  <a:tcPr marL="109728" marR="109728" marT="109728" marB="109728"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2A2A35"/>
                    </a:solidFill>
                  </a:tcPr>
                </a:tc>
                <a:tc>
                  <a:txBody>
                    <a:bodyPr/>
                    <a:lstStyle/>
                    <a:p>
                      <a:pPr indent="0" marL="0">
                        <a:buNone/>
                      </a:pPr>
                      <a:r>
                        <a:rPr lang="en-US" sz="1250" b="1" dirty="0">
                          <a:solidFill>
                            <a:srgbClr val="FFFFFF"/>
                          </a:solidFill>
                          <a:latin typeface="Instrument Sans" pitchFamily="34" charset="0"/>
                          <a:ea typeface="Instrument Sans" pitchFamily="34" charset="-122"/>
                          <a:cs typeface="Instrument Sans" pitchFamily="34" charset="-120"/>
                        </a:rPr>
                        <a:t>Examples</a:t>
                      </a:r>
                      <a:endParaRPr lang="en-US" sz="1250" dirty="0">
                        <a:latin typeface="Instrument Sans" charset="0"/>
                        <a:ea typeface="Instrument Sans" charset="0"/>
                        <a:cs typeface="Instrument Sans" charset="0"/>
                      </a:endParaRPr>
                    </a:p>
                  </a:txBody>
                  <a:tcPr marL="109728" marR="109728" marT="109728" marB="109728"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2A2A35"/>
                    </a:solidFill>
                  </a:tcPr>
                </a:tc>
              </a:tr>
              <a:tr h="1051560">
                <a:tc>
                  <a:txBody>
                    <a:bodyPr/>
                    <a:lstStyle/>
                    <a:p>
                      <a:pPr indent="0" marL="0">
                        <a:buNone/>
                      </a:pPr>
                      <a:r>
                        <a:rPr lang="en-US" sz="1250" b="1" dirty="0">
                          <a:solidFill>
                            <a:srgbClr val="FFFFFF"/>
                          </a:solidFill>
                          <a:latin typeface="Instrument Sans" pitchFamily="34" charset="0"/>
                          <a:ea typeface="Instrument Sans" pitchFamily="34" charset="-122"/>
                          <a:cs typeface="Instrument Sans" pitchFamily="34" charset="-120"/>
                        </a:rPr>
                        <a:t>Assistive</a:t>
                      </a:r>
                      <a:endParaRPr lang="en-US" sz="1250" dirty="0">
                        <a:latin typeface="Instrument Sans" charset="0"/>
                        <a:ea typeface="Instrument Sans" charset="0"/>
                        <a:cs typeface="Instrument Sans" charset="0"/>
                      </a:endParaRPr>
                    </a:p>
                    <a:p>
                      <a:pPr indent="0" marL="0">
                        <a:buNone/>
                      </a:pPr>
                      <a:r>
                        <a:rPr lang="en-US" sz="1250" b="1" dirty="0">
                          <a:solidFill>
                            <a:srgbClr val="FFFFFF"/>
                          </a:solidFill>
                          <a:latin typeface="Instrument Sans" pitchFamily="34" charset="0"/>
                          <a:ea typeface="Instrument Sans" pitchFamily="34" charset="-122"/>
                          <a:cs typeface="Instrument Sans" pitchFamily="34" charset="-120"/>
                        </a:rPr>
                        <a:t>human at the keyboard</a:t>
                      </a:r>
                      <a:endParaRPr lang="en-US" sz="1250" dirty="0">
                        <a:latin typeface="Instrument Sans" charset="0"/>
                        <a:ea typeface="Instrument Sans" charset="0"/>
                        <a:cs typeface="Instrument Sans" charset="0"/>
                      </a:endParaRPr>
                    </a:p>
                  </a:txBody>
                  <a:tcPr marL="109728" marR="109728" marT="109728" marB="109728"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C1C24"/>
                    </a:solidFill>
                  </a:tcPr>
                </a:tc>
                <a:tc>
                  <a:txBody>
                    <a:bodyP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Skills invoked in Claude Code, claude.ai, or Chrome. Mutating writes ask for approval.</a:t>
                      </a:r>
                      <a:endParaRPr lang="en-US" sz="1250" dirty="0">
                        <a:latin typeface="Instrument Sans" charset="0"/>
                        <a:ea typeface="Instrument Sans" charset="0"/>
                        <a:cs typeface="Instrument Sans" charset="0"/>
                      </a:endParaRPr>
                    </a:p>
                  </a:txBody>
                  <a:tcPr marL="109728" marR="109728" marT="109728" marB="109728"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C1C24"/>
                    </a:solidFill>
                  </a:tcPr>
                </a:tc>
                <a:tc>
                  <a:txBody>
                    <a:bodyP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/marketing-brain, /good-morning, /pm-story, /page-cro, /nir-monthly-report</a:t>
                      </a:r>
                      <a:endParaRPr lang="en-US" sz="1250" dirty="0">
                        <a:latin typeface="Instrument Sans" charset="0"/>
                        <a:ea typeface="Instrument Sans" charset="0"/>
                        <a:cs typeface="Instrument Sans" charset="0"/>
                      </a:endParaRPr>
                    </a:p>
                  </a:txBody>
                  <a:tcPr marL="109728" marR="109728" marT="109728" marB="109728"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C1C24"/>
                    </a:solidFill>
                  </a:tcPr>
                </a:tc>
              </a:tr>
              <a:tr h="1051560">
                <a:tc>
                  <a:txBody>
                    <a:bodyPr/>
                    <a:lstStyle/>
                    <a:p>
                      <a:pPr indent="0" marL="0">
                        <a:buNone/>
                      </a:pPr>
                      <a:r>
                        <a:rPr lang="en-US" sz="1250" b="1" dirty="0">
                          <a:solidFill>
                            <a:srgbClr val="FFFFFF"/>
                          </a:solidFill>
                          <a:latin typeface="Instrument Sans" pitchFamily="34" charset="0"/>
                          <a:ea typeface="Instrument Sans" pitchFamily="34" charset="-122"/>
                          <a:cs typeface="Instrument Sans" pitchFamily="34" charset="-120"/>
                        </a:rPr>
                        <a:t>Autonomous</a:t>
                      </a:r>
                      <a:endParaRPr lang="en-US" sz="1250" dirty="0">
                        <a:latin typeface="Instrument Sans" charset="0"/>
                        <a:ea typeface="Instrument Sans" charset="0"/>
                        <a:cs typeface="Instrument Sans" charset="0"/>
                      </a:endParaRPr>
                    </a:p>
                    <a:p>
                      <a:pPr indent="0" marL="0">
                        <a:buNone/>
                      </a:pPr>
                      <a:r>
                        <a:rPr lang="en-US" sz="1250" b="1" dirty="0">
                          <a:solidFill>
                            <a:srgbClr val="FFFFFF"/>
                          </a:solidFill>
                          <a:latin typeface="Instrument Sans" pitchFamily="34" charset="0"/>
                          <a:ea typeface="Instrument Sans" pitchFamily="34" charset="-122"/>
                          <a:cs typeface="Instrument Sans" pitchFamily="34" charset="-120"/>
                        </a:rPr>
                        <a:t>scheduled cloud routines</a:t>
                      </a:r>
                      <a:endParaRPr lang="en-US" sz="1250" dirty="0">
                        <a:latin typeface="Instrument Sans" charset="0"/>
                        <a:ea typeface="Instrument Sans" charset="0"/>
                        <a:cs typeface="Instrument Sans" charset="0"/>
                      </a:endParaRPr>
                    </a:p>
                  </a:txBody>
                  <a:tcPr marL="109728" marR="109728" marT="109728" marB="109728"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C1C24"/>
                    </a:solidFill>
                  </a:tcPr>
                </a:tc>
                <a:tc>
                  <a:txBody>
                    <a:bodyP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Proven skills running on a schedule with no human in the loop.</a:t>
                      </a:r>
                      <a:endParaRPr lang="en-US" sz="1250" dirty="0">
                        <a:latin typeface="Instrument Sans" charset="0"/>
                        <a:ea typeface="Instrument Sans" charset="0"/>
                        <a:cs typeface="Instrument Sans" charset="0"/>
                      </a:endParaRPr>
                    </a:p>
                  </a:txBody>
                  <a:tcPr marL="109728" marR="109728" marT="109728" marB="109728"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C1C24"/>
                    </a:solidFill>
                  </a:tcPr>
                </a:tc>
                <a:tc>
                  <a:txBody>
                    <a:bodyP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/nir-mql-live-report daily, /invoice-inbox-to-monday weekly, /access-welcome daily</a:t>
                      </a:r>
                      <a:endParaRPr lang="en-US" sz="1250" dirty="0">
                        <a:latin typeface="Instrument Sans" charset="0"/>
                        <a:ea typeface="Instrument Sans" charset="0"/>
                        <a:cs typeface="Instrument Sans" charset="0"/>
                      </a:endParaRPr>
                    </a:p>
                  </a:txBody>
                  <a:tcPr marL="109728" marR="109728" marT="109728" marB="109728"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C1C24"/>
                    </a:solidFill>
                  </a:tcPr>
                </a:tc>
              </a:tr>
              <a:tr h="1051560">
                <a:tc>
                  <a:txBody>
                    <a:bodyPr/>
                    <a:lstStyle/>
                    <a:p>
                      <a:pPr indent="0" marL="0">
                        <a:buNone/>
                      </a:pPr>
                      <a:r>
                        <a:rPr lang="en-US" sz="1250" b="1" dirty="0">
                          <a:solidFill>
                            <a:srgbClr val="FFFFFF"/>
                          </a:solidFill>
                          <a:latin typeface="Instrument Sans" pitchFamily="34" charset="0"/>
                          <a:ea typeface="Instrument Sans" pitchFamily="34" charset="-122"/>
                          <a:cs typeface="Instrument Sans" pitchFamily="34" charset="-120"/>
                        </a:rPr>
                        <a:t>Autonomous</a:t>
                      </a:r>
                      <a:endParaRPr lang="en-US" sz="1250" dirty="0">
                        <a:latin typeface="Instrument Sans" charset="0"/>
                        <a:ea typeface="Instrument Sans" charset="0"/>
                        <a:cs typeface="Instrument Sans" charset="0"/>
                      </a:endParaRPr>
                    </a:p>
                    <a:p>
                      <a:pPr indent="0" marL="0">
                        <a:buNone/>
                      </a:pPr>
                      <a:r>
                        <a:rPr lang="en-US" sz="1250" b="1" dirty="0">
                          <a:solidFill>
                            <a:srgbClr val="FFFFFF"/>
                          </a:solidFill>
                          <a:latin typeface="Instrument Sans" pitchFamily="34" charset="0"/>
                          <a:ea typeface="Instrument Sans" pitchFamily="34" charset="-122"/>
                          <a:cs typeface="Instrument Sans" pitchFamily="34" charset="-120"/>
                        </a:rPr>
                        <a:t>on repo events</a:t>
                      </a:r>
                      <a:endParaRPr lang="en-US" sz="1250" dirty="0">
                        <a:latin typeface="Instrument Sans" charset="0"/>
                        <a:ea typeface="Instrument Sans" charset="0"/>
                        <a:cs typeface="Instrument Sans" charset="0"/>
                      </a:endParaRPr>
                    </a:p>
                  </a:txBody>
                  <a:tcPr marL="109728" marR="109728" marT="109728" marB="109728"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C1C24"/>
                    </a:solidFill>
                  </a:tcPr>
                </a:tc>
                <a:tc>
                  <a:txBody>
                    <a:bodyP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Automation that keeps the brain itself healthy.</a:t>
                      </a:r>
                      <a:endParaRPr lang="en-US" sz="1250" dirty="0">
                        <a:latin typeface="Instrument Sans" charset="0"/>
                        <a:ea typeface="Instrument Sans" charset="0"/>
                        <a:cs typeface="Instrument Sans" charset="0"/>
                      </a:endParaRPr>
                    </a:p>
                  </a:txBody>
                  <a:tcPr marL="109728" marR="109728" marT="109728" marB="109728"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C1C24"/>
                    </a:solidFill>
                  </a:tcPr>
                </a:tc>
                <a:tc>
                  <a:txBody>
                    <a:bodyP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CI lint on every PR, doc-agent wiki and graph sync on every merge</a:t>
                      </a:r>
                      <a:endParaRPr lang="en-US" sz="1250" dirty="0">
                        <a:latin typeface="Instrument Sans" charset="0"/>
                        <a:ea typeface="Instrument Sans" charset="0"/>
                        <a:cs typeface="Instrument Sans" charset="0"/>
                      </a:endParaRPr>
                    </a:p>
                  </a:txBody>
                  <a:tcPr marL="109728" marR="109728" marT="109728" marB="109728"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C1C24"/>
                    </a:solidFill>
                  </a:tcPr>
                </a:tc>
              </a:tr>
            </a:tbl>
          </a:graphicData>
        </a:graphic>
      </p:graphicFrame>
      <p:sp>
        <p:nvSpPr>
          <p:cNvPr id="6" name="Text 3"/>
          <p:cNvSpPr/>
          <p:nvPr/>
        </p:nvSpPr>
        <p:spPr>
          <a:xfrm>
            <a:off x="457200" y="5943600"/>
            <a:ext cx="11247120" cy="548640"/>
          </a:xfrm>
          <a:prstGeom prst="rect">
            <a:avLst/>
          </a:prstGeom>
          <a:noFill/>
          <a:ln/>
        </p:spPr>
        <p:txBody>
          <a:bodyPr wrap="square" lIns="0" tIns="0" rIns="0" bIns="0" rtlCol="0" anchor="ctr"/>
          <a:lstStyle/>
          <a:p>
            <a:pPr indent="0" marL="0">
              <a:buNone/>
            </a:pPr>
            <a:r>
              <a:rPr lang="en-US" sz="1150" dirty="0">
                <a:solidFill>
                  <a:srgbClr val="9B9BA8"/>
                </a:solidFill>
                <a:latin typeface="Instrument Sans" pitchFamily="34" charset="0"/>
                <a:ea typeface="Instrument Sans" pitchFamily="34" charset="-122"/>
                <a:cs typeface="Instrument Sans" pitchFamily="34" charset="-120"/>
              </a:rPr>
              <a:t>This is the same arc R&amp;D's ATA platform formalizes as assistive to autonomous: the Marketing OS runs it on managed Claude infrastructure instead of an owned runtime.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F14"/>
        </a:solidFill>
      </p:bgPr>
    </p:bg>
    <p:spTree>
      <p:nvGrpSpPr>
        <p:cNvPr id="1" name=""/>
        <p:cNvGrpSpPr/>
        <p:nvPr/>
      </p:nvGrpSpPr>
      <p:grpSpPr>
        <a:xfrm>
          <a:off x="0" y="0"/>
          <a:ext cx="0" cy="0"/>
          <a:chOff x="0" y="0"/>
          <a:chExt cx="0" cy="0"/>
        </a:xfrm>
      </p:grpSpPr>
      <p:sp>
        <p:nvSpPr>
          <p:cNvPr id="2" name="Shape 0"/>
          <p:cNvSpPr/>
          <p:nvPr/>
        </p:nvSpPr>
        <p:spPr>
          <a:xfrm>
            <a:off x="11759184" y="384048"/>
            <a:ext cx="118872" cy="118872"/>
          </a:xfrm>
          <a:prstGeom prst="ellipse">
            <a:avLst/>
          </a:prstGeom>
          <a:solidFill>
            <a:srgbClr val="7C5CFF"/>
          </a:solidFill>
          <a:ln/>
        </p:spPr>
      </p:sp>
      <p:sp>
        <p:nvSpPr>
          <p:cNvPr id="3" name="Text 1"/>
          <p:cNvSpPr/>
          <p:nvPr/>
        </p:nvSpPr>
        <p:spPr>
          <a:xfrm>
            <a:off x="457200" y="274320"/>
            <a:ext cx="10789920" cy="502920"/>
          </a:xfrm>
          <a:prstGeom prst="rect">
            <a:avLst/>
          </a:prstGeom>
          <a:noFill/>
          <a:ln/>
        </p:spPr>
        <p:txBody>
          <a:bodyPr wrap="square" lIns="0" tIns="0" rIns="0" bIns="0" rtlCol="0" anchor="ctr"/>
          <a:lstStyle/>
          <a:p>
            <a:pPr indent="0" marL="0">
              <a:buNone/>
            </a:pPr>
            <a:r>
              <a:rPr lang="en-US" sz="2600" b="1" dirty="0">
                <a:solidFill>
                  <a:srgbClr val="FFFFFF"/>
                </a:solidFill>
                <a:latin typeface="Instrument Sans" pitchFamily="34" charset="0"/>
                <a:ea typeface="Instrument Sans" pitchFamily="34" charset="-122"/>
                <a:cs typeface="Instrument Sans" pitchFamily="34" charset="-120"/>
              </a:rPr>
              <a:t>What each team leader gets</a:t>
            </a:r>
            <a:endParaRPr lang="en-US" sz="2600" dirty="0"/>
          </a:p>
        </p:txBody>
      </p:sp>
      <p:sp>
        <p:nvSpPr>
          <p:cNvPr id="4" name="Text 2"/>
          <p:cNvSpPr/>
          <p:nvPr/>
        </p:nvSpPr>
        <p:spPr>
          <a:xfrm>
            <a:off x="457200" y="804672"/>
            <a:ext cx="11247120" cy="347472"/>
          </a:xfrm>
          <a:prstGeom prst="rect">
            <a:avLst/>
          </a:prstGeom>
          <a:noFill/>
          <a:ln/>
        </p:spPr>
        <p:txBody>
          <a:bodyPr wrap="square" lIns="0" tIns="0" rIns="0" bIns="0" rtlCol="0" anchor="ct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The system is shared, the payoff is personal. Live use cases, not a roadmap: every skill named here exists in the repo today</a:t>
            </a:r>
            <a:endParaRPr lang="en-US" sz="1250" dirty="0"/>
          </a:p>
        </p:txBody>
      </p:sp>
      <p:sp>
        <p:nvSpPr>
          <p:cNvPr id="5" name="Shape 3"/>
          <p:cNvSpPr/>
          <p:nvPr/>
        </p:nvSpPr>
        <p:spPr>
          <a:xfrm>
            <a:off x="457200" y="1371600"/>
            <a:ext cx="2642616" cy="2331720"/>
          </a:xfrm>
          <a:prstGeom prst="roundRect">
            <a:avLst>
              <a:gd name="adj" fmla="val 3137"/>
            </a:avLst>
          </a:prstGeom>
          <a:solidFill>
            <a:srgbClr val="1C1C24"/>
          </a:solidFill>
          <a:ln w="12700">
            <a:solidFill>
              <a:srgbClr val="2A2A35"/>
            </a:solidFill>
            <a:prstDash val="solid"/>
          </a:ln>
        </p:spPr>
      </p:sp>
      <p:sp>
        <p:nvSpPr>
          <p:cNvPr id="6" name="Text 4"/>
          <p:cNvSpPr/>
          <p:nvPr/>
        </p:nvSpPr>
        <p:spPr>
          <a:xfrm>
            <a:off x="640080" y="1517904"/>
            <a:ext cx="2276856" cy="201168"/>
          </a:xfrm>
          <a:prstGeom prst="rect">
            <a:avLst/>
          </a:prstGeom>
          <a:noFill/>
          <a:ln/>
        </p:spPr>
        <p:txBody>
          <a:bodyPr wrap="square" lIns="0" tIns="0" rIns="0" bIns="0" rtlCol="0" anchor="ctr"/>
          <a:lstStyle/>
          <a:p>
            <a:pPr indent="0" marL="0">
              <a:buNone/>
            </a:pPr>
            <a:r>
              <a:rPr lang="en-US" sz="800" b="1" spc="120" kern="0" dirty="0">
                <a:solidFill>
                  <a:srgbClr val="7C5CFF"/>
                </a:solidFill>
                <a:latin typeface="Instrument Sans" pitchFamily="34" charset="0"/>
                <a:ea typeface="Instrument Sans" pitchFamily="34" charset="-122"/>
                <a:cs typeface="Instrument Sans" pitchFamily="34" charset="-120"/>
              </a:rPr>
              <a:t>VP MARKETING</a:t>
            </a:r>
            <a:endParaRPr lang="en-US" sz="800" dirty="0"/>
          </a:p>
        </p:txBody>
      </p:sp>
      <p:sp>
        <p:nvSpPr>
          <p:cNvPr id="7" name="Text 5"/>
          <p:cNvSpPr/>
          <p:nvPr/>
        </p:nvSpPr>
        <p:spPr>
          <a:xfrm>
            <a:off x="640080" y="1737360"/>
            <a:ext cx="2276856" cy="274320"/>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Abel Grünfeld</a:t>
            </a:r>
            <a:endParaRPr lang="en-US" sz="1300" dirty="0"/>
          </a:p>
        </p:txBody>
      </p:sp>
      <p:sp>
        <p:nvSpPr>
          <p:cNvPr id="8" name="Text 6"/>
          <p:cNvSpPr/>
          <p:nvPr/>
        </p:nvSpPr>
        <p:spPr>
          <a:xfrm>
            <a:off x="640080" y="2066544"/>
            <a:ext cx="2313432" cy="96012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One operating brief: /marketing-brain</a:t>
            </a:r>
            <a:endParaRPr lang="en-US" sz="950" dirty="0"/>
          </a:p>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Attribution via /rivermind:ask</a:t>
            </a:r>
            <a:endParaRPr lang="en-US" sz="950" dirty="0"/>
          </a:p>
        </p:txBody>
      </p:sp>
      <p:sp>
        <p:nvSpPr>
          <p:cNvPr id="9" name="Shape 7"/>
          <p:cNvSpPr/>
          <p:nvPr/>
        </p:nvSpPr>
        <p:spPr>
          <a:xfrm>
            <a:off x="640080" y="3108960"/>
            <a:ext cx="2276856" cy="0"/>
          </a:xfrm>
          <a:prstGeom prst="line">
            <a:avLst/>
          </a:prstGeom>
          <a:noFill/>
          <a:ln w="9525">
            <a:solidFill>
              <a:srgbClr val="2A2A35"/>
            </a:solidFill>
            <a:prstDash val="solid"/>
          </a:ln>
        </p:spPr>
      </p:sp>
      <p:sp>
        <p:nvSpPr>
          <p:cNvPr id="10" name="Text 8"/>
          <p:cNvSpPr/>
          <p:nvPr/>
        </p:nvSpPr>
        <p:spPr>
          <a:xfrm>
            <a:off x="640080" y="3182112"/>
            <a:ext cx="2276856" cy="475488"/>
          </a:xfrm>
          <a:prstGeom prst="rect">
            <a:avLst/>
          </a:prstGeom>
          <a:noFill/>
          <a:ln/>
        </p:spPr>
        <p:txBody>
          <a:bodyPr wrap="square" lIns="0" tIns="0" rIns="0" bIns="0" rtlCol="0" anchor="ctr"/>
          <a:lstStyle/>
          <a:p>
            <a:pPr indent="0" marL="0">
              <a:buNone/>
            </a:pPr>
            <a:r>
              <a:rPr lang="en-US" sz="900" b="1" dirty="0">
                <a:solidFill>
                  <a:srgbClr val="7C5CFF"/>
                </a:solidFill>
                <a:latin typeface="Instrument Sans" pitchFamily="34" charset="0"/>
                <a:ea typeface="Instrument Sans" pitchFamily="34" charset="-122"/>
                <a:cs typeface="Instrument Sans" pitchFamily="34" charset="-120"/>
              </a:rPr>
              <a:t>Payoff:  </a:t>
            </a:r>
            <a:pPr indent="0" marL="0">
              <a:buNone/>
            </a:pPr>
            <a:r>
              <a:rPr lang="en-US" sz="900" dirty="0">
                <a:solidFill>
                  <a:srgbClr val="E6E6EB"/>
                </a:solidFill>
                <a:latin typeface="Instrument Sans" pitchFamily="34" charset="0"/>
                <a:ea typeface="Instrument Sans" pitchFamily="34" charset="-122"/>
                <a:cs typeface="Instrument Sans" pitchFamily="34" charset="-120"/>
              </a:rPr>
              <a:t>Memory that survives turnover</a:t>
            </a:r>
            <a:endParaRPr lang="en-US" sz="900" dirty="0"/>
          </a:p>
        </p:txBody>
      </p:sp>
      <p:sp>
        <p:nvSpPr>
          <p:cNvPr id="11" name="Shape 9"/>
          <p:cNvSpPr/>
          <p:nvPr/>
        </p:nvSpPr>
        <p:spPr>
          <a:xfrm>
            <a:off x="3328416" y="1371600"/>
            <a:ext cx="2642616" cy="2331720"/>
          </a:xfrm>
          <a:prstGeom prst="roundRect">
            <a:avLst>
              <a:gd name="adj" fmla="val 3137"/>
            </a:avLst>
          </a:prstGeom>
          <a:solidFill>
            <a:srgbClr val="1C1C24"/>
          </a:solidFill>
          <a:ln w="12700">
            <a:solidFill>
              <a:srgbClr val="2A2A35"/>
            </a:solidFill>
            <a:prstDash val="solid"/>
          </a:ln>
        </p:spPr>
      </p:sp>
      <p:sp>
        <p:nvSpPr>
          <p:cNvPr id="12" name="Text 10"/>
          <p:cNvSpPr/>
          <p:nvPr/>
        </p:nvSpPr>
        <p:spPr>
          <a:xfrm>
            <a:off x="3511296" y="1517904"/>
            <a:ext cx="2276856" cy="201168"/>
          </a:xfrm>
          <a:prstGeom prst="rect">
            <a:avLst/>
          </a:prstGeom>
          <a:noFill/>
          <a:ln/>
        </p:spPr>
        <p:txBody>
          <a:bodyPr wrap="square" lIns="0" tIns="0" rIns="0" bIns="0" rtlCol="0" anchor="ctr"/>
          <a:lstStyle/>
          <a:p>
            <a:pPr indent="0" marL="0">
              <a:buNone/>
            </a:pPr>
            <a:r>
              <a:rPr lang="en-US" sz="800" b="1" spc="120" kern="0" dirty="0">
                <a:solidFill>
                  <a:srgbClr val="7C5CFF"/>
                </a:solidFill>
                <a:latin typeface="Instrument Sans" pitchFamily="34" charset="0"/>
                <a:ea typeface="Instrument Sans" pitchFamily="34" charset="-122"/>
                <a:cs typeface="Instrument Sans" pitchFamily="34" charset="-120"/>
              </a:rPr>
              <a:t>GROWTH MARKETING</a:t>
            </a:r>
            <a:endParaRPr lang="en-US" sz="800" dirty="0"/>
          </a:p>
        </p:txBody>
      </p:sp>
      <p:sp>
        <p:nvSpPr>
          <p:cNvPr id="13" name="Text 11"/>
          <p:cNvSpPr/>
          <p:nvPr/>
        </p:nvSpPr>
        <p:spPr>
          <a:xfrm>
            <a:off x="3511296" y="1737360"/>
            <a:ext cx="2276856" cy="274320"/>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Nir Taranto</a:t>
            </a:r>
            <a:endParaRPr lang="en-US" sz="1300" dirty="0"/>
          </a:p>
        </p:txBody>
      </p:sp>
      <p:sp>
        <p:nvSpPr>
          <p:cNvPr id="14" name="Text 12"/>
          <p:cNvSpPr/>
          <p:nvPr/>
        </p:nvSpPr>
        <p:spPr>
          <a:xfrm>
            <a:off x="3511296" y="2066544"/>
            <a:ext cx="2313432" cy="96012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Monthly report + daily MQL DM run themselves</a:t>
            </a:r>
            <a:endParaRPr lang="en-US" sz="950" dirty="0"/>
          </a:p>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Paid audits, /page-cro, SEO agent</a:t>
            </a:r>
            <a:endParaRPr lang="en-US" sz="950" dirty="0"/>
          </a:p>
        </p:txBody>
      </p:sp>
      <p:sp>
        <p:nvSpPr>
          <p:cNvPr id="15" name="Shape 13"/>
          <p:cNvSpPr/>
          <p:nvPr/>
        </p:nvSpPr>
        <p:spPr>
          <a:xfrm>
            <a:off x="3511296" y="3108960"/>
            <a:ext cx="2276856" cy="0"/>
          </a:xfrm>
          <a:prstGeom prst="line">
            <a:avLst/>
          </a:prstGeom>
          <a:noFill/>
          <a:ln w="9525">
            <a:solidFill>
              <a:srgbClr val="2A2A35"/>
            </a:solidFill>
            <a:prstDash val="solid"/>
          </a:ln>
        </p:spPr>
      </p:sp>
      <p:sp>
        <p:nvSpPr>
          <p:cNvPr id="16" name="Text 14"/>
          <p:cNvSpPr/>
          <p:nvPr/>
        </p:nvSpPr>
        <p:spPr>
          <a:xfrm>
            <a:off x="3511296" y="3182112"/>
            <a:ext cx="2276856" cy="475488"/>
          </a:xfrm>
          <a:prstGeom prst="rect">
            <a:avLst/>
          </a:prstGeom>
          <a:noFill/>
          <a:ln/>
        </p:spPr>
        <p:txBody>
          <a:bodyPr wrap="square" lIns="0" tIns="0" rIns="0" bIns="0" rtlCol="0" anchor="ctr"/>
          <a:lstStyle/>
          <a:p>
            <a:pPr indent="0" marL="0">
              <a:buNone/>
            </a:pPr>
            <a:r>
              <a:rPr lang="en-US" sz="900" b="1" dirty="0">
                <a:solidFill>
                  <a:srgbClr val="7C5CFF"/>
                </a:solidFill>
                <a:latin typeface="Instrument Sans" pitchFamily="34" charset="0"/>
                <a:ea typeface="Instrument Sans" pitchFamily="34" charset="-122"/>
                <a:cs typeface="Instrument Sans" pitchFamily="34" charset="-120"/>
              </a:rPr>
              <a:t>Payoff:  </a:t>
            </a:r>
            <a:pPr indent="0" marL="0">
              <a:buNone/>
            </a:pPr>
            <a:r>
              <a:rPr lang="en-US" sz="900" dirty="0">
                <a:solidFill>
                  <a:srgbClr val="E6E6EB"/>
                </a:solidFill>
                <a:latin typeface="Instrument Sans" pitchFamily="34" charset="0"/>
                <a:ea typeface="Instrument Sans" pitchFamily="34" charset="-122"/>
                <a:cs typeface="Instrument Sans" pitchFamily="34" charset="-120"/>
              </a:rPr>
              <a:t>Reporting without the data pulls</a:t>
            </a:r>
            <a:endParaRPr lang="en-US" sz="900" dirty="0"/>
          </a:p>
        </p:txBody>
      </p:sp>
      <p:sp>
        <p:nvSpPr>
          <p:cNvPr id="17" name="Shape 15"/>
          <p:cNvSpPr/>
          <p:nvPr/>
        </p:nvSpPr>
        <p:spPr>
          <a:xfrm>
            <a:off x="6199632" y="1371600"/>
            <a:ext cx="2642616" cy="2331720"/>
          </a:xfrm>
          <a:prstGeom prst="roundRect">
            <a:avLst>
              <a:gd name="adj" fmla="val 3137"/>
            </a:avLst>
          </a:prstGeom>
          <a:solidFill>
            <a:srgbClr val="1C1C24"/>
          </a:solidFill>
          <a:ln w="12700">
            <a:solidFill>
              <a:srgbClr val="2A2A35"/>
            </a:solidFill>
            <a:prstDash val="solid"/>
          </a:ln>
        </p:spPr>
      </p:sp>
      <p:sp>
        <p:nvSpPr>
          <p:cNvPr id="18" name="Text 16"/>
          <p:cNvSpPr/>
          <p:nvPr/>
        </p:nvSpPr>
        <p:spPr>
          <a:xfrm>
            <a:off x="6382512" y="1517904"/>
            <a:ext cx="2276856" cy="201168"/>
          </a:xfrm>
          <a:prstGeom prst="rect">
            <a:avLst/>
          </a:prstGeom>
          <a:noFill/>
          <a:ln/>
        </p:spPr>
        <p:txBody>
          <a:bodyPr wrap="square" lIns="0" tIns="0" rIns="0" bIns="0" rtlCol="0" anchor="ctr"/>
          <a:lstStyle/>
          <a:p>
            <a:pPr indent="0" marL="0">
              <a:buNone/>
            </a:pPr>
            <a:r>
              <a:rPr lang="en-US" sz="800" b="1" spc="120" kern="0" dirty="0">
                <a:solidFill>
                  <a:srgbClr val="7C5CFF"/>
                </a:solidFill>
                <a:latin typeface="Instrument Sans" pitchFamily="34" charset="0"/>
                <a:ea typeface="Instrument Sans" pitchFamily="34" charset="-122"/>
                <a:cs typeface="Instrument Sans" pitchFamily="34" charset="-120"/>
              </a:rPr>
              <a:t>BRAND</a:t>
            </a:r>
            <a:endParaRPr lang="en-US" sz="800" dirty="0"/>
          </a:p>
        </p:txBody>
      </p:sp>
      <p:sp>
        <p:nvSpPr>
          <p:cNvPr id="19" name="Text 17"/>
          <p:cNvSpPr/>
          <p:nvPr/>
        </p:nvSpPr>
        <p:spPr>
          <a:xfrm>
            <a:off x="6382512" y="1737360"/>
            <a:ext cx="2276856" cy="274320"/>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Raz Messing</a:t>
            </a:r>
            <a:endParaRPr lang="en-US" sz="1300" dirty="0"/>
          </a:p>
        </p:txBody>
      </p:sp>
      <p:sp>
        <p:nvSpPr>
          <p:cNvPr id="20" name="Text 18"/>
          <p:cNvSpPr/>
          <p:nvPr/>
        </p:nvSpPr>
        <p:spPr>
          <a:xfrm>
            <a:off x="6382512" y="2066544"/>
            <a:ext cx="2313432" cy="96012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Every deck and page on brand by default</a:t>
            </a:r>
            <a:endParaRPr lang="en-US" sz="950" dirty="0"/>
          </a:p>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Design tokens in every build task</a:t>
            </a:r>
            <a:endParaRPr lang="en-US" sz="950" dirty="0"/>
          </a:p>
        </p:txBody>
      </p:sp>
      <p:sp>
        <p:nvSpPr>
          <p:cNvPr id="21" name="Shape 19"/>
          <p:cNvSpPr/>
          <p:nvPr/>
        </p:nvSpPr>
        <p:spPr>
          <a:xfrm>
            <a:off x="6382512" y="3108960"/>
            <a:ext cx="2276856" cy="0"/>
          </a:xfrm>
          <a:prstGeom prst="line">
            <a:avLst/>
          </a:prstGeom>
          <a:noFill/>
          <a:ln w="9525">
            <a:solidFill>
              <a:srgbClr val="2A2A35"/>
            </a:solidFill>
            <a:prstDash val="solid"/>
          </a:ln>
        </p:spPr>
      </p:sp>
      <p:sp>
        <p:nvSpPr>
          <p:cNvPr id="22" name="Text 20"/>
          <p:cNvSpPr/>
          <p:nvPr/>
        </p:nvSpPr>
        <p:spPr>
          <a:xfrm>
            <a:off x="6382512" y="3182112"/>
            <a:ext cx="2276856" cy="475488"/>
          </a:xfrm>
          <a:prstGeom prst="rect">
            <a:avLst/>
          </a:prstGeom>
          <a:noFill/>
          <a:ln/>
        </p:spPr>
        <p:txBody>
          <a:bodyPr wrap="square" lIns="0" tIns="0" rIns="0" bIns="0" rtlCol="0" anchor="ctr"/>
          <a:lstStyle/>
          <a:p>
            <a:pPr indent="0" marL="0">
              <a:buNone/>
            </a:pPr>
            <a:r>
              <a:rPr lang="en-US" sz="900" b="1" dirty="0">
                <a:solidFill>
                  <a:srgbClr val="7C5CFF"/>
                </a:solidFill>
                <a:latin typeface="Instrument Sans" pitchFamily="34" charset="0"/>
                <a:ea typeface="Instrument Sans" pitchFamily="34" charset="-122"/>
                <a:cs typeface="Instrument Sans" pitchFamily="34" charset="-120"/>
              </a:rPr>
              <a:t>Payoff:  </a:t>
            </a:r>
            <a:pPr indent="0" marL="0">
              <a:buNone/>
            </a:pPr>
            <a:r>
              <a:rPr lang="en-US" sz="900" dirty="0">
                <a:solidFill>
                  <a:srgbClr val="E6E6EB"/>
                </a:solidFill>
                <a:latin typeface="Instrument Sans" pitchFamily="34" charset="0"/>
                <a:ea typeface="Instrument Sans" pitchFamily="34" charset="-122"/>
                <a:cs typeface="Instrument Sans" pitchFamily="34" charset="-120"/>
              </a:rPr>
              <a:t>Executable guidelines, zero policing</a:t>
            </a:r>
            <a:endParaRPr lang="en-US" sz="900" dirty="0"/>
          </a:p>
        </p:txBody>
      </p:sp>
      <p:sp>
        <p:nvSpPr>
          <p:cNvPr id="23" name="Shape 21"/>
          <p:cNvSpPr/>
          <p:nvPr/>
        </p:nvSpPr>
        <p:spPr>
          <a:xfrm>
            <a:off x="9070848" y="1371600"/>
            <a:ext cx="2642616" cy="2331720"/>
          </a:xfrm>
          <a:prstGeom prst="roundRect">
            <a:avLst>
              <a:gd name="adj" fmla="val 3137"/>
            </a:avLst>
          </a:prstGeom>
          <a:solidFill>
            <a:srgbClr val="1C1C24"/>
          </a:solidFill>
          <a:ln w="12700">
            <a:solidFill>
              <a:srgbClr val="2A2A35"/>
            </a:solidFill>
            <a:prstDash val="solid"/>
          </a:ln>
        </p:spPr>
      </p:sp>
      <p:sp>
        <p:nvSpPr>
          <p:cNvPr id="24" name="Text 22"/>
          <p:cNvSpPr/>
          <p:nvPr/>
        </p:nvSpPr>
        <p:spPr>
          <a:xfrm>
            <a:off x="9253728" y="1517904"/>
            <a:ext cx="2276856" cy="201168"/>
          </a:xfrm>
          <a:prstGeom prst="rect">
            <a:avLst/>
          </a:prstGeom>
          <a:noFill/>
          <a:ln/>
        </p:spPr>
        <p:txBody>
          <a:bodyPr wrap="square" lIns="0" tIns="0" rIns="0" bIns="0" rtlCol="0" anchor="ctr"/>
          <a:lstStyle/>
          <a:p>
            <a:pPr indent="0" marL="0">
              <a:buNone/>
            </a:pPr>
            <a:r>
              <a:rPr lang="en-US" sz="800" b="1" spc="120" kern="0" dirty="0">
                <a:solidFill>
                  <a:srgbClr val="7C5CFF"/>
                </a:solidFill>
                <a:latin typeface="Instrument Sans" pitchFamily="34" charset="0"/>
                <a:ea typeface="Instrument Sans" pitchFamily="34" charset="-122"/>
                <a:cs typeface="Instrument Sans" pitchFamily="34" charset="-120"/>
              </a:rPr>
              <a:t>MARKETING: PMM + CONTENT</a:t>
            </a:r>
            <a:endParaRPr lang="en-US" sz="800" dirty="0"/>
          </a:p>
        </p:txBody>
      </p:sp>
      <p:sp>
        <p:nvSpPr>
          <p:cNvPr id="25" name="Text 23"/>
          <p:cNvSpPr/>
          <p:nvPr/>
        </p:nvSpPr>
        <p:spPr>
          <a:xfrm>
            <a:off x="9253728" y="1737360"/>
            <a:ext cx="2276856" cy="274320"/>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Sivan Mazuz</a:t>
            </a:r>
            <a:endParaRPr lang="en-US" sz="1300" dirty="0"/>
          </a:p>
        </p:txBody>
      </p:sp>
      <p:sp>
        <p:nvSpPr>
          <p:cNvPr id="26" name="Text 24"/>
          <p:cNvSpPr/>
          <p:nvPr/>
        </p:nvSpPr>
        <p:spPr>
          <a:xfrm>
            <a:off x="9253728" y="2066544"/>
            <a:ext cx="2313432" cy="96012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Messaging + VoC in every copy task</a:t>
            </a:r>
            <a:endParaRPr lang="en-US" sz="950" dirty="0"/>
          </a:p>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Customer language from Gong on tap</a:t>
            </a:r>
            <a:endParaRPr lang="en-US" sz="950" dirty="0"/>
          </a:p>
        </p:txBody>
      </p:sp>
      <p:sp>
        <p:nvSpPr>
          <p:cNvPr id="27" name="Shape 25"/>
          <p:cNvSpPr/>
          <p:nvPr/>
        </p:nvSpPr>
        <p:spPr>
          <a:xfrm>
            <a:off x="9253728" y="3108960"/>
            <a:ext cx="2276856" cy="0"/>
          </a:xfrm>
          <a:prstGeom prst="line">
            <a:avLst/>
          </a:prstGeom>
          <a:noFill/>
          <a:ln w="9525">
            <a:solidFill>
              <a:srgbClr val="2A2A35"/>
            </a:solidFill>
            <a:prstDash val="solid"/>
          </a:ln>
        </p:spPr>
      </p:sp>
      <p:sp>
        <p:nvSpPr>
          <p:cNvPr id="28" name="Text 26"/>
          <p:cNvSpPr/>
          <p:nvPr/>
        </p:nvSpPr>
        <p:spPr>
          <a:xfrm>
            <a:off x="9253728" y="3182112"/>
            <a:ext cx="2276856" cy="475488"/>
          </a:xfrm>
          <a:prstGeom prst="rect">
            <a:avLst/>
          </a:prstGeom>
          <a:noFill/>
          <a:ln/>
        </p:spPr>
        <p:txBody>
          <a:bodyPr wrap="square" lIns="0" tIns="0" rIns="0" bIns="0" rtlCol="0" anchor="ctr"/>
          <a:lstStyle/>
          <a:p>
            <a:pPr indent="0" marL="0">
              <a:buNone/>
            </a:pPr>
            <a:r>
              <a:rPr lang="en-US" sz="900" b="1" dirty="0">
                <a:solidFill>
                  <a:srgbClr val="7C5CFF"/>
                </a:solidFill>
                <a:latin typeface="Instrument Sans" pitchFamily="34" charset="0"/>
                <a:ea typeface="Instrument Sans" pitchFamily="34" charset="-122"/>
                <a:cs typeface="Instrument Sans" pitchFamily="34" charset="-120"/>
              </a:rPr>
              <a:t>Payoff:  </a:t>
            </a:r>
            <a:pPr indent="0" marL="0">
              <a:buNone/>
            </a:pPr>
            <a:r>
              <a:rPr lang="en-US" sz="900" dirty="0">
                <a:solidFill>
                  <a:srgbClr val="E6E6EB"/>
                </a:solidFill>
                <a:latin typeface="Instrument Sans" pitchFamily="34" charset="0"/>
                <a:ea typeface="Instrument Sans" pitchFamily="34" charset="-122"/>
                <a:cs typeface="Instrument Sans" pitchFamily="34" charset="-120"/>
              </a:rPr>
              <a:t>One source of truth for positioning</a:t>
            </a:r>
            <a:endParaRPr lang="en-US" sz="900" dirty="0"/>
          </a:p>
        </p:txBody>
      </p:sp>
      <p:sp>
        <p:nvSpPr>
          <p:cNvPr id="29" name="Shape 27"/>
          <p:cNvSpPr/>
          <p:nvPr/>
        </p:nvSpPr>
        <p:spPr>
          <a:xfrm>
            <a:off x="457200" y="3931920"/>
            <a:ext cx="2642616" cy="2331720"/>
          </a:xfrm>
          <a:prstGeom prst="roundRect">
            <a:avLst>
              <a:gd name="adj" fmla="val 3137"/>
            </a:avLst>
          </a:prstGeom>
          <a:solidFill>
            <a:srgbClr val="1C1C24"/>
          </a:solidFill>
          <a:ln w="12700">
            <a:solidFill>
              <a:srgbClr val="2A2A35"/>
            </a:solidFill>
            <a:prstDash val="solid"/>
          </a:ln>
        </p:spPr>
      </p:sp>
      <p:sp>
        <p:nvSpPr>
          <p:cNvPr id="30" name="Text 28"/>
          <p:cNvSpPr/>
          <p:nvPr/>
        </p:nvSpPr>
        <p:spPr>
          <a:xfrm>
            <a:off x="640080" y="4078224"/>
            <a:ext cx="2276856" cy="201168"/>
          </a:xfrm>
          <a:prstGeom prst="rect">
            <a:avLst/>
          </a:prstGeom>
          <a:noFill/>
          <a:ln/>
        </p:spPr>
        <p:txBody>
          <a:bodyPr wrap="square" lIns="0" tIns="0" rIns="0" bIns="0" rtlCol="0" anchor="ctr"/>
          <a:lstStyle/>
          <a:p>
            <a:pPr indent="0" marL="0">
              <a:buNone/>
            </a:pPr>
            <a:r>
              <a:rPr lang="en-US" sz="800" b="1" spc="120" kern="0" dirty="0">
                <a:solidFill>
                  <a:srgbClr val="7C5CFF"/>
                </a:solidFill>
                <a:latin typeface="Instrument Sans" pitchFamily="34" charset="0"/>
                <a:ea typeface="Instrument Sans" pitchFamily="34" charset="-122"/>
                <a:cs typeface="Instrument Sans" pitchFamily="34" charset="-120"/>
              </a:rPr>
              <a:t>PAID ACQUISITION</a:t>
            </a:r>
            <a:endParaRPr lang="en-US" sz="800" dirty="0"/>
          </a:p>
        </p:txBody>
      </p:sp>
      <p:sp>
        <p:nvSpPr>
          <p:cNvPr id="31" name="Text 29"/>
          <p:cNvSpPr/>
          <p:nvPr/>
        </p:nvSpPr>
        <p:spPr>
          <a:xfrm>
            <a:off x="640080" y="4297680"/>
            <a:ext cx="2276856" cy="274320"/>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Raz Navon</a:t>
            </a:r>
            <a:endParaRPr lang="en-US" sz="1300" dirty="0"/>
          </a:p>
        </p:txBody>
      </p:sp>
      <p:sp>
        <p:nvSpPr>
          <p:cNvPr id="32" name="Text 30"/>
          <p:cNvSpPr/>
          <p:nvPr/>
        </p:nvSpPr>
        <p:spPr>
          <a:xfrm>
            <a:off x="640080" y="4626864"/>
            <a:ext cx="2313432" cy="96012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Live channel access, 250+ check audits</a:t>
            </a:r>
            <a:endParaRPr lang="en-US" sz="950" dirty="0"/>
          </a:p>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Brand DNA, copy, and ad-image skills</a:t>
            </a:r>
            <a:endParaRPr lang="en-US" sz="950" dirty="0"/>
          </a:p>
        </p:txBody>
      </p:sp>
      <p:sp>
        <p:nvSpPr>
          <p:cNvPr id="33" name="Shape 31"/>
          <p:cNvSpPr/>
          <p:nvPr/>
        </p:nvSpPr>
        <p:spPr>
          <a:xfrm>
            <a:off x="640080" y="5669280"/>
            <a:ext cx="2276856" cy="0"/>
          </a:xfrm>
          <a:prstGeom prst="line">
            <a:avLst/>
          </a:prstGeom>
          <a:noFill/>
          <a:ln w="9525">
            <a:solidFill>
              <a:srgbClr val="2A2A35"/>
            </a:solidFill>
            <a:prstDash val="solid"/>
          </a:ln>
        </p:spPr>
      </p:sp>
      <p:sp>
        <p:nvSpPr>
          <p:cNvPr id="34" name="Text 32"/>
          <p:cNvSpPr/>
          <p:nvPr/>
        </p:nvSpPr>
        <p:spPr>
          <a:xfrm>
            <a:off x="640080" y="5742432"/>
            <a:ext cx="2276856" cy="475488"/>
          </a:xfrm>
          <a:prstGeom prst="rect">
            <a:avLst/>
          </a:prstGeom>
          <a:noFill/>
          <a:ln/>
        </p:spPr>
        <p:txBody>
          <a:bodyPr wrap="square" lIns="0" tIns="0" rIns="0" bIns="0" rtlCol="0" anchor="ctr"/>
          <a:lstStyle/>
          <a:p>
            <a:pPr indent="0" marL="0">
              <a:buNone/>
            </a:pPr>
            <a:r>
              <a:rPr lang="en-US" sz="900" b="1" dirty="0">
                <a:solidFill>
                  <a:srgbClr val="7C5CFF"/>
                </a:solidFill>
                <a:latin typeface="Instrument Sans" pitchFamily="34" charset="0"/>
                <a:ea typeface="Instrument Sans" pitchFamily="34" charset="-122"/>
                <a:cs typeface="Instrument Sans" pitchFamily="34" charset="-120"/>
              </a:rPr>
              <a:t>Payoff:  </a:t>
            </a:r>
            <a:pPr indent="0" marL="0">
              <a:buNone/>
            </a:pPr>
            <a:r>
              <a:rPr lang="en-US" sz="900" dirty="0">
                <a:solidFill>
                  <a:srgbClr val="E6E6EB"/>
                </a:solidFill>
                <a:latin typeface="Instrument Sans" pitchFamily="34" charset="0"/>
                <a:ea typeface="Instrument Sans" pitchFamily="34" charset="-122"/>
                <a:cs typeface="Instrument Sans" pitchFamily="34" charset="-120"/>
              </a:rPr>
              <a:t>Full-account audits in hours</a:t>
            </a:r>
            <a:endParaRPr lang="en-US" sz="900" dirty="0"/>
          </a:p>
        </p:txBody>
      </p:sp>
      <p:sp>
        <p:nvSpPr>
          <p:cNvPr id="35" name="Shape 33"/>
          <p:cNvSpPr/>
          <p:nvPr/>
        </p:nvSpPr>
        <p:spPr>
          <a:xfrm>
            <a:off x="3328416" y="3931920"/>
            <a:ext cx="2642616" cy="2331720"/>
          </a:xfrm>
          <a:prstGeom prst="roundRect">
            <a:avLst>
              <a:gd name="adj" fmla="val 3137"/>
            </a:avLst>
          </a:prstGeom>
          <a:solidFill>
            <a:srgbClr val="1C1C24"/>
          </a:solidFill>
          <a:ln w="12700">
            <a:solidFill>
              <a:srgbClr val="2A2A35"/>
            </a:solidFill>
            <a:prstDash val="solid"/>
          </a:ln>
        </p:spPr>
      </p:sp>
      <p:sp>
        <p:nvSpPr>
          <p:cNvPr id="36" name="Text 34"/>
          <p:cNvSpPr/>
          <p:nvPr/>
        </p:nvSpPr>
        <p:spPr>
          <a:xfrm>
            <a:off x="3511296" y="4078224"/>
            <a:ext cx="2276856" cy="201168"/>
          </a:xfrm>
          <a:prstGeom prst="rect">
            <a:avLst/>
          </a:prstGeom>
          <a:noFill/>
          <a:ln/>
        </p:spPr>
        <p:txBody>
          <a:bodyPr wrap="square" lIns="0" tIns="0" rIns="0" bIns="0" rtlCol="0" anchor="ctr"/>
          <a:lstStyle/>
          <a:p>
            <a:pPr indent="0" marL="0">
              <a:buNone/>
            </a:pPr>
            <a:r>
              <a:rPr lang="en-US" sz="800" b="1" spc="120" kern="0" dirty="0">
                <a:solidFill>
                  <a:srgbClr val="7C5CFF"/>
                </a:solidFill>
                <a:latin typeface="Instrument Sans" pitchFamily="34" charset="0"/>
                <a:ea typeface="Instrument Sans" pitchFamily="34" charset="-122"/>
                <a:cs typeface="Instrument Sans" pitchFamily="34" charset="-120"/>
              </a:rPr>
              <a:t>GROWTH CHANNELS</a:t>
            </a:r>
            <a:endParaRPr lang="en-US" sz="800" dirty="0"/>
          </a:p>
        </p:txBody>
      </p:sp>
      <p:sp>
        <p:nvSpPr>
          <p:cNvPr id="37" name="Text 35"/>
          <p:cNvSpPr/>
          <p:nvPr/>
        </p:nvSpPr>
        <p:spPr>
          <a:xfrm>
            <a:off x="3511296" y="4297680"/>
            <a:ext cx="2276856" cy="274320"/>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Dor Druker</a:t>
            </a:r>
            <a:endParaRPr lang="en-US" sz="1300" dirty="0"/>
          </a:p>
        </p:txBody>
      </p:sp>
      <p:sp>
        <p:nvSpPr>
          <p:cNvPr id="38" name="Text 36"/>
          <p:cNvSpPr/>
          <p:nvPr/>
        </p:nvSpPr>
        <p:spPr>
          <a:xfrm>
            <a:off x="3511296" y="4626864"/>
            <a:ext cx="2313432" cy="96012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/campaign-agent runs cross-channel tests</a:t>
            </a:r>
            <a:endParaRPr lang="en-US" sz="950" dirty="0"/>
          </a:p>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/rivermind:ask answers channel questions</a:t>
            </a:r>
            <a:endParaRPr lang="en-US" sz="950" dirty="0"/>
          </a:p>
        </p:txBody>
      </p:sp>
      <p:sp>
        <p:nvSpPr>
          <p:cNvPr id="39" name="Shape 37"/>
          <p:cNvSpPr/>
          <p:nvPr/>
        </p:nvSpPr>
        <p:spPr>
          <a:xfrm>
            <a:off x="3511296" y="5669280"/>
            <a:ext cx="2276856" cy="0"/>
          </a:xfrm>
          <a:prstGeom prst="line">
            <a:avLst/>
          </a:prstGeom>
          <a:noFill/>
          <a:ln w="9525">
            <a:solidFill>
              <a:srgbClr val="2A2A35"/>
            </a:solidFill>
            <a:prstDash val="solid"/>
          </a:ln>
        </p:spPr>
      </p:sp>
      <p:sp>
        <p:nvSpPr>
          <p:cNvPr id="40" name="Text 38"/>
          <p:cNvSpPr/>
          <p:nvPr/>
        </p:nvSpPr>
        <p:spPr>
          <a:xfrm>
            <a:off x="3511296" y="5742432"/>
            <a:ext cx="2276856" cy="475488"/>
          </a:xfrm>
          <a:prstGeom prst="rect">
            <a:avLst/>
          </a:prstGeom>
          <a:noFill/>
          <a:ln/>
        </p:spPr>
        <p:txBody>
          <a:bodyPr wrap="square" lIns="0" tIns="0" rIns="0" bIns="0" rtlCol="0" anchor="ctr"/>
          <a:lstStyle/>
          <a:p>
            <a:pPr indent="0" marL="0">
              <a:buNone/>
            </a:pPr>
            <a:r>
              <a:rPr lang="en-US" sz="900" b="1" dirty="0">
                <a:solidFill>
                  <a:srgbClr val="7C5CFF"/>
                </a:solidFill>
                <a:latin typeface="Instrument Sans" pitchFamily="34" charset="0"/>
                <a:ea typeface="Instrument Sans" pitchFamily="34" charset="-122"/>
                <a:cs typeface="Instrument Sans" pitchFamily="34" charset="-120"/>
              </a:rPr>
              <a:t>Payoff:  </a:t>
            </a:r>
            <a:pPr indent="0" marL="0">
              <a:buNone/>
            </a:pPr>
            <a:r>
              <a:rPr lang="en-US" sz="900" dirty="0">
                <a:solidFill>
                  <a:srgbClr val="E6E6EB"/>
                </a:solidFill>
                <a:latin typeface="Instrument Sans" pitchFamily="34" charset="0"/>
                <a:ea typeface="Instrument Sans" pitchFamily="34" charset="-122"/>
                <a:cs typeface="Instrument Sans" pitchFamily="34" charset="-120"/>
              </a:rPr>
              <a:t>New channels tested at solo speed</a:t>
            </a:r>
            <a:endParaRPr lang="en-US" sz="900" dirty="0"/>
          </a:p>
        </p:txBody>
      </p:sp>
      <p:sp>
        <p:nvSpPr>
          <p:cNvPr id="41" name="Shape 39"/>
          <p:cNvSpPr/>
          <p:nvPr/>
        </p:nvSpPr>
        <p:spPr>
          <a:xfrm>
            <a:off x="6199632" y="3931920"/>
            <a:ext cx="2642616" cy="2331720"/>
          </a:xfrm>
          <a:prstGeom prst="roundRect">
            <a:avLst>
              <a:gd name="adj" fmla="val 3137"/>
            </a:avLst>
          </a:prstGeom>
          <a:solidFill>
            <a:srgbClr val="1C1C24"/>
          </a:solidFill>
          <a:ln w="12700">
            <a:solidFill>
              <a:srgbClr val="2A2A35"/>
            </a:solidFill>
            <a:prstDash val="solid"/>
          </a:ln>
        </p:spPr>
      </p:sp>
      <p:sp>
        <p:nvSpPr>
          <p:cNvPr id="42" name="Text 40"/>
          <p:cNvSpPr/>
          <p:nvPr/>
        </p:nvSpPr>
        <p:spPr>
          <a:xfrm>
            <a:off x="6382512" y="4078224"/>
            <a:ext cx="2276856" cy="201168"/>
          </a:xfrm>
          <a:prstGeom prst="rect">
            <a:avLst/>
          </a:prstGeom>
          <a:noFill/>
          <a:ln/>
        </p:spPr>
        <p:txBody>
          <a:bodyPr wrap="square" lIns="0" tIns="0" rIns="0" bIns="0" rtlCol="0" anchor="ctr"/>
          <a:lstStyle/>
          <a:p>
            <a:pPr indent="0" marL="0">
              <a:buNone/>
            </a:pPr>
            <a:r>
              <a:rPr lang="en-US" sz="800" b="1" spc="120" kern="0" dirty="0">
                <a:solidFill>
                  <a:srgbClr val="7C5CFF"/>
                </a:solidFill>
                <a:latin typeface="Instrument Sans" pitchFamily="34" charset="0"/>
                <a:ea typeface="Instrument Sans" pitchFamily="34" charset="-122"/>
                <a:cs typeface="Instrument Sans" pitchFamily="34" charset="-120"/>
              </a:rPr>
              <a:t>CREATOR MARKETING</a:t>
            </a:r>
            <a:endParaRPr lang="en-US" sz="800" dirty="0"/>
          </a:p>
        </p:txBody>
      </p:sp>
      <p:sp>
        <p:nvSpPr>
          <p:cNvPr id="43" name="Text 41"/>
          <p:cNvSpPr/>
          <p:nvPr/>
        </p:nvSpPr>
        <p:spPr>
          <a:xfrm>
            <a:off x="6382512" y="4297680"/>
            <a:ext cx="2276856" cy="274320"/>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Savion Ron Shemesh</a:t>
            </a:r>
            <a:endParaRPr lang="en-US" sz="1300" dirty="0"/>
          </a:p>
        </p:txBody>
      </p:sp>
      <p:sp>
        <p:nvSpPr>
          <p:cNvPr id="44" name="Text 42"/>
          <p:cNvSpPr/>
          <p:nvPr/>
        </p:nvSpPr>
        <p:spPr>
          <a:xfrm>
            <a:off x="6382512" y="4626864"/>
            <a:ext cx="2313432" cy="96012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Podcast, video, and social specialists on tap</a:t>
            </a:r>
            <a:endParaRPr lang="en-US" sz="950" dirty="0"/>
          </a:p>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Creator briefs on brand by default</a:t>
            </a:r>
            <a:endParaRPr lang="en-US" sz="950" dirty="0"/>
          </a:p>
        </p:txBody>
      </p:sp>
      <p:sp>
        <p:nvSpPr>
          <p:cNvPr id="45" name="Shape 43"/>
          <p:cNvSpPr/>
          <p:nvPr/>
        </p:nvSpPr>
        <p:spPr>
          <a:xfrm>
            <a:off x="6382512" y="5669280"/>
            <a:ext cx="2276856" cy="0"/>
          </a:xfrm>
          <a:prstGeom prst="line">
            <a:avLst/>
          </a:prstGeom>
          <a:noFill/>
          <a:ln w="9525">
            <a:solidFill>
              <a:srgbClr val="2A2A35"/>
            </a:solidFill>
            <a:prstDash val="solid"/>
          </a:ln>
        </p:spPr>
      </p:sp>
      <p:sp>
        <p:nvSpPr>
          <p:cNvPr id="46" name="Text 44"/>
          <p:cNvSpPr/>
          <p:nvPr/>
        </p:nvSpPr>
        <p:spPr>
          <a:xfrm>
            <a:off x="6382512" y="5742432"/>
            <a:ext cx="2276856" cy="475488"/>
          </a:xfrm>
          <a:prstGeom prst="rect">
            <a:avLst/>
          </a:prstGeom>
          <a:noFill/>
          <a:ln/>
        </p:spPr>
        <p:txBody>
          <a:bodyPr wrap="square" lIns="0" tIns="0" rIns="0" bIns="0" rtlCol="0" anchor="ctr"/>
          <a:lstStyle/>
          <a:p>
            <a:pPr indent="0" marL="0">
              <a:buNone/>
            </a:pPr>
            <a:r>
              <a:rPr lang="en-US" sz="900" b="1" dirty="0">
                <a:solidFill>
                  <a:srgbClr val="7C5CFF"/>
                </a:solidFill>
                <a:latin typeface="Instrument Sans" pitchFamily="34" charset="0"/>
                <a:ea typeface="Instrument Sans" pitchFamily="34" charset="-122"/>
                <a:cs typeface="Instrument Sans" pitchFamily="34" charset="-120"/>
              </a:rPr>
              <a:t>Payoff:  </a:t>
            </a:r>
            <a:pPr indent="0" marL="0">
              <a:buNone/>
            </a:pPr>
            <a:r>
              <a:rPr lang="en-US" sz="900" dirty="0">
                <a:solidFill>
                  <a:srgbClr val="E6E6EB"/>
                </a:solidFill>
                <a:latin typeface="Instrument Sans" pitchFamily="34" charset="0"/>
                <a:ea typeface="Instrument Sans" pitchFamily="34" charset="-122"/>
                <a:cs typeface="Instrument Sans" pitchFamily="34" charset="-120"/>
              </a:rPr>
              <a:t>Creator content shipped and measured</a:t>
            </a:r>
            <a:endParaRPr lang="en-US" sz="900" dirty="0"/>
          </a:p>
        </p:txBody>
      </p:sp>
      <p:sp>
        <p:nvSpPr>
          <p:cNvPr id="47" name="Shape 45"/>
          <p:cNvSpPr/>
          <p:nvPr/>
        </p:nvSpPr>
        <p:spPr>
          <a:xfrm>
            <a:off x="9070848" y="3931920"/>
            <a:ext cx="2642616" cy="2331720"/>
          </a:xfrm>
          <a:prstGeom prst="roundRect">
            <a:avLst>
              <a:gd name="adj" fmla="val 3137"/>
            </a:avLst>
          </a:prstGeom>
          <a:solidFill>
            <a:srgbClr val="1C1C24"/>
          </a:solidFill>
          <a:ln w="12700">
            <a:solidFill>
              <a:srgbClr val="2A2A35"/>
            </a:solidFill>
            <a:prstDash val="solid"/>
          </a:ln>
        </p:spPr>
      </p:sp>
      <p:sp>
        <p:nvSpPr>
          <p:cNvPr id="48" name="Text 46"/>
          <p:cNvSpPr/>
          <p:nvPr/>
        </p:nvSpPr>
        <p:spPr>
          <a:xfrm>
            <a:off x="9253728" y="4078224"/>
            <a:ext cx="2276856" cy="201168"/>
          </a:xfrm>
          <a:prstGeom prst="rect">
            <a:avLst/>
          </a:prstGeom>
          <a:noFill/>
          <a:ln/>
        </p:spPr>
        <p:txBody>
          <a:bodyPr wrap="square" lIns="0" tIns="0" rIns="0" bIns="0" rtlCol="0" anchor="ctr"/>
          <a:lstStyle/>
          <a:p>
            <a:pPr indent="0" marL="0">
              <a:buNone/>
            </a:pPr>
            <a:r>
              <a:rPr lang="en-US" sz="800" b="1" spc="120" kern="0" dirty="0">
                <a:solidFill>
                  <a:srgbClr val="7C5CFF"/>
                </a:solidFill>
                <a:latin typeface="Instrument Sans" pitchFamily="34" charset="0"/>
                <a:ea typeface="Instrument Sans" pitchFamily="34" charset="-122"/>
                <a:cs typeface="Instrument Sans" pitchFamily="34" charset="-120"/>
              </a:rPr>
              <a:t>MARKETING OPERATIONS</a:t>
            </a:r>
            <a:endParaRPr lang="en-US" sz="800" dirty="0"/>
          </a:p>
        </p:txBody>
      </p:sp>
      <p:sp>
        <p:nvSpPr>
          <p:cNvPr id="49" name="Text 47"/>
          <p:cNvSpPr/>
          <p:nvPr/>
        </p:nvSpPr>
        <p:spPr>
          <a:xfrm>
            <a:off x="9253728" y="4297680"/>
            <a:ext cx="2276856" cy="274320"/>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Hanan Amos</a:t>
            </a:r>
            <a:endParaRPr lang="en-US" sz="1300" dirty="0"/>
          </a:p>
        </p:txBody>
      </p:sp>
      <p:sp>
        <p:nvSpPr>
          <p:cNvPr id="50" name="Text 48"/>
          <p:cNvSpPr/>
          <p:nvPr/>
        </p:nvSpPr>
        <p:spPr>
          <a:xfrm>
            <a:off x="9253728" y="4626864"/>
            <a:ext cx="2313432" cy="96012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/mops-standup, /hubspot-workflow-qa</a:t>
            </a:r>
            <a:endParaRPr lang="en-US" sz="950" dirty="0"/>
          </a:p>
          <a:p>
            <a:pPr marL="342900" indent="-342900">
              <a:spcAft>
                <a:spcPts val="400"/>
              </a:spcAft>
              <a:buSzPct val="100000"/>
              <a:buChar char="•"/>
            </a:pPr>
            <a:r>
              <a:rPr lang="en-US" sz="950" dirty="0">
                <a:solidFill>
                  <a:srgbClr val="E6E6EB"/>
                </a:solidFill>
                <a:latin typeface="Instrument Sans" pitchFamily="34" charset="0"/>
                <a:ea typeface="Instrument Sans" pitchFamily="34" charset="-122"/>
                <a:cs typeface="Instrument Sans" pitchFamily="34" charset="-120"/>
              </a:rPr>
              <a:t>Invoice filing runs as a weekly routine</a:t>
            </a:r>
            <a:endParaRPr lang="en-US" sz="950" dirty="0"/>
          </a:p>
        </p:txBody>
      </p:sp>
      <p:sp>
        <p:nvSpPr>
          <p:cNvPr id="51" name="Shape 49"/>
          <p:cNvSpPr/>
          <p:nvPr/>
        </p:nvSpPr>
        <p:spPr>
          <a:xfrm>
            <a:off x="9253728" y="5669280"/>
            <a:ext cx="2276856" cy="0"/>
          </a:xfrm>
          <a:prstGeom prst="line">
            <a:avLst/>
          </a:prstGeom>
          <a:noFill/>
          <a:ln w="9525">
            <a:solidFill>
              <a:srgbClr val="2A2A35"/>
            </a:solidFill>
            <a:prstDash val="solid"/>
          </a:ln>
        </p:spPr>
      </p:sp>
      <p:sp>
        <p:nvSpPr>
          <p:cNvPr id="52" name="Text 50"/>
          <p:cNvSpPr/>
          <p:nvPr/>
        </p:nvSpPr>
        <p:spPr>
          <a:xfrm>
            <a:off x="9253728" y="5742432"/>
            <a:ext cx="2276856" cy="475488"/>
          </a:xfrm>
          <a:prstGeom prst="rect">
            <a:avLst/>
          </a:prstGeom>
          <a:noFill/>
          <a:ln/>
        </p:spPr>
        <p:txBody>
          <a:bodyPr wrap="square" lIns="0" tIns="0" rIns="0" bIns="0" rtlCol="0" anchor="ctr"/>
          <a:lstStyle/>
          <a:p>
            <a:pPr indent="0" marL="0">
              <a:buNone/>
            </a:pPr>
            <a:r>
              <a:rPr lang="en-US" sz="900" b="1" dirty="0">
                <a:solidFill>
                  <a:srgbClr val="7C5CFF"/>
                </a:solidFill>
                <a:latin typeface="Instrument Sans" pitchFamily="34" charset="0"/>
                <a:ea typeface="Instrument Sans" pitchFamily="34" charset="-122"/>
                <a:cs typeface="Instrument Sans" pitchFamily="34" charset="-120"/>
              </a:rPr>
              <a:t>Payoff:  </a:t>
            </a:r>
            <a:pPr indent="0" marL="0">
              <a:buNone/>
            </a:pPr>
            <a:r>
              <a:rPr lang="en-US" sz="900" dirty="0">
                <a:solidFill>
                  <a:srgbClr val="E6E6EB"/>
                </a:solidFill>
                <a:latin typeface="Instrument Sans" pitchFamily="34" charset="0"/>
                <a:ea typeface="Instrument Sans" pitchFamily="34" charset="-122"/>
                <a:cs typeface="Instrument Sans" pitchFamily="34" charset="-120"/>
              </a:rPr>
              <a:t>Ops chores automated, QA guardrails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0F14"/>
        </a:solidFill>
      </p:bgPr>
    </p:bg>
    <p:spTree>
      <p:nvGrpSpPr>
        <p:cNvPr id="1" name=""/>
        <p:cNvGrpSpPr/>
        <p:nvPr/>
      </p:nvGrpSpPr>
      <p:grpSpPr>
        <a:xfrm>
          <a:off x="0" y="0"/>
          <a:ext cx="0" cy="0"/>
          <a:chOff x="0" y="0"/>
          <a:chExt cx="0" cy="0"/>
        </a:xfrm>
      </p:grpSpPr>
      <p:sp>
        <p:nvSpPr>
          <p:cNvPr id="2" name="Shape 0"/>
          <p:cNvSpPr/>
          <p:nvPr/>
        </p:nvSpPr>
        <p:spPr>
          <a:xfrm>
            <a:off x="11759184" y="384048"/>
            <a:ext cx="118872" cy="118872"/>
          </a:xfrm>
          <a:prstGeom prst="ellipse">
            <a:avLst/>
          </a:prstGeom>
          <a:solidFill>
            <a:srgbClr val="7C5CFF"/>
          </a:solidFill>
          <a:ln/>
        </p:spPr>
      </p:sp>
      <p:sp>
        <p:nvSpPr>
          <p:cNvPr id="3" name="Text 1"/>
          <p:cNvSpPr/>
          <p:nvPr/>
        </p:nvSpPr>
        <p:spPr>
          <a:xfrm>
            <a:off x="457200" y="274320"/>
            <a:ext cx="10789920" cy="502920"/>
          </a:xfrm>
          <a:prstGeom prst="rect">
            <a:avLst/>
          </a:prstGeom>
          <a:noFill/>
          <a:ln/>
        </p:spPr>
        <p:txBody>
          <a:bodyPr wrap="square" lIns="0" tIns="0" rIns="0" bIns="0" rtlCol="0" anchor="ctr"/>
          <a:lstStyle/>
          <a:p>
            <a:pPr indent="0" marL="0">
              <a:buNone/>
            </a:pPr>
            <a:r>
              <a:rPr lang="en-US" sz="2600" b="1" dirty="0">
                <a:solidFill>
                  <a:srgbClr val="FFFFFF"/>
                </a:solidFill>
                <a:latin typeface="Instrument Sans" pitchFamily="34" charset="0"/>
                <a:ea typeface="Instrument Sans" pitchFamily="34" charset="-122"/>
                <a:cs typeface="Instrument Sans" pitchFamily="34" charset="-120"/>
              </a:rPr>
              <a:t>Why teams pick it</a:t>
            </a:r>
            <a:endParaRPr lang="en-US" sz="2600" dirty="0"/>
          </a:p>
        </p:txBody>
      </p:sp>
      <p:sp>
        <p:nvSpPr>
          <p:cNvPr id="4" name="Text 2"/>
          <p:cNvSpPr/>
          <p:nvPr/>
        </p:nvSpPr>
        <p:spPr>
          <a:xfrm>
            <a:off x="457200" y="804672"/>
            <a:ext cx="11247120" cy="347472"/>
          </a:xfrm>
          <a:prstGeom prst="rect">
            <a:avLst/>
          </a:prstGeom>
          <a:noFill/>
          <a:ln/>
        </p:spPr>
        <p:txBody>
          <a:bodyPr wrap="square" lIns="0" tIns="0" rIns="0" bIns="0" rtlCol="0" anchor="ct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The four properties that make the brain worth adopting, whatever your sub-org runs</a:t>
            </a:r>
            <a:endParaRPr lang="en-US" sz="1250" dirty="0"/>
          </a:p>
        </p:txBody>
      </p:sp>
      <p:sp>
        <p:nvSpPr>
          <p:cNvPr id="5" name="Shape 3"/>
          <p:cNvSpPr/>
          <p:nvPr/>
        </p:nvSpPr>
        <p:spPr>
          <a:xfrm>
            <a:off x="457200" y="1920240"/>
            <a:ext cx="2679192" cy="2377440"/>
          </a:xfrm>
          <a:prstGeom prst="roundRect">
            <a:avLst>
              <a:gd name="adj" fmla="val 3077"/>
            </a:avLst>
          </a:prstGeom>
          <a:solidFill>
            <a:srgbClr val="1C1C24"/>
          </a:solidFill>
          <a:ln w="12700">
            <a:solidFill>
              <a:srgbClr val="2A2A35"/>
            </a:solidFill>
            <a:prstDash val="solid"/>
          </a:ln>
        </p:spPr>
      </p:sp>
      <p:sp>
        <p:nvSpPr>
          <p:cNvPr id="6" name="Text 4"/>
          <p:cNvSpPr/>
          <p:nvPr/>
        </p:nvSpPr>
        <p:spPr>
          <a:xfrm>
            <a:off x="685800" y="2121408"/>
            <a:ext cx="914400" cy="502920"/>
          </a:xfrm>
          <a:prstGeom prst="rect">
            <a:avLst/>
          </a:prstGeom>
          <a:noFill/>
          <a:ln/>
        </p:spPr>
        <p:txBody>
          <a:bodyPr wrap="square" lIns="0" tIns="0" rIns="0" bIns="0" rtlCol="0" anchor="ctr"/>
          <a:lstStyle/>
          <a:p>
            <a:pPr indent="0" marL="0">
              <a:buNone/>
            </a:pPr>
            <a:r>
              <a:rPr lang="en-US" sz="3000" b="1" dirty="0">
                <a:solidFill>
                  <a:srgbClr val="7C5CFF"/>
                </a:solidFill>
                <a:latin typeface="Instrument Sans" pitchFamily="34" charset="0"/>
                <a:ea typeface="Instrument Sans" pitchFamily="34" charset="-122"/>
                <a:cs typeface="Instrument Sans" pitchFamily="34" charset="-120"/>
              </a:rPr>
              <a:t>1</a:t>
            </a:r>
            <a:endParaRPr lang="en-US" sz="3000" dirty="0"/>
          </a:p>
        </p:txBody>
      </p:sp>
      <p:sp>
        <p:nvSpPr>
          <p:cNvPr id="7" name="Text 5"/>
          <p:cNvSpPr/>
          <p:nvPr/>
        </p:nvSpPr>
        <p:spPr>
          <a:xfrm>
            <a:off x="685800" y="2697480"/>
            <a:ext cx="2221992" cy="320040"/>
          </a:xfrm>
          <a:prstGeom prst="rect">
            <a:avLst/>
          </a:prstGeom>
          <a:noFill/>
          <a:ln/>
        </p:spPr>
        <p:txBody>
          <a:bodyPr wrap="square" lIns="0" tIns="0" rIns="0" bIns="0" rtlCol="0" anchor="ctr"/>
          <a:lstStyle/>
          <a:p>
            <a:pPr indent="0" marL="0">
              <a:buNone/>
            </a:pPr>
            <a:r>
              <a:rPr lang="en-US" sz="1500" b="1" dirty="0">
                <a:solidFill>
                  <a:srgbClr val="FFFFFF"/>
                </a:solidFill>
                <a:latin typeface="Instrument Sans" pitchFamily="34" charset="0"/>
                <a:ea typeface="Instrument Sans" pitchFamily="34" charset="-122"/>
                <a:cs typeface="Instrument Sans" pitchFamily="34" charset="-120"/>
              </a:rPr>
              <a:t>It compounds</a:t>
            </a:r>
            <a:endParaRPr lang="en-US" sz="1500" dirty="0"/>
          </a:p>
        </p:txBody>
      </p:sp>
      <p:sp>
        <p:nvSpPr>
          <p:cNvPr id="8" name="Text 6"/>
          <p:cNvSpPr/>
          <p:nvPr/>
        </p:nvSpPr>
        <p:spPr>
          <a:xfrm>
            <a:off x="685800" y="3072384"/>
            <a:ext cx="2221992" cy="1097280"/>
          </a:xfrm>
          <a:prstGeom prst="rect">
            <a:avLst/>
          </a:prstGeom>
          <a:noFill/>
          <a:ln/>
        </p:spPr>
        <p:txBody>
          <a:bodyPr wrap="square" lIns="0" tIns="0" rIns="0" bIns="0" rtlCol="0" anchor="ctr"/>
          <a:lstStyle/>
          <a:p>
            <a:pPr indent="0" marL="0">
              <a:buNone/>
            </a:pPr>
            <a:r>
              <a:rPr lang="en-US" sz="1050" dirty="0">
                <a:solidFill>
                  <a:srgbClr val="E6E6EB"/>
                </a:solidFill>
                <a:latin typeface="Instrument Sans" pitchFamily="34" charset="0"/>
                <a:ea typeface="Instrument Sans" pitchFamily="34" charset="-122"/>
                <a:cs typeface="Instrument Sans" pitchFamily="34" charset="-120"/>
              </a:rPr>
              <a:t>Every task makes the next one faster. Learnings land as reviewed PRs, so knowledge belongs to the team, not one person's memory.</a:t>
            </a:r>
            <a:endParaRPr lang="en-US" sz="1050" dirty="0"/>
          </a:p>
        </p:txBody>
      </p:sp>
      <p:sp>
        <p:nvSpPr>
          <p:cNvPr id="9" name="Shape 7"/>
          <p:cNvSpPr/>
          <p:nvPr/>
        </p:nvSpPr>
        <p:spPr>
          <a:xfrm>
            <a:off x="3319272" y="1920240"/>
            <a:ext cx="2679192" cy="2377440"/>
          </a:xfrm>
          <a:prstGeom prst="roundRect">
            <a:avLst>
              <a:gd name="adj" fmla="val 3077"/>
            </a:avLst>
          </a:prstGeom>
          <a:solidFill>
            <a:srgbClr val="1C1C24"/>
          </a:solidFill>
          <a:ln w="12700">
            <a:solidFill>
              <a:srgbClr val="2A2A35"/>
            </a:solidFill>
            <a:prstDash val="solid"/>
          </a:ln>
        </p:spPr>
      </p:sp>
      <p:sp>
        <p:nvSpPr>
          <p:cNvPr id="10" name="Text 8"/>
          <p:cNvSpPr/>
          <p:nvPr/>
        </p:nvSpPr>
        <p:spPr>
          <a:xfrm>
            <a:off x="3547872" y="2121408"/>
            <a:ext cx="914400" cy="502920"/>
          </a:xfrm>
          <a:prstGeom prst="rect">
            <a:avLst/>
          </a:prstGeom>
          <a:noFill/>
          <a:ln/>
        </p:spPr>
        <p:txBody>
          <a:bodyPr wrap="square" lIns="0" tIns="0" rIns="0" bIns="0" rtlCol="0" anchor="ctr"/>
          <a:lstStyle/>
          <a:p>
            <a:pPr indent="0" marL="0">
              <a:buNone/>
            </a:pPr>
            <a:r>
              <a:rPr lang="en-US" sz="3000" b="1" dirty="0">
                <a:solidFill>
                  <a:srgbClr val="7C5CFF"/>
                </a:solidFill>
                <a:latin typeface="Instrument Sans" pitchFamily="34" charset="0"/>
                <a:ea typeface="Instrument Sans" pitchFamily="34" charset="-122"/>
                <a:cs typeface="Instrument Sans" pitchFamily="34" charset="-120"/>
              </a:rPr>
              <a:t>2</a:t>
            </a:r>
            <a:endParaRPr lang="en-US" sz="3000" dirty="0"/>
          </a:p>
        </p:txBody>
      </p:sp>
      <p:sp>
        <p:nvSpPr>
          <p:cNvPr id="11" name="Text 9"/>
          <p:cNvSpPr/>
          <p:nvPr/>
        </p:nvSpPr>
        <p:spPr>
          <a:xfrm>
            <a:off x="3547872" y="2697480"/>
            <a:ext cx="2221992" cy="320040"/>
          </a:xfrm>
          <a:prstGeom prst="rect">
            <a:avLst/>
          </a:prstGeom>
          <a:noFill/>
          <a:ln/>
        </p:spPr>
        <p:txBody>
          <a:bodyPr wrap="square" lIns="0" tIns="0" rIns="0" bIns="0" rtlCol="0" anchor="ctr"/>
          <a:lstStyle/>
          <a:p>
            <a:pPr indent="0" marL="0">
              <a:buNone/>
            </a:pPr>
            <a:r>
              <a:rPr lang="en-US" sz="1500" b="1" dirty="0">
                <a:solidFill>
                  <a:srgbClr val="FFFFFF"/>
                </a:solidFill>
                <a:latin typeface="Instrument Sans" pitchFamily="34" charset="0"/>
                <a:ea typeface="Instrument Sans" pitchFamily="34" charset="-122"/>
                <a:cs typeface="Instrument Sans" pitchFamily="34" charset="-120"/>
              </a:rPr>
              <a:t>Guardrails built in</a:t>
            </a:r>
            <a:endParaRPr lang="en-US" sz="1500" dirty="0"/>
          </a:p>
        </p:txBody>
      </p:sp>
      <p:sp>
        <p:nvSpPr>
          <p:cNvPr id="12" name="Text 10"/>
          <p:cNvSpPr/>
          <p:nvPr/>
        </p:nvSpPr>
        <p:spPr>
          <a:xfrm>
            <a:off x="3547872" y="3072384"/>
            <a:ext cx="2221992" cy="1097280"/>
          </a:xfrm>
          <a:prstGeom prst="rect">
            <a:avLst/>
          </a:prstGeom>
          <a:noFill/>
          <a:ln/>
        </p:spPr>
        <p:txBody>
          <a:bodyPr wrap="square" lIns="0" tIns="0" rIns="0" bIns="0" rtlCol="0" anchor="ctr"/>
          <a:lstStyle/>
          <a:p>
            <a:pPr indent="0" marL="0">
              <a:buNone/>
            </a:pPr>
            <a:r>
              <a:rPr lang="en-US" sz="1050" dirty="0">
                <a:solidFill>
                  <a:srgbClr val="E6E6EB"/>
                </a:solidFill>
                <a:latin typeface="Instrument Sans" pitchFamily="34" charset="0"/>
                <a:ea typeface="Instrument Sans" pitchFamily="34" charset="-122"/>
                <a:cs typeface="Instrument Sans" pitchFamily="34" charset="-120"/>
              </a:rPr>
              <a:t>Writes to HubSpot, monday, and Slack ask a human first. Data answers come from the analytics team's validated Rivermind layer.</a:t>
            </a:r>
            <a:endParaRPr lang="en-US" sz="1050" dirty="0"/>
          </a:p>
        </p:txBody>
      </p:sp>
      <p:sp>
        <p:nvSpPr>
          <p:cNvPr id="13" name="Shape 11"/>
          <p:cNvSpPr/>
          <p:nvPr/>
        </p:nvSpPr>
        <p:spPr>
          <a:xfrm>
            <a:off x="6181344" y="1920240"/>
            <a:ext cx="2679192" cy="2377440"/>
          </a:xfrm>
          <a:prstGeom prst="roundRect">
            <a:avLst>
              <a:gd name="adj" fmla="val 3077"/>
            </a:avLst>
          </a:prstGeom>
          <a:solidFill>
            <a:srgbClr val="1C1C24"/>
          </a:solidFill>
          <a:ln w="12700">
            <a:solidFill>
              <a:srgbClr val="2A2A35"/>
            </a:solidFill>
            <a:prstDash val="solid"/>
          </a:ln>
        </p:spPr>
      </p:sp>
      <p:sp>
        <p:nvSpPr>
          <p:cNvPr id="14" name="Text 12"/>
          <p:cNvSpPr/>
          <p:nvPr/>
        </p:nvSpPr>
        <p:spPr>
          <a:xfrm>
            <a:off x="6409944" y="2121408"/>
            <a:ext cx="914400" cy="502920"/>
          </a:xfrm>
          <a:prstGeom prst="rect">
            <a:avLst/>
          </a:prstGeom>
          <a:noFill/>
          <a:ln/>
        </p:spPr>
        <p:txBody>
          <a:bodyPr wrap="square" lIns="0" tIns="0" rIns="0" bIns="0" rtlCol="0" anchor="ctr"/>
          <a:lstStyle/>
          <a:p>
            <a:pPr indent="0" marL="0">
              <a:buNone/>
            </a:pPr>
            <a:r>
              <a:rPr lang="en-US" sz="3000" b="1" dirty="0">
                <a:solidFill>
                  <a:srgbClr val="7C5CFF"/>
                </a:solidFill>
                <a:latin typeface="Instrument Sans" pitchFamily="34" charset="0"/>
                <a:ea typeface="Instrument Sans" pitchFamily="34" charset="-122"/>
                <a:cs typeface="Instrument Sans" pitchFamily="34" charset="-120"/>
              </a:rPr>
              <a:t>3</a:t>
            </a:r>
            <a:endParaRPr lang="en-US" sz="3000" dirty="0"/>
          </a:p>
        </p:txBody>
      </p:sp>
      <p:sp>
        <p:nvSpPr>
          <p:cNvPr id="15" name="Text 13"/>
          <p:cNvSpPr/>
          <p:nvPr/>
        </p:nvSpPr>
        <p:spPr>
          <a:xfrm>
            <a:off x="6409944" y="2697480"/>
            <a:ext cx="2221992" cy="320040"/>
          </a:xfrm>
          <a:prstGeom prst="rect">
            <a:avLst/>
          </a:prstGeom>
          <a:noFill/>
          <a:ln/>
        </p:spPr>
        <p:txBody>
          <a:bodyPr wrap="square" lIns="0" tIns="0" rIns="0" bIns="0" rtlCol="0" anchor="ctr"/>
          <a:lstStyle/>
          <a:p>
            <a:pPr indent="0" marL="0">
              <a:buNone/>
            </a:pPr>
            <a:r>
              <a:rPr lang="en-US" sz="1500" b="1" dirty="0">
                <a:solidFill>
                  <a:srgbClr val="FFFFFF"/>
                </a:solidFill>
                <a:latin typeface="Instrument Sans" pitchFamily="34" charset="0"/>
                <a:ea typeface="Instrument Sans" pitchFamily="34" charset="-122"/>
                <a:cs typeface="Instrument Sans" pitchFamily="34" charset="-120"/>
              </a:rPr>
              <a:t>Day-one onboarding</a:t>
            </a:r>
            <a:endParaRPr lang="en-US" sz="1500" dirty="0"/>
          </a:p>
        </p:txBody>
      </p:sp>
      <p:sp>
        <p:nvSpPr>
          <p:cNvPr id="16" name="Text 14"/>
          <p:cNvSpPr/>
          <p:nvPr/>
        </p:nvSpPr>
        <p:spPr>
          <a:xfrm>
            <a:off x="6409944" y="3072384"/>
            <a:ext cx="2221992" cy="1097280"/>
          </a:xfrm>
          <a:prstGeom prst="rect">
            <a:avLst/>
          </a:prstGeom>
          <a:noFill/>
          <a:ln/>
        </p:spPr>
        <p:txBody>
          <a:bodyPr wrap="square" lIns="0" tIns="0" rIns="0" bIns="0" rtlCol="0" anchor="ctr"/>
          <a:lstStyle/>
          <a:p>
            <a:pPr indent="0" marL="0">
              <a:buNone/>
            </a:pPr>
            <a:r>
              <a:rPr lang="en-US" sz="1050" dirty="0">
                <a:solidFill>
                  <a:srgbClr val="E6E6EB"/>
                </a:solidFill>
                <a:latin typeface="Instrument Sans" pitchFamily="34" charset="0"/>
                <a:ea typeface="Instrument Sans" pitchFamily="34" charset="-122"/>
                <a:cs typeface="Instrument Sans" pitchFamily="34" charset="-120"/>
              </a:rPr>
              <a:t>A new teammate opens Claude in the repo and it already knows the boards, channels, systems, and conventions.</a:t>
            </a:r>
            <a:endParaRPr lang="en-US" sz="1050" dirty="0"/>
          </a:p>
        </p:txBody>
      </p:sp>
      <p:sp>
        <p:nvSpPr>
          <p:cNvPr id="17" name="Shape 15"/>
          <p:cNvSpPr/>
          <p:nvPr/>
        </p:nvSpPr>
        <p:spPr>
          <a:xfrm>
            <a:off x="9043416" y="1920240"/>
            <a:ext cx="2679192" cy="2377440"/>
          </a:xfrm>
          <a:prstGeom prst="roundRect">
            <a:avLst>
              <a:gd name="adj" fmla="val 3077"/>
            </a:avLst>
          </a:prstGeom>
          <a:solidFill>
            <a:srgbClr val="1C1C24"/>
          </a:solidFill>
          <a:ln w="12700">
            <a:solidFill>
              <a:srgbClr val="2A2A35"/>
            </a:solidFill>
            <a:prstDash val="solid"/>
          </a:ln>
        </p:spPr>
      </p:sp>
      <p:sp>
        <p:nvSpPr>
          <p:cNvPr id="18" name="Text 16"/>
          <p:cNvSpPr/>
          <p:nvPr/>
        </p:nvSpPr>
        <p:spPr>
          <a:xfrm>
            <a:off x="9272016" y="2121408"/>
            <a:ext cx="914400" cy="502920"/>
          </a:xfrm>
          <a:prstGeom prst="rect">
            <a:avLst/>
          </a:prstGeom>
          <a:noFill/>
          <a:ln/>
        </p:spPr>
        <p:txBody>
          <a:bodyPr wrap="square" lIns="0" tIns="0" rIns="0" bIns="0" rtlCol="0" anchor="ctr"/>
          <a:lstStyle/>
          <a:p>
            <a:pPr indent="0" marL="0">
              <a:buNone/>
            </a:pPr>
            <a:r>
              <a:rPr lang="en-US" sz="3000" b="1" dirty="0">
                <a:solidFill>
                  <a:srgbClr val="7C5CFF"/>
                </a:solidFill>
                <a:latin typeface="Instrument Sans" pitchFamily="34" charset="0"/>
                <a:ea typeface="Instrument Sans" pitchFamily="34" charset="-122"/>
                <a:cs typeface="Instrument Sans" pitchFamily="34" charset="-120"/>
              </a:rPr>
              <a:t>4</a:t>
            </a:r>
            <a:endParaRPr lang="en-US" sz="3000" dirty="0"/>
          </a:p>
        </p:txBody>
      </p:sp>
      <p:sp>
        <p:nvSpPr>
          <p:cNvPr id="19" name="Text 17"/>
          <p:cNvSpPr/>
          <p:nvPr/>
        </p:nvSpPr>
        <p:spPr>
          <a:xfrm>
            <a:off x="9272016" y="2697480"/>
            <a:ext cx="2221992" cy="320040"/>
          </a:xfrm>
          <a:prstGeom prst="rect">
            <a:avLst/>
          </a:prstGeom>
          <a:noFill/>
          <a:ln/>
        </p:spPr>
        <p:txBody>
          <a:bodyPr wrap="square" lIns="0" tIns="0" rIns="0" bIns="0" rtlCol="0" anchor="ctr"/>
          <a:lstStyle/>
          <a:p>
            <a:pPr indent="0" marL="0">
              <a:buNone/>
            </a:pPr>
            <a:r>
              <a:rPr lang="en-US" sz="1500" b="1" dirty="0">
                <a:solidFill>
                  <a:srgbClr val="FFFFFF"/>
                </a:solidFill>
                <a:latin typeface="Instrument Sans" pitchFamily="34" charset="0"/>
                <a:ea typeface="Instrument Sans" pitchFamily="34" charset="-122"/>
                <a:cs typeface="Instrument Sans" pitchFamily="34" charset="-120"/>
              </a:rPr>
              <a:t>Nothing to host</a:t>
            </a:r>
            <a:endParaRPr lang="en-US" sz="1500" dirty="0"/>
          </a:p>
        </p:txBody>
      </p:sp>
      <p:sp>
        <p:nvSpPr>
          <p:cNvPr id="20" name="Text 18"/>
          <p:cNvSpPr/>
          <p:nvPr/>
        </p:nvSpPr>
        <p:spPr>
          <a:xfrm>
            <a:off x="9272016" y="3072384"/>
            <a:ext cx="2221992" cy="1097280"/>
          </a:xfrm>
          <a:prstGeom prst="rect">
            <a:avLst/>
          </a:prstGeom>
          <a:noFill/>
          <a:ln/>
        </p:spPr>
        <p:txBody>
          <a:bodyPr wrap="square" lIns="0" tIns="0" rIns="0" bIns="0" rtlCol="0" anchor="ctr"/>
          <a:lstStyle/>
          <a:p>
            <a:pPr indent="0" marL="0">
              <a:buNone/>
            </a:pPr>
            <a:r>
              <a:rPr lang="en-US" sz="1050" dirty="0">
                <a:solidFill>
                  <a:srgbClr val="E6E6EB"/>
                </a:solidFill>
                <a:latin typeface="Instrument Sans" pitchFamily="34" charset="0"/>
                <a:ea typeface="Instrument Sans" pitchFamily="34" charset="-122"/>
                <a:cs typeface="Instrument Sans" pitchFamily="34" charset="-120"/>
              </a:rPr>
              <a:t>Plain markdown on managed Claude infrastructure. No runtime to operate, no vendor lock beyond the docs themselves.</a:t>
            </a:r>
            <a:endParaRPr lang="en-US" sz="1050" dirty="0"/>
          </a:p>
        </p:txBody>
      </p:sp>
      <p:sp>
        <p:nvSpPr>
          <p:cNvPr id="21" name="Text 19"/>
          <p:cNvSpPr/>
          <p:nvPr/>
        </p:nvSpPr>
        <p:spPr>
          <a:xfrm>
            <a:off x="457200" y="4846320"/>
            <a:ext cx="11247120" cy="365760"/>
          </a:xfrm>
          <a:prstGeom prst="rect">
            <a:avLst/>
          </a:prstGeom>
          <a:noFill/>
          <a:ln/>
        </p:spPr>
        <p:txBody>
          <a:bodyPr wrap="square" lIns="0" tIns="0" rIns="0" bIns="0" rtlCol="0" anchor="ctr"/>
          <a:lstStyle/>
          <a:p>
            <a:pPr indent="0" marL="0">
              <a:buNone/>
            </a:pPr>
            <a:r>
              <a:rPr lang="en-US" sz="1300" b="1" dirty="0">
                <a:solidFill>
                  <a:srgbClr val="7C5CFF"/>
                </a:solidFill>
                <a:latin typeface="Instrument Sans" pitchFamily="34" charset="0"/>
                <a:ea typeface="Instrument Sans" pitchFamily="34" charset="-122"/>
                <a:cs typeface="Instrument Sans" pitchFamily="34" charset="-120"/>
              </a:rPr>
              <a:t>The pitch in one line:  </a:t>
            </a:r>
            <a:pPr indent="0" marL="0">
              <a:buNone/>
            </a:pPr>
            <a:r>
              <a:rPr lang="en-US" sz="1300" dirty="0">
                <a:solidFill>
                  <a:srgbClr val="E6E6EB"/>
                </a:solidFill>
                <a:latin typeface="Instrument Sans" pitchFamily="34" charset="0"/>
                <a:ea typeface="Instrument Sans" pitchFamily="34" charset="-122"/>
                <a:cs typeface="Instrument Sans" pitchFamily="34" charset="-120"/>
              </a:rPr>
              <a:t>your team's best day becomes its default day, because everything learned is still there tomorrow.</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0F14"/>
        </a:solidFill>
      </p:bgPr>
    </p:bg>
    <p:spTree>
      <p:nvGrpSpPr>
        <p:cNvPr id="1" name=""/>
        <p:cNvGrpSpPr/>
        <p:nvPr/>
      </p:nvGrpSpPr>
      <p:grpSpPr>
        <a:xfrm>
          <a:off x="0" y="0"/>
          <a:ext cx="0" cy="0"/>
          <a:chOff x="0" y="0"/>
          <a:chExt cx="0" cy="0"/>
        </a:xfrm>
      </p:grpSpPr>
      <p:sp>
        <p:nvSpPr>
          <p:cNvPr id="2" name="Shape 0"/>
          <p:cNvSpPr/>
          <p:nvPr/>
        </p:nvSpPr>
        <p:spPr>
          <a:xfrm>
            <a:off x="11759184" y="384048"/>
            <a:ext cx="118872" cy="118872"/>
          </a:xfrm>
          <a:prstGeom prst="ellipse">
            <a:avLst/>
          </a:prstGeom>
          <a:solidFill>
            <a:srgbClr val="7C5CFF"/>
          </a:solidFill>
          <a:ln/>
        </p:spPr>
      </p:sp>
      <p:sp>
        <p:nvSpPr>
          <p:cNvPr id="3" name="Text 1"/>
          <p:cNvSpPr/>
          <p:nvPr/>
        </p:nvSpPr>
        <p:spPr>
          <a:xfrm>
            <a:off x="457200" y="274320"/>
            <a:ext cx="10789920" cy="502920"/>
          </a:xfrm>
          <a:prstGeom prst="rect">
            <a:avLst/>
          </a:prstGeom>
          <a:noFill/>
          <a:ln/>
        </p:spPr>
        <p:txBody>
          <a:bodyPr wrap="square" lIns="0" tIns="0" rIns="0" bIns="0" rtlCol="0" anchor="ctr"/>
          <a:lstStyle/>
          <a:p>
            <a:pPr indent="0" marL="0">
              <a:buNone/>
            </a:pPr>
            <a:r>
              <a:rPr lang="en-US" sz="2600" b="1" dirty="0">
                <a:solidFill>
                  <a:srgbClr val="FFFFFF"/>
                </a:solidFill>
                <a:latin typeface="Instrument Sans" pitchFamily="34" charset="0"/>
                <a:ea typeface="Instrument Sans" pitchFamily="34" charset="-122"/>
                <a:cs typeface="Instrument Sans" pitchFamily="34" charset="-120"/>
              </a:rPr>
              <a:t>Where this lives</a:t>
            </a:r>
            <a:endParaRPr lang="en-US" sz="2600" dirty="0"/>
          </a:p>
        </p:txBody>
      </p:sp>
      <p:sp>
        <p:nvSpPr>
          <p:cNvPr id="4" name="Text 2"/>
          <p:cNvSpPr/>
          <p:nvPr/>
        </p:nvSpPr>
        <p:spPr>
          <a:xfrm>
            <a:off x="457200" y="804672"/>
            <a:ext cx="11247120" cy="347472"/>
          </a:xfrm>
          <a:prstGeom prst="rect">
            <a:avLst/>
          </a:prstGeom>
          <a:noFill/>
          <a:ln/>
        </p:spPr>
        <p:txBody>
          <a:bodyPr wrap="square" lIns="0" tIns="0" rIns="0" bIns="0" rtlCol="0" anchor="ctr"/>
          <a:lstStyle/>
          <a:p>
            <a:pPr indent="0" marL="0">
              <a:buNone/>
            </a:pPr>
            <a:r>
              <a:rPr lang="en-US" sz="1250" dirty="0">
                <a:solidFill>
                  <a:srgbClr val="E6E6EB"/>
                </a:solidFill>
                <a:latin typeface="Instrument Sans" pitchFamily="34" charset="0"/>
                <a:ea typeface="Instrument Sans" pitchFamily="34" charset="-122"/>
                <a:cs typeface="Instrument Sans" pitchFamily="34" charset="-120"/>
              </a:rPr>
              <a:t>Every version of these diagrams, and which one to trust</a:t>
            </a:r>
            <a:endParaRPr lang="en-US" sz="1250" dirty="0"/>
          </a:p>
        </p:txBody>
      </p:sp>
      <p:sp>
        <p:nvSpPr>
          <p:cNvPr id="5" name="Shape 3"/>
          <p:cNvSpPr/>
          <p:nvPr/>
        </p:nvSpPr>
        <p:spPr>
          <a:xfrm>
            <a:off x="457200" y="1417320"/>
            <a:ext cx="11274552" cy="713232"/>
          </a:xfrm>
          <a:prstGeom prst="roundRect">
            <a:avLst>
              <a:gd name="adj" fmla="val 10256"/>
            </a:avLst>
          </a:prstGeom>
          <a:solidFill>
            <a:srgbClr val="1C1C24"/>
          </a:solidFill>
          <a:ln w="12700">
            <a:solidFill>
              <a:srgbClr val="2A2A35"/>
            </a:solidFill>
            <a:prstDash val="solid"/>
          </a:ln>
        </p:spPr>
      </p:sp>
      <p:sp>
        <p:nvSpPr>
          <p:cNvPr id="6" name="Shape 4"/>
          <p:cNvSpPr/>
          <p:nvPr/>
        </p:nvSpPr>
        <p:spPr>
          <a:xfrm>
            <a:off x="713232" y="1728216"/>
            <a:ext cx="128016" cy="128016"/>
          </a:xfrm>
          <a:prstGeom prst="ellipse">
            <a:avLst/>
          </a:prstGeom>
          <a:solidFill>
            <a:srgbClr val="7C5CFF"/>
          </a:solidFill>
          <a:ln/>
        </p:spPr>
      </p:sp>
      <p:sp>
        <p:nvSpPr>
          <p:cNvPr id="7" name="Text 5"/>
          <p:cNvSpPr/>
          <p:nvPr/>
        </p:nvSpPr>
        <p:spPr>
          <a:xfrm>
            <a:off x="1005840" y="1508760"/>
            <a:ext cx="5120640" cy="566928"/>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marketing-brain repo, README</a:t>
            </a:r>
            <a:endParaRPr lang="en-US" sz="1300" dirty="0"/>
          </a:p>
        </p:txBody>
      </p:sp>
      <p:sp>
        <p:nvSpPr>
          <p:cNvPr id="8" name="Text 6"/>
          <p:cNvSpPr/>
          <p:nvPr/>
        </p:nvSpPr>
        <p:spPr>
          <a:xfrm>
            <a:off x="6217920" y="1508760"/>
            <a:ext cx="5349240" cy="566928"/>
          </a:xfrm>
          <a:prstGeom prst="rect">
            <a:avLst/>
          </a:prstGeom>
          <a:noFill/>
          <a:ln/>
        </p:spPr>
        <p:txBody>
          <a:bodyPr wrap="square" lIns="0" tIns="0" rIns="0" bIns="0" rtlCol="0" anchor="ctr"/>
          <a:lstStyle/>
          <a:p>
            <a:pPr indent="0" marL="0">
              <a:buNone/>
            </a:pPr>
            <a:r>
              <a:rPr lang="en-US" sz="1100" dirty="0">
                <a:solidFill>
                  <a:srgbClr val="E6E6EB"/>
                </a:solidFill>
                <a:latin typeface="Instrument Sans" pitchFamily="34" charset="0"/>
                <a:ea typeface="Instrument Sans" pitchFamily="34" charset="-122"/>
                <a:cs typeface="Instrument Sans" pitchFamily="34" charset="-120"/>
              </a:rPr>
              <a:t>The architecture section renders these diagrams natively on GitHub. The repo is the source of truth.</a:t>
            </a:r>
            <a:endParaRPr lang="en-US" sz="1100" dirty="0"/>
          </a:p>
        </p:txBody>
      </p:sp>
      <p:sp>
        <p:nvSpPr>
          <p:cNvPr id="9" name="Shape 7"/>
          <p:cNvSpPr/>
          <p:nvPr/>
        </p:nvSpPr>
        <p:spPr>
          <a:xfrm>
            <a:off x="457200" y="2331720"/>
            <a:ext cx="11274552" cy="713232"/>
          </a:xfrm>
          <a:prstGeom prst="roundRect">
            <a:avLst>
              <a:gd name="adj" fmla="val 10256"/>
            </a:avLst>
          </a:prstGeom>
          <a:solidFill>
            <a:srgbClr val="1C1C24"/>
          </a:solidFill>
          <a:ln w="12700">
            <a:solidFill>
              <a:srgbClr val="2A2A35"/>
            </a:solidFill>
            <a:prstDash val="solid"/>
          </a:ln>
        </p:spPr>
      </p:sp>
      <p:sp>
        <p:nvSpPr>
          <p:cNvPr id="10" name="Shape 8"/>
          <p:cNvSpPr/>
          <p:nvPr/>
        </p:nvSpPr>
        <p:spPr>
          <a:xfrm>
            <a:off x="713232" y="2642616"/>
            <a:ext cx="128016" cy="128016"/>
          </a:xfrm>
          <a:prstGeom prst="ellipse">
            <a:avLst/>
          </a:prstGeom>
          <a:solidFill>
            <a:srgbClr val="7C5CFF"/>
          </a:solidFill>
          <a:ln/>
        </p:spPr>
      </p:sp>
      <p:sp>
        <p:nvSpPr>
          <p:cNvPr id="11" name="Text 9"/>
          <p:cNvSpPr/>
          <p:nvPr/>
        </p:nvSpPr>
        <p:spPr>
          <a:xfrm>
            <a:off x="1005840" y="2423160"/>
            <a:ext cx="5120640" cy="566928"/>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docs/marketing-os-data-flow.html</a:t>
            </a:r>
            <a:endParaRPr lang="en-US" sz="1300" dirty="0"/>
          </a:p>
        </p:txBody>
      </p:sp>
      <p:sp>
        <p:nvSpPr>
          <p:cNvPr id="12" name="Text 10"/>
          <p:cNvSpPr/>
          <p:nvPr/>
        </p:nvSpPr>
        <p:spPr>
          <a:xfrm>
            <a:off x="6217920" y="2423160"/>
            <a:ext cx="5349240" cy="566928"/>
          </a:xfrm>
          <a:prstGeom prst="rect">
            <a:avLst/>
          </a:prstGeom>
          <a:noFill/>
          <a:ln/>
        </p:spPr>
        <p:txBody>
          <a:bodyPr wrap="square" lIns="0" tIns="0" rIns="0" bIns="0" rtlCol="0" anchor="ctr"/>
          <a:lstStyle/>
          <a:p>
            <a:pPr indent="0" marL="0">
              <a:buNone/>
            </a:pPr>
            <a:r>
              <a:rPr lang="en-US" sz="1100" dirty="0">
                <a:solidFill>
                  <a:srgbClr val="E6E6EB"/>
                </a:solidFill>
                <a:latin typeface="Instrument Sans" pitchFamily="34" charset="0"/>
                <a:ea typeface="Instrument Sans" pitchFamily="34" charset="-122"/>
                <a:cs typeface="Instrument Sans" pitchFamily="34" charset="-120"/>
              </a:rPr>
              <a:t>The Riverside-branded visual version, in the repo. Open locally in a browser.</a:t>
            </a:r>
            <a:endParaRPr lang="en-US" sz="1100" dirty="0"/>
          </a:p>
        </p:txBody>
      </p:sp>
      <p:sp>
        <p:nvSpPr>
          <p:cNvPr id="13" name="Shape 11"/>
          <p:cNvSpPr/>
          <p:nvPr/>
        </p:nvSpPr>
        <p:spPr>
          <a:xfrm>
            <a:off x="457200" y="3246120"/>
            <a:ext cx="11274552" cy="713232"/>
          </a:xfrm>
          <a:prstGeom prst="roundRect">
            <a:avLst>
              <a:gd name="adj" fmla="val 10256"/>
            </a:avLst>
          </a:prstGeom>
          <a:solidFill>
            <a:srgbClr val="1C1C24"/>
          </a:solidFill>
          <a:ln w="12700">
            <a:solidFill>
              <a:srgbClr val="2A2A35"/>
            </a:solidFill>
            <a:prstDash val="solid"/>
          </a:ln>
        </p:spPr>
      </p:sp>
      <p:sp>
        <p:nvSpPr>
          <p:cNvPr id="14" name="Shape 12"/>
          <p:cNvSpPr/>
          <p:nvPr/>
        </p:nvSpPr>
        <p:spPr>
          <a:xfrm>
            <a:off x="713232" y="3557016"/>
            <a:ext cx="128016" cy="128016"/>
          </a:xfrm>
          <a:prstGeom prst="ellipse">
            <a:avLst/>
          </a:prstGeom>
          <a:solidFill>
            <a:srgbClr val="7C5CFF"/>
          </a:solidFill>
          <a:ln/>
        </p:spPr>
      </p:sp>
      <p:sp>
        <p:nvSpPr>
          <p:cNvPr id="15" name="Text 13"/>
          <p:cNvSpPr/>
          <p:nvPr/>
        </p:nvSpPr>
        <p:spPr>
          <a:xfrm>
            <a:off x="1005840" y="3337560"/>
            <a:ext cx="5120640" cy="566928"/>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GitHub wiki</a:t>
            </a:r>
            <a:endParaRPr lang="en-US" sz="1300" dirty="0"/>
          </a:p>
        </p:txBody>
      </p:sp>
      <p:sp>
        <p:nvSpPr>
          <p:cNvPr id="16" name="Text 14"/>
          <p:cNvSpPr/>
          <p:nvPr/>
        </p:nvSpPr>
        <p:spPr>
          <a:xfrm>
            <a:off x="6217920" y="3337560"/>
            <a:ext cx="5349240" cy="566928"/>
          </a:xfrm>
          <a:prstGeom prst="rect">
            <a:avLst/>
          </a:prstGeom>
          <a:noFill/>
          <a:ln/>
        </p:spPr>
        <p:txBody>
          <a:bodyPr wrap="square" lIns="0" tIns="0" rIns="0" bIns="0" rtlCol="0" anchor="ctr"/>
          <a:lstStyle/>
          <a:p>
            <a:pPr indent="0" marL="0">
              <a:buNone/>
            </a:pPr>
            <a:r>
              <a:rPr lang="en-US" sz="1100" dirty="0">
                <a:solidFill>
                  <a:srgbClr val="E6E6EB"/>
                </a:solidFill>
                <a:latin typeface="Instrument Sans" pitchFamily="34" charset="0"/>
                <a:ea typeface="Instrument Sans" pitchFamily="34" charset="-122"/>
                <a:cs typeface="Instrument Sans" pitchFamily="34" charset="-120"/>
              </a:rPr>
              <a:t>Generated mirror, auto-synced by the doc-agent on every merge. Never edited by hand.</a:t>
            </a:r>
            <a:endParaRPr lang="en-US" sz="1100" dirty="0"/>
          </a:p>
        </p:txBody>
      </p:sp>
      <p:sp>
        <p:nvSpPr>
          <p:cNvPr id="17" name="Shape 15"/>
          <p:cNvSpPr/>
          <p:nvPr/>
        </p:nvSpPr>
        <p:spPr>
          <a:xfrm>
            <a:off x="457200" y="4160520"/>
            <a:ext cx="11274552" cy="713232"/>
          </a:xfrm>
          <a:prstGeom prst="roundRect">
            <a:avLst>
              <a:gd name="adj" fmla="val 10256"/>
            </a:avLst>
          </a:prstGeom>
          <a:solidFill>
            <a:srgbClr val="1C1C24"/>
          </a:solidFill>
          <a:ln w="12700">
            <a:solidFill>
              <a:srgbClr val="2A2A35"/>
            </a:solidFill>
            <a:prstDash val="solid"/>
          </a:ln>
        </p:spPr>
      </p:sp>
      <p:sp>
        <p:nvSpPr>
          <p:cNvPr id="18" name="Shape 16"/>
          <p:cNvSpPr/>
          <p:nvPr/>
        </p:nvSpPr>
        <p:spPr>
          <a:xfrm>
            <a:off x="713232" y="4471416"/>
            <a:ext cx="128016" cy="128016"/>
          </a:xfrm>
          <a:prstGeom prst="ellipse">
            <a:avLst/>
          </a:prstGeom>
          <a:solidFill>
            <a:srgbClr val="7C5CFF"/>
          </a:solidFill>
          <a:ln/>
        </p:spPr>
      </p:sp>
      <p:sp>
        <p:nvSpPr>
          <p:cNvPr id="19" name="Text 17"/>
          <p:cNvSpPr/>
          <p:nvPr/>
        </p:nvSpPr>
        <p:spPr>
          <a:xfrm>
            <a:off x="1005840" y="4251960"/>
            <a:ext cx="5120640" cy="566928"/>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Notion: The Marketing OS, how the system works</a:t>
            </a:r>
            <a:endParaRPr lang="en-US" sz="1300" dirty="0"/>
          </a:p>
        </p:txBody>
      </p:sp>
      <p:sp>
        <p:nvSpPr>
          <p:cNvPr id="20" name="Text 18"/>
          <p:cNvSpPr/>
          <p:nvPr/>
        </p:nvSpPr>
        <p:spPr>
          <a:xfrm>
            <a:off x="6217920" y="4251960"/>
            <a:ext cx="5349240" cy="566928"/>
          </a:xfrm>
          <a:prstGeom prst="rect">
            <a:avLst/>
          </a:prstGeom>
          <a:noFill/>
          <a:ln/>
        </p:spPr>
        <p:txBody>
          <a:bodyPr wrap="square" lIns="0" tIns="0" rIns="0" bIns="0" rtlCol="0" anchor="ctr"/>
          <a:lstStyle/>
          <a:p>
            <a:pPr indent="0" marL="0">
              <a:buNone/>
            </a:pPr>
            <a:r>
              <a:rPr lang="en-US" sz="1100" dirty="0">
                <a:solidFill>
                  <a:srgbClr val="E6E6EB"/>
                </a:solidFill>
                <a:latin typeface="Instrument Sans" pitchFamily="34" charset="0"/>
                <a:ea typeface="Instrument Sans" pitchFamily="34" charset="-122"/>
                <a:cs typeface="Instrument Sans" pitchFamily="34" charset="-120"/>
              </a:rPr>
              <a:t>Sibling of the Marketing Brain stakeholder quick start, formatted after R&amp;D's ATA platform page.</a:t>
            </a:r>
            <a:endParaRPr lang="en-US" sz="1100" dirty="0"/>
          </a:p>
        </p:txBody>
      </p:sp>
      <p:sp>
        <p:nvSpPr>
          <p:cNvPr id="21" name="Shape 19"/>
          <p:cNvSpPr/>
          <p:nvPr/>
        </p:nvSpPr>
        <p:spPr>
          <a:xfrm>
            <a:off x="457200" y="5074920"/>
            <a:ext cx="11274552" cy="713232"/>
          </a:xfrm>
          <a:prstGeom prst="roundRect">
            <a:avLst>
              <a:gd name="adj" fmla="val 10256"/>
            </a:avLst>
          </a:prstGeom>
          <a:solidFill>
            <a:srgbClr val="1C1C24"/>
          </a:solidFill>
          <a:ln w="12700">
            <a:solidFill>
              <a:srgbClr val="2A2A35"/>
            </a:solidFill>
            <a:prstDash val="solid"/>
          </a:ln>
        </p:spPr>
      </p:sp>
      <p:sp>
        <p:nvSpPr>
          <p:cNvPr id="22" name="Shape 20"/>
          <p:cNvSpPr/>
          <p:nvPr/>
        </p:nvSpPr>
        <p:spPr>
          <a:xfrm>
            <a:off x="713232" y="5385816"/>
            <a:ext cx="128016" cy="128016"/>
          </a:xfrm>
          <a:prstGeom prst="ellipse">
            <a:avLst/>
          </a:prstGeom>
          <a:solidFill>
            <a:srgbClr val="7C5CFF"/>
          </a:solidFill>
          <a:ln/>
        </p:spPr>
      </p:sp>
      <p:sp>
        <p:nvSpPr>
          <p:cNvPr id="23" name="Text 21"/>
          <p:cNvSpPr/>
          <p:nvPr/>
        </p:nvSpPr>
        <p:spPr>
          <a:xfrm>
            <a:off x="1005840" y="5166360"/>
            <a:ext cx="5120640" cy="566928"/>
          </a:xfrm>
          <a:prstGeom prst="rect">
            <a:avLst/>
          </a:prstGeom>
          <a:noFill/>
          <a:ln/>
        </p:spPr>
        <p:txBody>
          <a:bodyPr wrap="square" lIns="0" tIns="0" rIns="0" bIns="0" rtlCol="0" anchor="ctr"/>
          <a:lstStyle/>
          <a:p>
            <a:pPr indent="0" marL="0">
              <a:buNone/>
            </a:pPr>
            <a:r>
              <a:rPr lang="en-US" sz="1300" b="1" dirty="0">
                <a:solidFill>
                  <a:srgbClr val="FFFFFF"/>
                </a:solidFill>
                <a:latin typeface="Instrument Sans" pitchFamily="34" charset="0"/>
                <a:ea typeface="Instrument Sans" pitchFamily="34" charset="-122"/>
                <a:cs typeface="Instrument Sans" pitchFamily="34" charset="-120"/>
              </a:rPr>
              <a:t>docs/platform-integration.md</a:t>
            </a:r>
            <a:endParaRPr lang="en-US" sz="1300" dirty="0"/>
          </a:p>
        </p:txBody>
      </p:sp>
      <p:sp>
        <p:nvSpPr>
          <p:cNvPr id="24" name="Text 22"/>
          <p:cNvSpPr/>
          <p:nvPr/>
        </p:nvSpPr>
        <p:spPr>
          <a:xfrm>
            <a:off x="6217920" y="5166360"/>
            <a:ext cx="5349240" cy="566928"/>
          </a:xfrm>
          <a:prstGeom prst="rect">
            <a:avLst/>
          </a:prstGeom>
          <a:noFill/>
          <a:ln/>
        </p:spPr>
        <p:txBody>
          <a:bodyPr wrap="square" lIns="0" tIns="0" rIns="0" bIns="0" rtlCol="0" anchor="ctr"/>
          <a:lstStyle/>
          <a:p>
            <a:pPr indent="0" marL="0">
              <a:buNone/>
            </a:pPr>
            <a:r>
              <a:rPr lang="en-US" sz="1100" dirty="0">
                <a:solidFill>
                  <a:srgbClr val="E6E6EB"/>
                </a:solidFill>
                <a:latin typeface="Instrument Sans" pitchFamily="34" charset="0"/>
                <a:ea typeface="Instrument Sans" pitchFamily="34" charset="-122"/>
                <a:cs typeface="Instrument Sans" pitchFamily="34" charset="-120"/>
              </a:rPr>
              <a:t>Every MCP connector, skill, and ID wired end to end. The engineering-register version is docs/marketing-os-technical-architecture.md.</a:t>
            </a:r>
            <a:endParaRPr lang="en-US" sz="1100" dirty="0"/>
          </a:p>
        </p:txBody>
      </p:sp>
      <p:sp>
        <p:nvSpPr>
          <p:cNvPr id="25" name="Text 23"/>
          <p:cNvSpPr/>
          <p:nvPr/>
        </p:nvSpPr>
        <p:spPr>
          <a:xfrm>
            <a:off x="457200" y="6172200"/>
            <a:ext cx="11247120" cy="365760"/>
          </a:xfrm>
          <a:prstGeom prst="rect">
            <a:avLst/>
          </a:prstGeom>
          <a:noFill/>
          <a:ln/>
        </p:spPr>
        <p:txBody>
          <a:bodyPr wrap="square" lIns="0" tIns="0" rIns="0" bIns="0" rtlCol="0" anchor="ctr"/>
          <a:lstStyle/>
          <a:p>
            <a:pPr indent="0" marL="0">
              <a:buNone/>
            </a:pPr>
            <a:r>
              <a:rPr lang="en-US" sz="1300" dirty="0">
                <a:solidFill>
                  <a:srgbClr val="E6E6EB"/>
                </a:solidFill>
                <a:latin typeface="Instrument Sans" pitchFamily="34" charset="0"/>
                <a:ea typeface="Instrument Sans" pitchFamily="34" charset="-122"/>
                <a:cs typeface="Instrument Sans" pitchFamily="34" charset="-120"/>
              </a:rPr>
              <a:t>If a copy disagrees with the repo, </a:t>
            </a:r>
            <a:pPr indent="0" marL="0">
              <a:buNone/>
            </a:pPr>
            <a:r>
              <a:rPr lang="en-US" sz="1300" b="1" dirty="0">
                <a:solidFill>
                  <a:srgbClr val="7C5CFF"/>
                </a:solidFill>
                <a:latin typeface="Instrument Sans" pitchFamily="34" charset="0"/>
                <a:ea typeface="Instrument Sans" pitchFamily="34" charset="-122"/>
                <a:cs typeface="Instrument Sans" pitchFamily="34" charset="-120"/>
              </a:rPr>
              <a:t>trust the repo and open a PR.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OS, how the system works</dc:title>
  <dc:subject>PptxGenJS Presentation</dc:subject>
  <dc:creator>Riverside Marketing</dc:creator>
  <cp:lastModifiedBy>Riverside Marketing</cp:lastModifiedBy>
  <cp:revision>1</cp:revision>
  <dcterms:created xsi:type="dcterms:W3CDTF">2026-10-02T04:43:21Z</dcterms:created>
  <dcterms:modified xsi:type="dcterms:W3CDTF">2026-10-02T04:43:21Z</dcterms:modified>
</cp:coreProperties>
</file>